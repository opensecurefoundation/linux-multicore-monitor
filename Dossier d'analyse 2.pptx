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00" r:id="rId1"/>
  </p:sldMasterIdLst>
  <p:notesMasterIdLst>
    <p:notesMasterId r:id="rId23"/>
  </p:notesMasterIdLst>
  <p:sldIdLst>
    <p:sldId id="268" r:id="rId2"/>
    <p:sldId id="256" r:id="rId3"/>
    <p:sldId id="257" r:id="rId4"/>
    <p:sldId id="263" r:id="rId5"/>
    <p:sldId id="265" r:id="rId6"/>
    <p:sldId id="259" r:id="rId7"/>
    <p:sldId id="260" r:id="rId8"/>
    <p:sldId id="261" r:id="rId9"/>
    <p:sldId id="267" r:id="rId10"/>
    <p:sldId id="262" r:id="rId11"/>
    <p:sldId id="270" r:id="rId12"/>
    <p:sldId id="266" r:id="rId13"/>
    <p:sldId id="277" r:id="rId14"/>
    <p:sldId id="278" r:id="rId15"/>
    <p:sldId id="279" r:id="rId16"/>
    <p:sldId id="280" r:id="rId17"/>
    <p:sldId id="281" r:id="rId18"/>
    <p:sldId id="282" r:id="rId19"/>
    <p:sldId id="273" r:id="rId20"/>
    <p:sldId id="274" r:id="rId21"/>
    <p:sldId id="276" r:id="rId22"/>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B344D84-9AFB-497E-A393-DC336BA19D2E}" styleName="Style moyen 3 - Accentuation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5AB1C69-6EDB-4FF4-983F-18BD219EF322}" styleName="Style moyen 2 - Accentuation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2" autoAdjust="0"/>
    <p:restoredTop sz="93883" autoAdjust="0"/>
  </p:normalViewPr>
  <p:slideViewPr>
    <p:cSldViewPr snapToGrid="0">
      <p:cViewPr varScale="1">
        <p:scale>
          <a:sx n="68" d="100"/>
          <a:sy n="68" d="100"/>
        </p:scale>
        <p:origin x="592" y="48"/>
      </p:cViewPr>
      <p:guideLst/>
    </p:cSldViewPr>
  </p:slideViewPr>
  <p:outlineViewPr>
    <p:cViewPr>
      <p:scale>
        <a:sx n="33" d="100"/>
        <a:sy n="33" d="100"/>
      </p:scale>
      <p:origin x="0" y="-660"/>
    </p:cViewPr>
  </p:outlineViewPr>
  <p:notesTextViewPr>
    <p:cViewPr>
      <p:scale>
        <a:sx n="1" d="1"/>
        <a:sy n="1" d="1"/>
      </p:scale>
      <p:origin x="0" y="0"/>
    </p:cViewPr>
  </p:notesTextViewPr>
  <p:sorterViewPr>
    <p:cViewPr>
      <p:scale>
        <a:sx n="100" d="100"/>
        <a:sy n="100" d="100"/>
      </p:scale>
      <p:origin x="0" y="-5492"/>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M"/>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6F517D-CE64-462C-AD75-344A9B99B847}" type="datetimeFigureOut">
              <a:rPr lang="fr-CM" smtClean="0"/>
              <a:t>23/01/2026</a:t>
            </a:fld>
            <a:endParaRPr lang="fr-CM"/>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CM"/>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CM"/>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CM"/>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3ED8D0A-D665-4C29-8104-3F88BB29AB4F}" type="slidenum">
              <a:rPr lang="fr-CM" smtClean="0"/>
              <a:t>‹N°›</a:t>
            </a:fld>
            <a:endParaRPr lang="fr-CM"/>
          </a:p>
        </p:txBody>
      </p:sp>
    </p:spTree>
    <p:extLst>
      <p:ext uri="{BB962C8B-B14F-4D97-AF65-F5344CB8AC3E}">
        <p14:creationId xmlns:p14="http://schemas.microsoft.com/office/powerpoint/2010/main" val="5644374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CM" dirty="0"/>
          </a:p>
        </p:txBody>
      </p:sp>
      <p:sp>
        <p:nvSpPr>
          <p:cNvPr id="4" name="Espace réservé du numéro de diapositive 3"/>
          <p:cNvSpPr>
            <a:spLocks noGrp="1"/>
          </p:cNvSpPr>
          <p:nvPr>
            <p:ph type="sldNum" sz="quarter" idx="10"/>
          </p:nvPr>
        </p:nvSpPr>
        <p:spPr/>
        <p:txBody>
          <a:bodyPr/>
          <a:lstStyle/>
          <a:p>
            <a:fld id="{93ED8D0A-D665-4C29-8104-3F88BB29AB4F}" type="slidenum">
              <a:rPr lang="fr-CM" smtClean="0"/>
              <a:t>16</a:t>
            </a:fld>
            <a:endParaRPr lang="fr-CM"/>
          </a:p>
        </p:txBody>
      </p:sp>
    </p:spTree>
    <p:extLst>
      <p:ext uri="{BB962C8B-B14F-4D97-AF65-F5344CB8AC3E}">
        <p14:creationId xmlns:p14="http://schemas.microsoft.com/office/powerpoint/2010/main" val="38213470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CM" dirty="0"/>
          </a:p>
        </p:txBody>
      </p:sp>
      <p:sp>
        <p:nvSpPr>
          <p:cNvPr id="4" name="Espace réservé du numéro de diapositive 3"/>
          <p:cNvSpPr>
            <a:spLocks noGrp="1"/>
          </p:cNvSpPr>
          <p:nvPr>
            <p:ph type="sldNum" sz="quarter" idx="10"/>
          </p:nvPr>
        </p:nvSpPr>
        <p:spPr/>
        <p:txBody>
          <a:bodyPr/>
          <a:lstStyle/>
          <a:p>
            <a:fld id="{93ED8D0A-D665-4C29-8104-3F88BB29AB4F}" type="slidenum">
              <a:rPr lang="fr-CM" smtClean="0"/>
              <a:t>20</a:t>
            </a:fld>
            <a:endParaRPr lang="fr-CM"/>
          </a:p>
        </p:txBody>
      </p:sp>
    </p:spTree>
    <p:extLst>
      <p:ext uri="{BB962C8B-B14F-4D97-AF65-F5344CB8AC3E}">
        <p14:creationId xmlns:p14="http://schemas.microsoft.com/office/powerpoint/2010/main" val="391393987"/>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pic>
        <p:nvPicPr>
          <p:cNvPr id="7" name="Picture 6" descr="Droplets-HD-Title-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ctrTitle"/>
          </p:nvPr>
        </p:nvSpPr>
        <p:spPr>
          <a:xfrm>
            <a:off x="1751012" y="1300785"/>
            <a:ext cx="8689976" cy="2509213"/>
          </a:xfrm>
        </p:spPr>
        <p:txBody>
          <a:bodyPr anchor="b">
            <a:normAutofit/>
          </a:bodyPr>
          <a:lstStyle>
            <a:lvl1pPr algn="ctr">
              <a:defRPr sz="4800"/>
            </a:lvl1pPr>
          </a:lstStyle>
          <a:p>
            <a:r>
              <a:rPr lang="fr-FR" smtClean="0"/>
              <a:t>Modifiez le style du titre</a:t>
            </a:r>
            <a:endParaRPr lang="en-US" dirty="0"/>
          </a:p>
        </p:txBody>
      </p:sp>
      <p:sp>
        <p:nvSpPr>
          <p:cNvPr id="3" name="Subtitle 2"/>
          <p:cNvSpPr>
            <a:spLocks noGrp="1"/>
          </p:cNvSpPr>
          <p:nvPr>
            <p:ph type="subTitle" idx="1"/>
          </p:nvPr>
        </p:nvSpPr>
        <p:spPr>
          <a:xfrm>
            <a:off x="1751012" y="3886200"/>
            <a:ext cx="8689976" cy="1371599"/>
          </a:xfrm>
        </p:spPr>
        <p:txBody>
          <a:bodyPr>
            <a:normAutofit/>
          </a:bodyPr>
          <a:lstStyle>
            <a:lvl1pPr marL="0" indent="0" algn="ctr">
              <a:buNone/>
              <a:defRPr sz="2200">
                <a:solidFill>
                  <a:schemeClr val="bg1">
                    <a:lumMod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smtClean="0"/>
              <a:t>Modifier le style des sous-titres du masque</a:t>
            </a:r>
            <a:endParaRPr lang="en-US" dirty="0"/>
          </a:p>
        </p:txBody>
      </p:sp>
      <p:sp>
        <p:nvSpPr>
          <p:cNvPr id="4" name="Date Placeholder 3"/>
          <p:cNvSpPr>
            <a:spLocks noGrp="1"/>
          </p:cNvSpPr>
          <p:nvPr>
            <p:ph type="dt" sz="half" idx="10"/>
          </p:nvPr>
        </p:nvSpPr>
        <p:spPr/>
        <p:txBody>
          <a:bodyPr/>
          <a:lstStyle/>
          <a:p>
            <a:fld id="{9A2ADD78-B297-491E-B195-029A9672D6CB}" type="datetimeFigureOut">
              <a:rPr lang="fr-FR" smtClean="0"/>
              <a:t>23/01/2026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474B4EB8-B4D5-4C7A-8C6C-6F7C354B366B}" type="slidenum">
              <a:rPr lang="fr-FR" smtClean="0"/>
              <a:t>‹N°›</a:t>
            </a:fld>
            <a:endParaRPr lang="fr-FR"/>
          </a:p>
        </p:txBody>
      </p:sp>
    </p:spTree>
    <p:extLst>
      <p:ext uri="{BB962C8B-B14F-4D97-AF65-F5344CB8AC3E}">
        <p14:creationId xmlns:p14="http://schemas.microsoft.com/office/powerpoint/2010/main" val="34459440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pic>
        <p:nvPicPr>
          <p:cNvPr id="3" name="Picture 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fr-FR" smtClean="0"/>
              <a:t>Modifiez le style du titre</a:t>
            </a:r>
            <a:endParaRPr lang="en-US" dirty="0"/>
          </a:p>
        </p:txBody>
      </p:sp>
      <p:sp>
        <p:nvSpPr>
          <p:cNvPr id="12" name="Content Placeholder 2"/>
          <p:cNvSpPr>
            <a:spLocks noGrp="1"/>
          </p:cNvSpPr>
          <p:nvPr>
            <p:ph sz="quarter" idx="13"/>
          </p:nvPr>
        </p:nvSpPr>
        <p:spPr>
          <a:xfrm>
            <a:off x="913774" y="2367092"/>
            <a:ext cx="10363826" cy="3424107"/>
          </a:xfrm>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10"/>
          </p:nvPr>
        </p:nvSpPr>
        <p:spPr/>
        <p:txBody>
          <a:bodyPr/>
          <a:lstStyle/>
          <a:p>
            <a:fld id="{9A2ADD78-B297-491E-B195-029A9672D6CB}" type="datetimeFigureOut">
              <a:rPr lang="fr-FR" smtClean="0"/>
              <a:t>23/01/2026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474B4EB8-B4D5-4C7A-8C6C-6F7C354B366B}" type="slidenum">
              <a:rPr lang="fr-FR" smtClean="0"/>
              <a:t>‹N°›</a:t>
            </a:fld>
            <a:endParaRPr lang="fr-FR"/>
          </a:p>
        </p:txBody>
      </p:sp>
    </p:spTree>
    <p:extLst>
      <p:ext uri="{BB962C8B-B14F-4D97-AF65-F5344CB8AC3E}">
        <p14:creationId xmlns:p14="http://schemas.microsoft.com/office/powerpoint/2010/main" val="24207157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828563"/>
            <a:ext cx="10351752" cy="2736819"/>
          </a:xfrm>
        </p:spPr>
        <p:txBody>
          <a:bodyPr anchor="b">
            <a:normAutofit/>
          </a:bodyPr>
          <a:lstStyle>
            <a:lvl1pPr>
              <a:defRPr sz="4000"/>
            </a:lvl1pPr>
          </a:lstStyle>
          <a:p>
            <a:r>
              <a:rPr lang="fr-FR" smtClean="0"/>
              <a:t>Modifiez le style du titre</a:t>
            </a:r>
            <a:endParaRPr lang="en-US" dirty="0"/>
          </a:p>
        </p:txBody>
      </p:sp>
      <p:sp>
        <p:nvSpPr>
          <p:cNvPr id="3" name="Text Placeholder 2"/>
          <p:cNvSpPr>
            <a:spLocks noGrp="1"/>
          </p:cNvSpPr>
          <p:nvPr>
            <p:ph type="body" idx="1"/>
          </p:nvPr>
        </p:nvSpPr>
        <p:spPr>
          <a:xfrm>
            <a:off x="913774" y="3657457"/>
            <a:ext cx="10351752" cy="1368183"/>
          </a:xfrm>
        </p:spPr>
        <p:txBody>
          <a:bodyPr>
            <a:normAutofit/>
          </a:bodyPr>
          <a:lstStyle>
            <a:lvl1pPr marL="0" indent="0" algn="ctr">
              <a:buNone/>
              <a:defRPr sz="2000">
                <a:solidFill>
                  <a:schemeClr val="bg1">
                    <a:lumMod val="50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smtClean="0"/>
              <a:t>Modifier les styles du texte du masque</a:t>
            </a:r>
          </a:p>
        </p:txBody>
      </p:sp>
      <p:sp>
        <p:nvSpPr>
          <p:cNvPr id="4" name="Date Placeholder 3"/>
          <p:cNvSpPr>
            <a:spLocks noGrp="1"/>
          </p:cNvSpPr>
          <p:nvPr>
            <p:ph type="dt" sz="half" idx="10"/>
          </p:nvPr>
        </p:nvSpPr>
        <p:spPr/>
        <p:txBody>
          <a:bodyPr/>
          <a:lstStyle/>
          <a:p>
            <a:fld id="{9A2ADD78-B297-491E-B195-029A9672D6CB}" type="datetimeFigureOut">
              <a:rPr lang="fr-FR" smtClean="0"/>
              <a:t>23/01/2026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474B4EB8-B4D5-4C7A-8C6C-6F7C354B366B}" type="slidenum">
              <a:rPr lang="fr-FR" smtClean="0"/>
              <a:t>‹N°›</a:t>
            </a:fld>
            <a:endParaRPr lang="fr-FR"/>
          </a:p>
        </p:txBody>
      </p:sp>
    </p:spTree>
    <p:extLst>
      <p:ext uri="{BB962C8B-B14F-4D97-AF65-F5344CB8AC3E}">
        <p14:creationId xmlns:p14="http://schemas.microsoft.com/office/powerpoint/2010/main" val="16971532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fr-FR" smtClean="0"/>
              <a:t>Modifiez le style du titre</a:t>
            </a:r>
            <a:endParaRPr lang="en-US" dirty="0"/>
          </a:p>
        </p:txBody>
      </p:sp>
      <p:sp>
        <p:nvSpPr>
          <p:cNvPr id="12" name="Content Placeholder 2"/>
          <p:cNvSpPr>
            <a:spLocks noGrp="1"/>
          </p:cNvSpPr>
          <p:nvPr>
            <p:ph sz="quarter" idx="13"/>
          </p:nvPr>
        </p:nvSpPr>
        <p:spPr>
          <a:xfrm>
            <a:off x="913774" y="2367092"/>
            <a:ext cx="5106026" cy="3424107"/>
          </a:xfrm>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13" name="Content Placeholder 3"/>
          <p:cNvSpPr>
            <a:spLocks noGrp="1"/>
          </p:cNvSpPr>
          <p:nvPr>
            <p:ph sz="quarter" idx="14"/>
          </p:nvPr>
        </p:nvSpPr>
        <p:spPr>
          <a:xfrm>
            <a:off x="6172200" y="2367092"/>
            <a:ext cx="5105400" cy="3424107"/>
          </a:xfrm>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5" name="Date Placeholder 4"/>
          <p:cNvSpPr>
            <a:spLocks noGrp="1"/>
          </p:cNvSpPr>
          <p:nvPr>
            <p:ph type="dt" sz="half" idx="10"/>
          </p:nvPr>
        </p:nvSpPr>
        <p:spPr/>
        <p:txBody>
          <a:bodyPr/>
          <a:lstStyle/>
          <a:p>
            <a:fld id="{9A2ADD78-B297-491E-B195-029A9672D6CB}" type="datetimeFigureOut">
              <a:rPr lang="fr-FR" smtClean="0"/>
              <a:t>23/01/2026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474B4EB8-B4D5-4C7A-8C6C-6F7C354B366B}" type="slidenum">
              <a:rPr lang="fr-FR" smtClean="0"/>
              <a:t>‹N°›</a:t>
            </a:fld>
            <a:endParaRPr lang="fr-FR"/>
          </a:p>
        </p:txBody>
      </p:sp>
    </p:spTree>
    <p:extLst>
      <p:ext uri="{BB962C8B-B14F-4D97-AF65-F5344CB8AC3E}">
        <p14:creationId xmlns:p14="http://schemas.microsoft.com/office/powerpoint/2010/main" val="22197064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pic>
        <p:nvPicPr>
          <p:cNvPr id="15" name="Picture 14"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4" name="Title 1"/>
          <p:cNvSpPr>
            <a:spLocks noGrp="1"/>
          </p:cNvSpPr>
          <p:nvPr>
            <p:ph type="title"/>
          </p:nvPr>
        </p:nvSpPr>
        <p:spPr>
          <a:xfrm>
            <a:off x="913775" y="618517"/>
            <a:ext cx="10364451" cy="1596177"/>
          </a:xfrm>
        </p:spPr>
        <p:txBody>
          <a:bodyPr/>
          <a:lstStyle/>
          <a:p>
            <a:r>
              <a:rPr lang="fr-FR" smtClean="0"/>
              <a:t>Modifiez le style du titre</a:t>
            </a:r>
            <a:endParaRPr lang="en-US" dirty="0"/>
          </a:p>
        </p:txBody>
      </p:sp>
      <p:sp>
        <p:nvSpPr>
          <p:cNvPr id="3" name="Text Placeholder 2"/>
          <p:cNvSpPr>
            <a:spLocks noGrp="1"/>
          </p:cNvSpPr>
          <p:nvPr>
            <p:ph type="body" idx="1"/>
          </p:nvPr>
        </p:nvSpPr>
        <p:spPr>
          <a:xfrm>
            <a:off x="1146328" y="2371018"/>
            <a:ext cx="487347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12" name="Content Placeholder 3"/>
          <p:cNvSpPr>
            <a:spLocks noGrp="1"/>
          </p:cNvSpPr>
          <p:nvPr>
            <p:ph sz="quarter" idx="13"/>
          </p:nvPr>
        </p:nvSpPr>
        <p:spPr>
          <a:xfrm>
            <a:off x="913774" y="3051012"/>
            <a:ext cx="5106027" cy="2740187"/>
          </a:xfrm>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5" name="Text Placeholder 4"/>
          <p:cNvSpPr>
            <a:spLocks noGrp="1"/>
          </p:cNvSpPr>
          <p:nvPr>
            <p:ph type="body" sz="quarter" idx="3"/>
          </p:nvPr>
        </p:nvSpPr>
        <p:spPr>
          <a:xfrm>
            <a:off x="6396423" y="2371018"/>
            <a:ext cx="4881804" cy="679994"/>
          </a:xfrm>
        </p:spPr>
        <p:txBody>
          <a:bodyPr anchor="b">
            <a:noAutofit/>
          </a:bodyPr>
          <a:lstStyle>
            <a:lvl1pPr marL="0" indent="0">
              <a:lnSpc>
                <a:spcPct val="85000"/>
              </a:lnSpc>
              <a:buNone/>
              <a:defRPr sz="26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13" name="Content Placeholder 5"/>
          <p:cNvSpPr>
            <a:spLocks noGrp="1"/>
          </p:cNvSpPr>
          <p:nvPr>
            <p:ph sz="quarter" idx="14"/>
          </p:nvPr>
        </p:nvSpPr>
        <p:spPr>
          <a:xfrm>
            <a:off x="6172200" y="3051012"/>
            <a:ext cx="5105401" cy="2740187"/>
          </a:xfrm>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7" name="Date Placeholder 6"/>
          <p:cNvSpPr>
            <a:spLocks noGrp="1"/>
          </p:cNvSpPr>
          <p:nvPr>
            <p:ph type="dt" sz="half" idx="10"/>
          </p:nvPr>
        </p:nvSpPr>
        <p:spPr/>
        <p:txBody>
          <a:bodyPr/>
          <a:lstStyle/>
          <a:p>
            <a:fld id="{9A2ADD78-B297-491E-B195-029A9672D6CB}" type="datetimeFigureOut">
              <a:rPr lang="fr-FR" smtClean="0"/>
              <a:t>23/01/2026</a:t>
            </a:fld>
            <a:endParaRPr lang="fr-FR"/>
          </a:p>
        </p:txBody>
      </p:sp>
      <p:sp>
        <p:nvSpPr>
          <p:cNvPr id="8" name="Footer Placeholder 7"/>
          <p:cNvSpPr>
            <a:spLocks noGrp="1"/>
          </p:cNvSpPr>
          <p:nvPr>
            <p:ph type="ftr" sz="quarter" idx="11"/>
          </p:nvPr>
        </p:nvSpPr>
        <p:spPr/>
        <p:txBody>
          <a:bodyPr/>
          <a:lstStyle/>
          <a:p>
            <a:endParaRPr lang="fr-FR"/>
          </a:p>
        </p:txBody>
      </p:sp>
      <p:sp>
        <p:nvSpPr>
          <p:cNvPr id="9" name="Slide Number Placeholder 8"/>
          <p:cNvSpPr>
            <a:spLocks noGrp="1"/>
          </p:cNvSpPr>
          <p:nvPr>
            <p:ph type="sldNum" sz="quarter" idx="12"/>
          </p:nvPr>
        </p:nvSpPr>
        <p:spPr/>
        <p:txBody>
          <a:bodyPr/>
          <a:lstStyle/>
          <a:p>
            <a:fld id="{474B4EB8-B4D5-4C7A-8C6C-6F7C354B366B}" type="slidenum">
              <a:rPr lang="fr-FR" smtClean="0"/>
              <a:t>‹N°›</a:t>
            </a:fld>
            <a:endParaRPr lang="fr-FR"/>
          </a:p>
        </p:txBody>
      </p:sp>
    </p:spTree>
    <p:extLst>
      <p:ext uri="{BB962C8B-B14F-4D97-AF65-F5344CB8AC3E}">
        <p14:creationId xmlns:p14="http://schemas.microsoft.com/office/powerpoint/2010/main" val="37815878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fr-FR" smtClean="0"/>
              <a:t>Modifiez le style du titre</a:t>
            </a:r>
            <a:endParaRPr lang="en-US" dirty="0"/>
          </a:p>
        </p:txBody>
      </p:sp>
      <p:sp>
        <p:nvSpPr>
          <p:cNvPr id="3" name="Date Placeholder 2"/>
          <p:cNvSpPr>
            <a:spLocks noGrp="1"/>
          </p:cNvSpPr>
          <p:nvPr>
            <p:ph type="dt" sz="half" idx="10"/>
          </p:nvPr>
        </p:nvSpPr>
        <p:spPr/>
        <p:txBody>
          <a:bodyPr/>
          <a:lstStyle/>
          <a:p>
            <a:fld id="{9A2ADD78-B297-491E-B195-029A9672D6CB}" type="datetimeFigureOut">
              <a:rPr lang="fr-FR" smtClean="0"/>
              <a:t>23/01/2026</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474B4EB8-B4D5-4C7A-8C6C-6F7C354B366B}" type="slidenum">
              <a:rPr lang="fr-FR" smtClean="0"/>
              <a:t>‹N°›</a:t>
            </a:fld>
            <a:endParaRPr lang="fr-FR"/>
          </a:p>
        </p:txBody>
      </p:sp>
    </p:spTree>
    <p:extLst>
      <p:ext uri="{BB962C8B-B14F-4D97-AF65-F5344CB8AC3E}">
        <p14:creationId xmlns:p14="http://schemas.microsoft.com/office/powerpoint/2010/main" val="8592089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pic>
        <p:nvPicPr>
          <p:cNvPr id="7" name="Picture 6"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Date Placeholder 1"/>
          <p:cNvSpPr>
            <a:spLocks noGrp="1"/>
          </p:cNvSpPr>
          <p:nvPr>
            <p:ph type="dt" sz="half" idx="10"/>
          </p:nvPr>
        </p:nvSpPr>
        <p:spPr/>
        <p:txBody>
          <a:bodyPr/>
          <a:lstStyle/>
          <a:p>
            <a:fld id="{9A2ADD78-B297-491E-B195-029A9672D6CB}" type="datetimeFigureOut">
              <a:rPr lang="fr-FR" smtClean="0"/>
              <a:t>23/01/2026</a:t>
            </a:fld>
            <a:endParaRPr lang="fr-FR"/>
          </a:p>
        </p:txBody>
      </p:sp>
      <p:sp>
        <p:nvSpPr>
          <p:cNvPr id="3" name="Footer Placeholder 2"/>
          <p:cNvSpPr>
            <a:spLocks noGrp="1"/>
          </p:cNvSpPr>
          <p:nvPr>
            <p:ph type="ftr" sz="quarter" idx="11"/>
          </p:nvPr>
        </p:nvSpPr>
        <p:spPr/>
        <p:txBody>
          <a:bodyPr/>
          <a:lstStyle/>
          <a:p>
            <a:endParaRPr lang="fr-FR"/>
          </a:p>
        </p:txBody>
      </p:sp>
      <p:sp>
        <p:nvSpPr>
          <p:cNvPr id="4" name="Slide Number Placeholder 3"/>
          <p:cNvSpPr>
            <a:spLocks noGrp="1"/>
          </p:cNvSpPr>
          <p:nvPr>
            <p:ph type="sldNum" sz="quarter" idx="12"/>
          </p:nvPr>
        </p:nvSpPr>
        <p:spPr/>
        <p:txBody>
          <a:bodyPr/>
          <a:lstStyle/>
          <a:p>
            <a:fld id="{474B4EB8-B4D5-4C7A-8C6C-6F7C354B366B}" type="slidenum">
              <a:rPr lang="fr-FR" smtClean="0"/>
              <a:t>‹N°›</a:t>
            </a:fld>
            <a:endParaRPr lang="fr-FR"/>
          </a:p>
        </p:txBody>
      </p:sp>
    </p:spTree>
    <p:extLst>
      <p:ext uri="{BB962C8B-B14F-4D97-AF65-F5344CB8AC3E}">
        <p14:creationId xmlns:p14="http://schemas.microsoft.com/office/powerpoint/2010/main" val="32246537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609600"/>
            <a:ext cx="3935688" cy="2023252"/>
          </a:xfrm>
        </p:spPr>
        <p:txBody>
          <a:bodyPr anchor="b"/>
          <a:lstStyle>
            <a:lvl1pPr algn="ctr">
              <a:defRPr sz="3200"/>
            </a:lvl1pPr>
          </a:lstStyle>
          <a:p>
            <a:r>
              <a:rPr lang="fr-FR" smtClean="0"/>
              <a:t>Modifiez le style du titre</a:t>
            </a:r>
            <a:endParaRPr lang="en-US" dirty="0"/>
          </a:p>
        </p:txBody>
      </p:sp>
      <p:sp>
        <p:nvSpPr>
          <p:cNvPr id="10" name="Content Placeholder 2"/>
          <p:cNvSpPr>
            <a:spLocks noGrp="1"/>
          </p:cNvSpPr>
          <p:nvPr>
            <p:ph sz="quarter" idx="13"/>
          </p:nvPr>
        </p:nvSpPr>
        <p:spPr>
          <a:xfrm>
            <a:off x="5078062" y="609600"/>
            <a:ext cx="6200163" cy="5181599"/>
          </a:xfrm>
        </p:spPr>
        <p:txBody>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Text Placeholder 3"/>
          <p:cNvSpPr>
            <a:spLocks noGrp="1"/>
          </p:cNvSpPr>
          <p:nvPr>
            <p:ph type="body" sz="half" idx="2"/>
          </p:nvPr>
        </p:nvSpPr>
        <p:spPr>
          <a:xfrm>
            <a:off x="913774" y="2632852"/>
            <a:ext cx="3935689" cy="3158348"/>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smtClean="0"/>
              <a:t>Modifier les styles du texte du masque</a:t>
            </a:r>
          </a:p>
        </p:txBody>
      </p:sp>
      <p:sp>
        <p:nvSpPr>
          <p:cNvPr id="5" name="Date Placeholder 4"/>
          <p:cNvSpPr>
            <a:spLocks noGrp="1"/>
          </p:cNvSpPr>
          <p:nvPr>
            <p:ph type="dt" sz="half" idx="10"/>
          </p:nvPr>
        </p:nvSpPr>
        <p:spPr/>
        <p:txBody>
          <a:bodyPr/>
          <a:lstStyle/>
          <a:p>
            <a:fld id="{9A2ADD78-B297-491E-B195-029A9672D6CB}" type="datetimeFigureOut">
              <a:rPr lang="fr-FR" smtClean="0"/>
              <a:t>23/01/2026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474B4EB8-B4D5-4C7A-8C6C-6F7C354B366B}" type="slidenum">
              <a:rPr lang="fr-FR" smtClean="0"/>
              <a:t>‹N°›</a:t>
            </a:fld>
            <a:endParaRPr lang="fr-FR"/>
          </a:p>
        </p:txBody>
      </p:sp>
    </p:spTree>
    <p:extLst>
      <p:ext uri="{BB962C8B-B14F-4D97-AF65-F5344CB8AC3E}">
        <p14:creationId xmlns:p14="http://schemas.microsoft.com/office/powerpoint/2010/main" val="24901204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600"/>
            <a:ext cx="5934969" cy="2023254"/>
          </a:xfrm>
        </p:spPr>
        <p:txBody>
          <a:bodyPr anchor="b"/>
          <a:lstStyle>
            <a:lvl1pPr algn="ctr">
              <a:defRPr sz="3200"/>
            </a:lvl1pPr>
          </a:lstStyle>
          <a:p>
            <a:r>
              <a:rPr lang="fr-FR" smtClean="0"/>
              <a:t>Modifiez le style du titre</a:t>
            </a:r>
            <a:endParaRPr lang="en-US" dirty="0"/>
          </a:p>
        </p:txBody>
      </p:sp>
      <p:sp>
        <p:nvSpPr>
          <p:cNvPr id="3" name="Picture Placeholder 2"/>
          <p:cNvSpPr>
            <a:spLocks noGrp="1" noChangeAspect="1"/>
          </p:cNvSpPr>
          <p:nvPr>
            <p:ph type="pic" idx="1"/>
          </p:nvPr>
        </p:nvSpPr>
        <p:spPr>
          <a:xfrm>
            <a:off x="7424803" y="609601"/>
            <a:ext cx="3255358" cy="5181600"/>
          </a:xfrm>
          <a:prstGeom prst="roundRect">
            <a:avLst>
              <a:gd name="adj" fmla="val 494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smtClean="0"/>
              <a:t>Cliquez sur l'icône pour ajouter une image</a:t>
            </a:r>
            <a:endParaRPr lang="en-US" dirty="0"/>
          </a:p>
        </p:txBody>
      </p:sp>
      <p:sp>
        <p:nvSpPr>
          <p:cNvPr id="4" name="Text Placeholder 3"/>
          <p:cNvSpPr>
            <a:spLocks noGrp="1"/>
          </p:cNvSpPr>
          <p:nvPr>
            <p:ph type="body" sz="half" idx="2"/>
          </p:nvPr>
        </p:nvSpPr>
        <p:spPr>
          <a:xfrm>
            <a:off x="913794" y="2632852"/>
            <a:ext cx="5934949" cy="3158347"/>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smtClean="0"/>
              <a:t>Modifier les styles du texte du masque</a:t>
            </a:r>
          </a:p>
        </p:txBody>
      </p:sp>
      <p:sp>
        <p:nvSpPr>
          <p:cNvPr id="5" name="Date Placeholder 4"/>
          <p:cNvSpPr>
            <a:spLocks noGrp="1"/>
          </p:cNvSpPr>
          <p:nvPr>
            <p:ph type="dt" sz="half" idx="10"/>
          </p:nvPr>
        </p:nvSpPr>
        <p:spPr/>
        <p:txBody>
          <a:bodyPr/>
          <a:lstStyle/>
          <a:p>
            <a:fld id="{9A2ADD78-B297-491E-B195-029A9672D6CB}" type="datetimeFigureOut">
              <a:rPr lang="fr-FR" smtClean="0"/>
              <a:t>23/01/2026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474B4EB8-B4D5-4C7A-8C6C-6F7C354B366B}" type="slidenum">
              <a:rPr lang="fr-FR" smtClean="0"/>
              <a:t>‹N°›</a:t>
            </a:fld>
            <a:endParaRPr lang="fr-FR"/>
          </a:p>
        </p:txBody>
      </p:sp>
    </p:spTree>
    <p:extLst>
      <p:ext uri="{BB962C8B-B14F-4D97-AF65-F5344CB8AC3E}">
        <p14:creationId xmlns:p14="http://schemas.microsoft.com/office/powerpoint/2010/main" val="7084870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age panoramique avec légende">
    <p:spTree>
      <p:nvGrpSpPr>
        <p:cNvPr id="1" name=""/>
        <p:cNvGrpSpPr/>
        <p:nvPr/>
      </p:nvGrpSpPr>
      <p:grpSpPr>
        <a:xfrm>
          <a:off x="0" y="0"/>
          <a:ext cx="0" cy="0"/>
          <a:chOff x="0" y="0"/>
          <a:chExt cx="0" cy="0"/>
        </a:xfrm>
      </p:grpSpPr>
      <p:pic>
        <p:nvPicPr>
          <p:cNvPr id="10" name="Picture 9"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94" y="4289374"/>
            <a:ext cx="10364432" cy="811610"/>
          </a:xfrm>
        </p:spPr>
        <p:txBody>
          <a:bodyPr anchor="b"/>
          <a:lstStyle>
            <a:lvl1pPr>
              <a:defRPr sz="3200"/>
            </a:lvl1pPr>
          </a:lstStyle>
          <a:p>
            <a:r>
              <a:rPr lang="fr-FR" smtClean="0"/>
              <a:t>Modifiez le style du titre</a:t>
            </a:r>
            <a:endParaRPr lang="en-US" dirty="0"/>
          </a:p>
        </p:txBody>
      </p:sp>
      <p:sp>
        <p:nvSpPr>
          <p:cNvPr id="3" name="Picture Placeholder 2"/>
          <p:cNvSpPr>
            <a:spLocks noGrp="1" noChangeAspect="1"/>
          </p:cNvSpPr>
          <p:nvPr>
            <p:ph type="pic" idx="1"/>
          </p:nvPr>
        </p:nvSpPr>
        <p:spPr>
          <a:xfrm>
            <a:off x="1184744" y="698261"/>
            <a:ext cx="9822532" cy="3214136"/>
          </a:xfrm>
          <a:prstGeom prst="roundRect">
            <a:avLst>
              <a:gd name="adj" fmla="val 4944"/>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smtClean="0"/>
              <a:t>Cliquez sur l'icône pour ajouter une image</a:t>
            </a:r>
            <a:endParaRPr lang="en-US" dirty="0"/>
          </a:p>
        </p:txBody>
      </p:sp>
      <p:sp>
        <p:nvSpPr>
          <p:cNvPr id="4" name="Text Placeholder 3"/>
          <p:cNvSpPr>
            <a:spLocks noGrp="1"/>
          </p:cNvSpPr>
          <p:nvPr>
            <p:ph type="body" sz="half" idx="2"/>
          </p:nvPr>
        </p:nvSpPr>
        <p:spPr>
          <a:xfrm>
            <a:off x="913774" y="5108728"/>
            <a:ext cx="10364452" cy="682472"/>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smtClean="0"/>
              <a:t>Modifier les styles du texte du masque</a:t>
            </a:r>
          </a:p>
        </p:txBody>
      </p:sp>
      <p:sp>
        <p:nvSpPr>
          <p:cNvPr id="5" name="Date Placeholder 4"/>
          <p:cNvSpPr>
            <a:spLocks noGrp="1"/>
          </p:cNvSpPr>
          <p:nvPr>
            <p:ph type="dt" sz="half" idx="10"/>
          </p:nvPr>
        </p:nvSpPr>
        <p:spPr/>
        <p:txBody>
          <a:bodyPr/>
          <a:lstStyle/>
          <a:p>
            <a:fld id="{9A2ADD78-B297-491E-B195-029A9672D6CB}" type="datetimeFigureOut">
              <a:rPr lang="fr-FR" smtClean="0"/>
              <a:t>23/01/2026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474B4EB8-B4D5-4C7A-8C6C-6F7C354B366B}" type="slidenum">
              <a:rPr lang="fr-FR" smtClean="0"/>
              <a:t>‹N°›</a:t>
            </a:fld>
            <a:endParaRPr lang="fr-FR"/>
          </a:p>
        </p:txBody>
      </p:sp>
    </p:spTree>
    <p:extLst>
      <p:ext uri="{BB962C8B-B14F-4D97-AF65-F5344CB8AC3E}">
        <p14:creationId xmlns:p14="http://schemas.microsoft.com/office/powerpoint/2010/main" val="4566430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re et légende">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4" y="609599"/>
            <a:ext cx="10364452" cy="3427245"/>
          </a:xfrm>
        </p:spPr>
        <p:txBody>
          <a:bodyPr anchor="ctr"/>
          <a:lstStyle>
            <a:lvl1pPr algn="ctr">
              <a:defRPr sz="3200"/>
            </a:lvl1pPr>
          </a:lstStyle>
          <a:p>
            <a:r>
              <a:rPr lang="fr-FR" smtClean="0"/>
              <a:t>Modifiez le style du titre</a:t>
            </a:r>
            <a:endParaRPr lang="en-US" dirty="0"/>
          </a:p>
        </p:txBody>
      </p:sp>
      <p:sp>
        <p:nvSpPr>
          <p:cNvPr id="4" name="Text Placeholder 3"/>
          <p:cNvSpPr>
            <a:spLocks noGrp="1"/>
          </p:cNvSpPr>
          <p:nvPr>
            <p:ph type="body" sz="half" idx="2"/>
          </p:nvPr>
        </p:nvSpPr>
        <p:spPr>
          <a:xfrm>
            <a:off x="913775" y="4204821"/>
            <a:ext cx="10364452" cy="1586380"/>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smtClean="0"/>
              <a:t>Modifier les styles du texte du masque</a:t>
            </a:r>
          </a:p>
        </p:txBody>
      </p:sp>
      <p:sp>
        <p:nvSpPr>
          <p:cNvPr id="5" name="Date Placeholder 4"/>
          <p:cNvSpPr>
            <a:spLocks noGrp="1"/>
          </p:cNvSpPr>
          <p:nvPr>
            <p:ph type="dt" sz="half" idx="10"/>
          </p:nvPr>
        </p:nvSpPr>
        <p:spPr/>
        <p:txBody>
          <a:bodyPr/>
          <a:lstStyle/>
          <a:p>
            <a:fld id="{9A2ADD78-B297-491E-B195-029A9672D6CB}" type="datetimeFigureOut">
              <a:rPr lang="fr-FR" smtClean="0"/>
              <a:t>23/01/2026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474B4EB8-B4D5-4C7A-8C6C-6F7C354B366B}" type="slidenum">
              <a:rPr lang="fr-FR" smtClean="0"/>
              <a:t>‹N°›</a:t>
            </a:fld>
            <a:endParaRPr lang="fr-FR"/>
          </a:p>
        </p:txBody>
      </p:sp>
    </p:spTree>
    <p:extLst>
      <p:ext uri="{BB962C8B-B14F-4D97-AF65-F5344CB8AC3E}">
        <p14:creationId xmlns:p14="http://schemas.microsoft.com/office/powerpoint/2010/main" val="298135950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itation avec légende">
    <p:spTree>
      <p:nvGrpSpPr>
        <p:cNvPr id="1" name=""/>
        <p:cNvGrpSpPr/>
        <p:nvPr/>
      </p:nvGrpSpPr>
      <p:grpSpPr>
        <a:xfrm>
          <a:off x="0" y="0"/>
          <a:ext cx="0" cy="0"/>
          <a:chOff x="0" y="0"/>
          <a:chExt cx="0" cy="0"/>
        </a:xfrm>
      </p:grpSpPr>
      <p:pic>
        <p:nvPicPr>
          <p:cNvPr id="11" name="Picture 10"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1446212" y="609600"/>
            <a:ext cx="9302752" cy="2992904"/>
          </a:xfrm>
        </p:spPr>
        <p:txBody>
          <a:bodyPr anchor="ctr"/>
          <a:lstStyle>
            <a:lvl1pPr>
              <a:defRPr sz="3200"/>
            </a:lvl1pPr>
          </a:lstStyle>
          <a:p>
            <a:r>
              <a:rPr lang="fr-FR" smtClean="0"/>
              <a:t>Modifiez le style du titre</a:t>
            </a:r>
            <a:endParaRPr lang="en-US" dirty="0"/>
          </a:p>
        </p:txBody>
      </p:sp>
      <p:sp>
        <p:nvSpPr>
          <p:cNvPr id="12" name="Text Placeholder 3"/>
          <p:cNvSpPr>
            <a:spLocks noGrp="1"/>
          </p:cNvSpPr>
          <p:nvPr>
            <p:ph type="body" sz="half" idx="13"/>
          </p:nvPr>
        </p:nvSpPr>
        <p:spPr>
          <a:xfrm>
            <a:off x="1720644" y="3610032"/>
            <a:ext cx="8752299" cy="59478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smtClean="0"/>
              <a:t>Modifier les styles du texte du masque</a:t>
            </a:r>
          </a:p>
        </p:txBody>
      </p:sp>
      <p:sp>
        <p:nvSpPr>
          <p:cNvPr id="4" name="Text Placeholder 3"/>
          <p:cNvSpPr>
            <a:spLocks noGrp="1"/>
          </p:cNvSpPr>
          <p:nvPr>
            <p:ph type="body" sz="half" idx="2"/>
          </p:nvPr>
        </p:nvSpPr>
        <p:spPr>
          <a:xfrm>
            <a:off x="913774" y="4372796"/>
            <a:ext cx="10364452" cy="1421053"/>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smtClean="0"/>
              <a:t>Modifier les styles du texte du masque</a:t>
            </a:r>
          </a:p>
        </p:txBody>
      </p:sp>
      <p:sp>
        <p:nvSpPr>
          <p:cNvPr id="5" name="Date Placeholder 4"/>
          <p:cNvSpPr>
            <a:spLocks noGrp="1"/>
          </p:cNvSpPr>
          <p:nvPr>
            <p:ph type="dt" sz="half" idx="10"/>
          </p:nvPr>
        </p:nvSpPr>
        <p:spPr/>
        <p:txBody>
          <a:bodyPr/>
          <a:lstStyle/>
          <a:p>
            <a:fld id="{9A2ADD78-B297-491E-B195-029A9672D6CB}" type="datetimeFigureOut">
              <a:rPr lang="fr-FR" smtClean="0"/>
              <a:t>23/01/2026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474B4EB8-B4D5-4C7A-8C6C-6F7C354B366B}" type="slidenum">
              <a:rPr lang="fr-FR" smtClean="0"/>
              <a:t>‹N°›</a:t>
            </a:fld>
            <a:endParaRPr lang="fr-FR"/>
          </a:p>
        </p:txBody>
      </p:sp>
      <p:sp>
        <p:nvSpPr>
          <p:cNvPr id="13" name="TextBox 12"/>
          <p:cNvSpPr txBox="1"/>
          <p:nvPr/>
        </p:nvSpPr>
        <p:spPr>
          <a:xfrm>
            <a:off x="1001488" y="75416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4" name="TextBox 13"/>
          <p:cNvSpPr txBox="1"/>
          <p:nvPr/>
        </p:nvSpPr>
        <p:spPr>
          <a:xfrm>
            <a:off x="10557558" y="299357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414527989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arte nom">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a:xfrm>
            <a:off x="913775" y="2138721"/>
            <a:ext cx="10364452" cy="2511835"/>
          </a:xfrm>
        </p:spPr>
        <p:txBody>
          <a:bodyPr anchor="b"/>
          <a:lstStyle>
            <a:lvl1pPr algn="ctr">
              <a:defRPr sz="3200"/>
            </a:lvl1pPr>
          </a:lstStyle>
          <a:p>
            <a:r>
              <a:rPr lang="fr-FR" smtClean="0"/>
              <a:t>Modifiez le style du titre</a:t>
            </a:r>
            <a:endParaRPr lang="en-US" dirty="0"/>
          </a:p>
        </p:txBody>
      </p:sp>
      <p:sp>
        <p:nvSpPr>
          <p:cNvPr id="4" name="Text Placeholder 3"/>
          <p:cNvSpPr>
            <a:spLocks noGrp="1"/>
          </p:cNvSpPr>
          <p:nvPr>
            <p:ph type="body" sz="half" idx="2"/>
          </p:nvPr>
        </p:nvSpPr>
        <p:spPr>
          <a:xfrm>
            <a:off x="913775" y="4662335"/>
            <a:ext cx="10364452"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smtClean="0"/>
              <a:t>Modifier les styles du texte du masque</a:t>
            </a:r>
          </a:p>
        </p:txBody>
      </p:sp>
      <p:sp>
        <p:nvSpPr>
          <p:cNvPr id="5" name="Date Placeholder 4"/>
          <p:cNvSpPr>
            <a:spLocks noGrp="1"/>
          </p:cNvSpPr>
          <p:nvPr>
            <p:ph type="dt" sz="half" idx="10"/>
          </p:nvPr>
        </p:nvSpPr>
        <p:spPr/>
        <p:txBody>
          <a:bodyPr/>
          <a:lstStyle/>
          <a:p>
            <a:fld id="{9A2ADD78-B297-491E-B195-029A9672D6CB}" type="datetimeFigureOut">
              <a:rPr lang="fr-FR" smtClean="0"/>
              <a:t>23/01/2026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474B4EB8-B4D5-4C7A-8C6C-6F7C354B366B}" type="slidenum">
              <a:rPr lang="fr-FR" smtClean="0"/>
              <a:t>‹N°›</a:t>
            </a:fld>
            <a:endParaRPr lang="fr-FR"/>
          </a:p>
        </p:txBody>
      </p:sp>
    </p:spTree>
    <p:extLst>
      <p:ext uri="{BB962C8B-B14F-4D97-AF65-F5344CB8AC3E}">
        <p14:creationId xmlns:p14="http://schemas.microsoft.com/office/powerpoint/2010/main" val="244110456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onnes">
    <p:spTree>
      <p:nvGrpSpPr>
        <p:cNvPr id="1" name=""/>
        <p:cNvGrpSpPr/>
        <p:nvPr/>
      </p:nvGrpSpPr>
      <p:grpSpPr>
        <a:xfrm>
          <a:off x="0" y="0"/>
          <a:ext cx="0" cy="0"/>
          <a:chOff x="0" y="0"/>
          <a:chExt cx="0" cy="0"/>
        </a:xfrm>
      </p:grpSpPr>
      <p:pic>
        <p:nvPicPr>
          <p:cNvPr id="13" name="Picture 12"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5" name="Title 1"/>
          <p:cNvSpPr>
            <a:spLocks noGrp="1"/>
          </p:cNvSpPr>
          <p:nvPr>
            <p:ph type="title"/>
          </p:nvPr>
        </p:nvSpPr>
        <p:spPr>
          <a:xfrm>
            <a:off x="913774" y="609600"/>
            <a:ext cx="10364452" cy="1605094"/>
          </a:xfrm>
        </p:spPr>
        <p:txBody>
          <a:bodyPr/>
          <a:lstStyle/>
          <a:p>
            <a:r>
              <a:rPr lang="fr-FR" smtClean="0"/>
              <a:t>Modifiez le style du titre</a:t>
            </a:r>
            <a:endParaRPr lang="en-US" dirty="0"/>
          </a:p>
        </p:txBody>
      </p:sp>
      <p:sp>
        <p:nvSpPr>
          <p:cNvPr id="7" name="Text Placeholder 2"/>
          <p:cNvSpPr>
            <a:spLocks noGrp="1"/>
          </p:cNvSpPr>
          <p:nvPr>
            <p:ph type="body" idx="1"/>
          </p:nvPr>
        </p:nvSpPr>
        <p:spPr>
          <a:xfrm>
            <a:off x="913774" y="2367093"/>
            <a:ext cx="3298976"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8" name="Text Placeholder 3"/>
          <p:cNvSpPr>
            <a:spLocks noGrp="1"/>
          </p:cNvSpPr>
          <p:nvPr>
            <p:ph type="body" sz="half" idx="15"/>
          </p:nvPr>
        </p:nvSpPr>
        <p:spPr>
          <a:xfrm>
            <a:off x="913774" y="2943355"/>
            <a:ext cx="3298976"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Modifier les styles du texte du masque</a:t>
            </a:r>
          </a:p>
        </p:txBody>
      </p:sp>
      <p:sp>
        <p:nvSpPr>
          <p:cNvPr id="9" name="Text Placeholder 4"/>
          <p:cNvSpPr>
            <a:spLocks noGrp="1"/>
          </p:cNvSpPr>
          <p:nvPr>
            <p:ph type="body" sz="quarter" idx="3"/>
          </p:nvPr>
        </p:nvSpPr>
        <p:spPr>
          <a:xfrm>
            <a:off x="4452389" y="2367093"/>
            <a:ext cx="3291521"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10" name="Text Placeholder 3"/>
          <p:cNvSpPr>
            <a:spLocks noGrp="1"/>
          </p:cNvSpPr>
          <p:nvPr>
            <p:ph type="body" sz="half" idx="16"/>
          </p:nvPr>
        </p:nvSpPr>
        <p:spPr>
          <a:xfrm>
            <a:off x="4441348" y="2943355"/>
            <a:ext cx="3303351"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Modifier les styles du texte du masque</a:t>
            </a:r>
          </a:p>
        </p:txBody>
      </p:sp>
      <p:sp>
        <p:nvSpPr>
          <p:cNvPr id="11" name="Text Placeholder 4"/>
          <p:cNvSpPr>
            <a:spLocks noGrp="1"/>
          </p:cNvSpPr>
          <p:nvPr>
            <p:ph type="body" sz="quarter" idx="13"/>
          </p:nvPr>
        </p:nvSpPr>
        <p:spPr>
          <a:xfrm>
            <a:off x="7973298" y="2367093"/>
            <a:ext cx="3304928" cy="576262"/>
          </a:xfrm>
        </p:spPr>
        <p:txBody>
          <a:bodyPr anchor="b">
            <a:noAutofit/>
          </a:bodyPr>
          <a:lstStyle>
            <a:lvl1pPr marL="0" indent="0" algn="ctr">
              <a:lnSpc>
                <a:spcPct val="85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12" name="Text Placeholder 3"/>
          <p:cNvSpPr>
            <a:spLocks noGrp="1"/>
          </p:cNvSpPr>
          <p:nvPr>
            <p:ph type="body" sz="half" idx="17"/>
          </p:nvPr>
        </p:nvSpPr>
        <p:spPr>
          <a:xfrm>
            <a:off x="7973298" y="2943355"/>
            <a:ext cx="3304928" cy="284784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Modifier les styles du texte du masque</a:t>
            </a:r>
          </a:p>
        </p:txBody>
      </p:sp>
      <p:sp>
        <p:nvSpPr>
          <p:cNvPr id="3" name="Date Placeholder 2"/>
          <p:cNvSpPr>
            <a:spLocks noGrp="1"/>
          </p:cNvSpPr>
          <p:nvPr>
            <p:ph type="dt" sz="half" idx="10"/>
          </p:nvPr>
        </p:nvSpPr>
        <p:spPr/>
        <p:txBody>
          <a:bodyPr/>
          <a:lstStyle/>
          <a:p>
            <a:fld id="{9A2ADD78-B297-491E-B195-029A9672D6CB}" type="datetimeFigureOut">
              <a:rPr lang="fr-FR" smtClean="0"/>
              <a:t>23/01/2026</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474B4EB8-B4D5-4C7A-8C6C-6F7C354B366B}" type="slidenum">
              <a:rPr lang="fr-FR" smtClean="0"/>
              <a:t>‹N°›</a:t>
            </a:fld>
            <a:endParaRPr lang="fr-FR"/>
          </a:p>
        </p:txBody>
      </p:sp>
    </p:spTree>
    <p:extLst>
      <p:ext uri="{BB962C8B-B14F-4D97-AF65-F5344CB8AC3E}">
        <p14:creationId xmlns:p14="http://schemas.microsoft.com/office/powerpoint/2010/main" val="140492718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colonnes d’image">
    <p:spTree>
      <p:nvGrpSpPr>
        <p:cNvPr id="1" name=""/>
        <p:cNvGrpSpPr/>
        <p:nvPr/>
      </p:nvGrpSpPr>
      <p:grpSpPr>
        <a:xfrm>
          <a:off x="0" y="0"/>
          <a:ext cx="0" cy="0"/>
          <a:chOff x="0" y="0"/>
          <a:chExt cx="0" cy="0"/>
        </a:xfrm>
      </p:grpSpPr>
      <p:pic>
        <p:nvPicPr>
          <p:cNvPr id="16" name="Picture 15"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30" name="Title 1"/>
          <p:cNvSpPr>
            <a:spLocks noGrp="1"/>
          </p:cNvSpPr>
          <p:nvPr>
            <p:ph type="title"/>
          </p:nvPr>
        </p:nvSpPr>
        <p:spPr>
          <a:xfrm>
            <a:off x="913774" y="610772"/>
            <a:ext cx="10364452" cy="1603922"/>
          </a:xfrm>
        </p:spPr>
        <p:txBody>
          <a:bodyPr/>
          <a:lstStyle/>
          <a:p>
            <a:r>
              <a:rPr lang="fr-FR" smtClean="0"/>
              <a:t>Modifiez le style du titre</a:t>
            </a:r>
            <a:endParaRPr lang="en-US" dirty="0"/>
          </a:p>
        </p:txBody>
      </p:sp>
      <p:sp>
        <p:nvSpPr>
          <p:cNvPr id="19" name="Text Placeholder 2"/>
          <p:cNvSpPr>
            <a:spLocks noGrp="1"/>
          </p:cNvSpPr>
          <p:nvPr>
            <p:ph type="body" idx="1"/>
          </p:nvPr>
        </p:nvSpPr>
        <p:spPr>
          <a:xfrm>
            <a:off x="913774" y="4204820"/>
            <a:ext cx="3296409"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20" name="Picture Placeholder 2"/>
          <p:cNvSpPr>
            <a:spLocks noGrp="1" noChangeAspect="1"/>
          </p:cNvSpPr>
          <p:nvPr>
            <p:ph type="pic" idx="15"/>
          </p:nvPr>
        </p:nvSpPr>
        <p:spPr>
          <a:xfrm>
            <a:off x="913774" y="2367093"/>
            <a:ext cx="3296409" cy="1524000"/>
          </a:xfrm>
          <a:prstGeom prst="roundRect">
            <a:avLst>
              <a:gd name="adj" fmla="val 9363"/>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smtClean="0"/>
              <a:t>Cliquez sur l'icône pour ajouter une image</a:t>
            </a:r>
            <a:endParaRPr lang="en-US" dirty="0"/>
          </a:p>
        </p:txBody>
      </p:sp>
      <p:sp>
        <p:nvSpPr>
          <p:cNvPr id="21" name="Text Placeholder 3"/>
          <p:cNvSpPr>
            <a:spLocks noGrp="1"/>
          </p:cNvSpPr>
          <p:nvPr>
            <p:ph type="body" sz="half" idx="18"/>
          </p:nvPr>
        </p:nvSpPr>
        <p:spPr>
          <a:xfrm>
            <a:off x="913774" y="4781082"/>
            <a:ext cx="3296409" cy="101011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Modifier les styles du texte du masque</a:t>
            </a:r>
          </a:p>
        </p:txBody>
      </p:sp>
      <p:sp>
        <p:nvSpPr>
          <p:cNvPr id="22" name="Text Placeholder 4"/>
          <p:cNvSpPr>
            <a:spLocks noGrp="1"/>
          </p:cNvSpPr>
          <p:nvPr>
            <p:ph type="body" sz="quarter" idx="3"/>
          </p:nvPr>
        </p:nvSpPr>
        <p:spPr>
          <a:xfrm>
            <a:off x="4442759" y="4204820"/>
            <a:ext cx="3301828"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23" name="Picture Placeholder 2"/>
          <p:cNvSpPr>
            <a:spLocks noGrp="1" noChangeAspect="1"/>
          </p:cNvSpPr>
          <p:nvPr>
            <p:ph type="pic" idx="21"/>
          </p:nvPr>
        </p:nvSpPr>
        <p:spPr>
          <a:xfrm>
            <a:off x="4441348" y="2367093"/>
            <a:ext cx="3303352"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smtClean="0"/>
              <a:t>Cliquez sur l'icône pour ajouter une image</a:t>
            </a:r>
            <a:endParaRPr lang="en-US" dirty="0"/>
          </a:p>
        </p:txBody>
      </p:sp>
      <p:sp>
        <p:nvSpPr>
          <p:cNvPr id="24" name="Text Placeholder 3"/>
          <p:cNvSpPr>
            <a:spLocks noGrp="1"/>
          </p:cNvSpPr>
          <p:nvPr>
            <p:ph type="body" sz="half" idx="19"/>
          </p:nvPr>
        </p:nvSpPr>
        <p:spPr>
          <a:xfrm>
            <a:off x="4441348" y="4781080"/>
            <a:ext cx="3303352" cy="1010119"/>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Modifier les styles du texte du masque</a:t>
            </a:r>
          </a:p>
        </p:txBody>
      </p:sp>
      <p:sp>
        <p:nvSpPr>
          <p:cNvPr id="25" name="Text Placeholder 4"/>
          <p:cNvSpPr>
            <a:spLocks noGrp="1"/>
          </p:cNvSpPr>
          <p:nvPr>
            <p:ph type="body" sz="quarter" idx="13"/>
          </p:nvPr>
        </p:nvSpPr>
        <p:spPr>
          <a:xfrm>
            <a:off x="7973298" y="4204820"/>
            <a:ext cx="3300681" cy="576262"/>
          </a:xfrm>
        </p:spPr>
        <p:txBody>
          <a:bodyPr anchor="b">
            <a:noAutofit/>
          </a:bodyPr>
          <a:lstStyle>
            <a:lvl1pPr marL="0" indent="0" algn="ctr">
              <a:lnSpc>
                <a:spcPct val="85000"/>
              </a:lnSpc>
              <a:buNone/>
              <a:defRPr sz="22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Modifier les styles du texte du masque</a:t>
            </a:r>
          </a:p>
        </p:txBody>
      </p:sp>
      <p:sp>
        <p:nvSpPr>
          <p:cNvPr id="26" name="Picture Placeholder 2"/>
          <p:cNvSpPr>
            <a:spLocks noGrp="1" noChangeAspect="1"/>
          </p:cNvSpPr>
          <p:nvPr>
            <p:ph type="pic" idx="22"/>
          </p:nvPr>
        </p:nvSpPr>
        <p:spPr>
          <a:xfrm>
            <a:off x="7973298" y="2367093"/>
            <a:ext cx="3304928" cy="1524000"/>
          </a:xfrm>
          <a:prstGeom prst="roundRect">
            <a:avLst>
              <a:gd name="adj" fmla="val 8841"/>
            </a:avLst>
          </a:prstGeom>
          <a:noFill/>
          <a:ln w="82550" cap="sq">
            <a:solidFill>
              <a:srgbClr val="EAEAEA"/>
            </a:solidFill>
            <a:miter lim="800000"/>
          </a:ln>
          <a:effectLst/>
          <a:scene3d>
            <a:camera prst="orthographicFront"/>
            <a:lightRig rig="threePt" dir="t">
              <a:rot lat="0" lon="0" rev="2700000"/>
            </a:lightRig>
          </a:scene3d>
          <a:sp3d contourW="6350">
            <a:bevelT h="38100"/>
            <a:contourClr>
              <a:srgbClr val="C0C0C0"/>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smtClean="0"/>
              <a:t>Cliquez sur l'icône pour ajouter une image</a:t>
            </a:r>
            <a:endParaRPr lang="en-US" dirty="0"/>
          </a:p>
        </p:txBody>
      </p:sp>
      <p:sp>
        <p:nvSpPr>
          <p:cNvPr id="27" name="Text Placeholder 3"/>
          <p:cNvSpPr>
            <a:spLocks noGrp="1"/>
          </p:cNvSpPr>
          <p:nvPr>
            <p:ph type="body" sz="half" idx="20"/>
          </p:nvPr>
        </p:nvSpPr>
        <p:spPr>
          <a:xfrm>
            <a:off x="7973173" y="4781078"/>
            <a:ext cx="3305053" cy="1010121"/>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Modifier les styles du texte du masque</a:t>
            </a:r>
          </a:p>
        </p:txBody>
      </p:sp>
      <p:sp>
        <p:nvSpPr>
          <p:cNvPr id="3" name="Date Placeholder 2"/>
          <p:cNvSpPr>
            <a:spLocks noGrp="1"/>
          </p:cNvSpPr>
          <p:nvPr>
            <p:ph type="dt" sz="half" idx="10"/>
          </p:nvPr>
        </p:nvSpPr>
        <p:spPr/>
        <p:txBody>
          <a:bodyPr/>
          <a:lstStyle/>
          <a:p>
            <a:fld id="{9A2ADD78-B297-491E-B195-029A9672D6CB}" type="datetimeFigureOut">
              <a:rPr lang="fr-FR" smtClean="0"/>
              <a:t>23/01/2026</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474B4EB8-B4D5-4C7A-8C6C-6F7C354B366B}" type="slidenum">
              <a:rPr lang="fr-FR" smtClean="0"/>
              <a:t>‹N°›</a:t>
            </a:fld>
            <a:endParaRPr lang="fr-FR"/>
          </a:p>
        </p:txBody>
      </p:sp>
    </p:spTree>
    <p:extLst>
      <p:ext uri="{BB962C8B-B14F-4D97-AF65-F5344CB8AC3E}">
        <p14:creationId xmlns:p14="http://schemas.microsoft.com/office/powerpoint/2010/main" val="325143883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pic>
        <p:nvPicPr>
          <p:cNvPr id="8" name="Picture 7"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p:cNvSpPr>
            <a:spLocks noGrp="1"/>
          </p:cNvSpPr>
          <p:nvPr>
            <p:ph type="title"/>
          </p:nvPr>
        </p:nvSpPr>
        <p:spPr/>
        <p:txBody>
          <a:bodyPr/>
          <a:lstStyle/>
          <a:p>
            <a:r>
              <a:rPr lang="fr-FR" smtClean="0"/>
              <a:t>Modifiez le style du titre</a:t>
            </a:r>
            <a:endParaRPr lang="en-US" dirty="0"/>
          </a:p>
        </p:txBody>
      </p:sp>
      <p:sp>
        <p:nvSpPr>
          <p:cNvPr id="11" name="Vertical Text Placeholder 2"/>
          <p:cNvSpPr>
            <a:spLocks noGrp="1"/>
          </p:cNvSpPr>
          <p:nvPr>
            <p:ph type="body" orient="vert" sz="quarter" idx="13"/>
          </p:nvPr>
        </p:nvSpPr>
        <p:spPr>
          <a:xfrm>
            <a:off x="913775" y="2367093"/>
            <a:ext cx="10364452" cy="3424107"/>
          </a:xfrm>
        </p:spPr>
        <p:txBody>
          <a:bodyPr vert="eaVert"/>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10"/>
          </p:nvPr>
        </p:nvSpPr>
        <p:spPr/>
        <p:txBody>
          <a:bodyPr/>
          <a:lstStyle/>
          <a:p>
            <a:fld id="{9A2ADD78-B297-491E-B195-029A9672D6CB}" type="datetimeFigureOut">
              <a:rPr lang="fr-FR" smtClean="0"/>
              <a:t>23/01/2026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474B4EB8-B4D5-4C7A-8C6C-6F7C354B366B}" type="slidenum">
              <a:rPr lang="fr-FR" smtClean="0"/>
              <a:t>‹N°›</a:t>
            </a:fld>
            <a:endParaRPr lang="fr-FR"/>
          </a:p>
        </p:txBody>
      </p:sp>
    </p:spTree>
    <p:extLst>
      <p:ext uri="{BB962C8B-B14F-4D97-AF65-F5344CB8AC3E}">
        <p14:creationId xmlns:p14="http://schemas.microsoft.com/office/powerpoint/2010/main" val="74390159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pic>
        <p:nvPicPr>
          <p:cNvPr id="9" name="Picture 8" descr="Droplets-HD-Content-R1d.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Vertical Title 1"/>
          <p:cNvSpPr>
            <a:spLocks noGrp="1"/>
          </p:cNvSpPr>
          <p:nvPr>
            <p:ph type="title" orient="vert"/>
          </p:nvPr>
        </p:nvSpPr>
        <p:spPr>
          <a:xfrm>
            <a:off x="8724900" y="609601"/>
            <a:ext cx="2553326" cy="5181599"/>
          </a:xfrm>
        </p:spPr>
        <p:txBody>
          <a:bodyPr vert="eaVert"/>
          <a:lstStyle>
            <a:lvl1pPr algn="l">
              <a:defRPr/>
            </a:lvl1pPr>
          </a:lstStyle>
          <a:p>
            <a:r>
              <a:rPr lang="fr-FR" smtClean="0"/>
              <a:t>Modifiez le style du titre</a:t>
            </a:r>
            <a:endParaRPr lang="en-US" dirty="0"/>
          </a:p>
        </p:txBody>
      </p:sp>
      <p:sp>
        <p:nvSpPr>
          <p:cNvPr id="8" name="Vertical Text Placeholder 2"/>
          <p:cNvSpPr>
            <a:spLocks noGrp="1"/>
          </p:cNvSpPr>
          <p:nvPr>
            <p:ph type="body" orient="vert" sz="quarter" idx="13"/>
          </p:nvPr>
        </p:nvSpPr>
        <p:spPr>
          <a:xfrm>
            <a:off x="913775" y="609601"/>
            <a:ext cx="7658724" cy="5181599"/>
          </a:xfrm>
        </p:spPr>
        <p:txBody>
          <a:bodyPr vert="eaVert"/>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10"/>
          </p:nvPr>
        </p:nvSpPr>
        <p:spPr/>
        <p:txBody>
          <a:bodyPr/>
          <a:lstStyle/>
          <a:p>
            <a:fld id="{9A2ADD78-B297-491E-B195-029A9672D6CB}" type="datetimeFigureOut">
              <a:rPr lang="fr-FR" smtClean="0"/>
              <a:t>23/01/2026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474B4EB8-B4D5-4C7A-8C6C-6F7C354B366B}" type="slidenum">
              <a:rPr lang="fr-FR" smtClean="0"/>
              <a:t>‹N°›</a:t>
            </a:fld>
            <a:endParaRPr lang="fr-FR"/>
          </a:p>
        </p:txBody>
      </p:sp>
    </p:spTree>
    <p:extLst>
      <p:ext uri="{BB962C8B-B14F-4D97-AF65-F5344CB8AC3E}">
        <p14:creationId xmlns:p14="http://schemas.microsoft.com/office/powerpoint/2010/main" val="2578291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pic>
        <p:nvPicPr>
          <p:cNvPr id="1026" name="Picture 2" descr="\\DROBO-FS\QuickDrops\JB\PPTX NG\Droplets\LightingOverlay.png"/>
          <p:cNvPicPr>
            <a:picLocks noChangeAspect="1" noChangeArrowheads="1"/>
          </p:cNvPicPr>
          <p:nvPr/>
        </p:nvPicPr>
        <p:blipFill>
          <a:blip r:embed="rId19">
            <a:alphaModFix/>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Placeholder 1"/>
          <p:cNvSpPr>
            <a:spLocks noGrp="1"/>
          </p:cNvSpPr>
          <p:nvPr>
            <p:ph type="title"/>
          </p:nvPr>
        </p:nvSpPr>
        <p:spPr>
          <a:xfrm>
            <a:off x="913775" y="618517"/>
            <a:ext cx="10364451" cy="1596177"/>
          </a:xfrm>
          <a:prstGeom prst="rect">
            <a:avLst/>
          </a:prstGeom>
        </p:spPr>
        <p:txBody>
          <a:bodyPr vert="horz" lIns="91440" tIns="45720" rIns="91440" bIns="45720" rtlCol="0" anchor="ctr">
            <a:normAutofit/>
          </a:bodyPr>
          <a:lstStyle/>
          <a:p>
            <a:r>
              <a:rPr lang="fr-FR" smtClean="0"/>
              <a:t>Modifiez le style du titre</a:t>
            </a:r>
            <a:endParaRPr lang="en-US" dirty="0"/>
          </a:p>
        </p:txBody>
      </p:sp>
      <p:sp>
        <p:nvSpPr>
          <p:cNvPr id="3" name="Text Placeholder 2"/>
          <p:cNvSpPr>
            <a:spLocks noGrp="1"/>
          </p:cNvSpPr>
          <p:nvPr>
            <p:ph type="body" idx="1"/>
          </p:nvPr>
        </p:nvSpPr>
        <p:spPr>
          <a:xfrm>
            <a:off x="913775" y="2367093"/>
            <a:ext cx="10364452" cy="3424107"/>
          </a:xfrm>
          <a:prstGeom prst="rect">
            <a:avLst/>
          </a:prstGeom>
        </p:spPr>
        <p:txBody>
          <a:bodyPr vert="horz" lIns="91440" tIns="45720" rIns="91440" bIns="45720" rtlCol="0">
            <a:normAutofit/>
          </a:bodyPr>
          <a:lstStyle/>
          <a:p>
            <a:pPr lvl="0"/>
            <a:r>
              <a:rPr lang="fr-FR" smtClean="0"/>
              <a:t>Modifier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2"/>
          </p:nvPr>
        </p:nvSpPr>
        <p:spPr>
          <a:xfrm>
            <a:off x="7678737" y="5883275"/>
            <a:ext cx="2743200" cy="365125"/>
          </a:xfrm>
          <a:prstGeom prst="rect">
            <a:avLst/>
          </a:prstGeom>
        </p:spPr>
        <p:txBody>
          <a:bodyPr vert="horz" lIns="91440" tIns="45720" rIns="91440" bIns="45720" rtlCol="0" anchor="ctr"/>
          <a:lstStyle>
            <a:lvl1pPr algn="r">
              <a:defRPr sz="1000">
                <a:solidFill>
                  <a:schemeClr val="tx1"/>
                </a:solidFill>
              </a:defRPr>
            </a:lvl1pPr>
          </a:lstStyle>
          <a:p>
            <a:fld id="{9A2ADD78-B297-491E-B195-029A9672D6CB}" type="datetimeFigureOut">
              <a:rPr lang="fr-FR" smtClean="0"/>
              <a:t>23/01/2026</a:t>
            </a:fld>
            <a:endParaRPr lang="fr-FR"/>
          </a:p>
        </p:txBody>
      </p:sp>
      <p:sp>
        <p:nvSpPr>
          <p:cNvPr id="5" name="Footer Placeholder 4"/>
          <p:cNvSpPr>
            <a:spLocks noGrp="1"/>
          </p:cNvSpPr>
          <p:nvPr>
            <p:ph type="ftr" sz="quarter" idx="3"/>
          </p:nvPr>
        </p:nvSpPr>
        <p:spPr>
          <a:xfrm>
            <a:off x="913774" y="5883275"/>
            <a:ext cx="6672887" cy="365125"/>
          </a:xfrm>
          <a:prstGeom prst="rect">
            <a:avLst/>
          </a:prstGeom>
        </p:spPr>
        <p:txBody>
          <a:bodyPr vert="horz" lIns="91440" tIns="45720" rIns="91440" bIns="45720" rtlCol="0" anchor="ctr"/>
          <a:lstStyle>
            <a:lvl1pPr algn="l">
              <a:defRPr sz="1000">
                <a:solidFill>
                  <a:schemeClr val="tx1"/>
                </a:solidFill>
              </a:defRPr>
            </a:lvl1pPr>
          </a:lstStyle>
          <a:p>
            <a:endParaRPr lang="fr-FR"/>
          </a:p>
        </p:txBody>
      </p:sp>
      <p:sp>
        <p:nvSpPr>
          <p:cNvPr id="6" name="Slide Number Placeholder 5"/>
          <p:cNvSpPr>
            <a:spLocks noGrp="1"/>
          </p:cNvSpPr>
          <p:nvPr>
            <p:ph type="sldNum" sz="quarter" idx="4"/>
          </p:nvPr>
        </p:nvSpPr>
        <p:spPr>
          <a:xfrm>
            <a:off x="10514011" y="5883275"/>
            <a:ext cx="764215" cy="365125"/>
          </a:xfrm>
          <a:prstGeom prst="rect">
            <a:avLst/>
          </a:prstGeom>
        </p:spPr>
        <p:txBody>
          <a:bodyPr vert="horz" lIns="91440" tIns="45720" rIns="91440" bIns="45720" rtlCol="0" anchor="ctr"/>
          <a:lstStyle>
            <a:lvl1pPr algn="r">
              <a:defRPr sz="1000">
                <a:solidFill>
                  <a:schemeClr val="tx1"/>
                </a:solidFill>
              </a:defRPr>
            </a:lvl1pPr>
          </a:lstStyle>
          <a:p>
            <a:fld id="{474B4EB8-B4D5-4C7A-8C6C-6F7C354B366B}" type="slidenum">
              <a:rPr lang="fr-FR" smtClean="0"/>
              <a:t>‹N°›</a:t>
            </a:fld>
            <a:endParaRPr lang="fr-FR"/>
          </a:p>
        </p:txBody>
      </p:sp>
    </p:spTree>
    <p:extLst>
      <p:ext uri="{BB962C8B-B14F-4D97-AF65-F5344CB8AC3E}">
        <p14:creationId xmlns:p14="http://schemas.microsoft.com/office/powerpoint/2010/main" val="3576537166"/>
      </p:ext>
    </p:extLst>
  </p:cSld>
  <p:clrMap bg1="lt1" tx1="dk1" bg2="lt2" tx2="dk2" accent1="accent1" accent2="accent2" accent3="accent3" accent4="accent4" accent5="accent5" accent6="accent6" hlink="hlink" folHlink="folHlink"/>
  <p:sldLayoutIdLst>
    <p:sldLayoutId id="2147483901" r:id="rId1"/>
    <p:sldLayoutId id="2147483902" r:id="rId2"/>
    <p:sldLayoutId id="2147483903" r:id="rId3"/>
    <p:sldLayoutId id="2147483904" r:id="rId4"/>
    <p:sldLayoutId id="2147483905" r:id="rId5"/>
    <p:sldLayoutId id="2147483906" r:id="rId6"/>
    <p:sldLayoutId id="2147483907" r:id="rId7"/>
    <p:sldLayoutId id="2147483908" r:id="rId8"/>
    <p:sldLayoutId id="2147483909" r:id="rId9"/>
    <p:sldLayoutId id="2147483910" r:id="rId10"/>
    <p:sldLayoutId id="2147483911" r:id="rId11"/>
    <p:sldLayoutId id="2147483912" r:id="rId12"/>
    <p:sldLayoutId id="2147483913" r:id="rId13"/>
    <p:sldLayoutId id="2147483914" r:id="rId14"/>
    <p:sldLayoutId id="2147483915" r:id="rId15"/>
    <p:sldLayoutId id="2147483916" r:id="rId16"/>
    <p:sldLayoutId id="2147483917" r:id="rId17"/>
  </p:sldLayoutIdLst>
  <p:txStyles>
    <p:titleStyle>
      <a:lvl1pPr algn="ctr" defTabSz="914400" rtl="0" eaLnBrk="1" latinLnBrk="0" hangingPunct="1">
        <a:lnSpc>
          <a:spcPct val="90000"/>
        </a:lnSpc>
        <a:spcBef>
          <a:spcPct val="0"/>
        </a:spcBef>
        <a:buNone/>
        <a:defRPr sz="3600" kern="1200" cap="all" baseline="0">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tx1"/>
        </a:buClr>
        <a:buFont typeface="Arial" panose="020B0604020202020204" pitchFamily="34" charset="0"/>
        <a:buChar char="•"/>
        <a:defRPr sz="2000" kern="1200" cap="all" baseline="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tx1"/>
        </a:buClr>
        <a:buFont typeface="Arial" panose="020B0604020202020204" pitchFamily="34" charset="0"/>
        <a:buChar char="•"/>
        <a:defRPr sz="1800" kern="1200" cap="all"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tx1"/>
        </a:buClr>
        <a:buFont typeface="Arial" panose="020B0604020202020204" pitchFamily="34" charset="0"/>
        <a:buChar char="•"/>
        <a:defRPr sz="1600" kern="1200" cap="all" baseline="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tx1"/>
        </a:buClr>
        <a:buFont typeface="Arial" panose="020B0604020202020204" pitchFamily="34" charset="0"/>
        <a:buChar char="•"/>
        <a:defRPr sz="1400" kern="1200" cap="all"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oneTexte 1"/>
          <p:cNvSpPr txBox="1"/>
          <p:nvPr/>
        </p:nvSpPr>
        <p:spPr>
          <a:xfrm>
            <a:off x="807720" y="2426375"/>
            <a:ext cx="3540760" cy="3693319"/>
          </a:xfrm>
          <a:prstGeom prst="rect">
            <a:avLst/>
          </a:prstGeom>
          <a:noFill/>
        </p:spPr>
        <p:txBody>
          <a:bodyPr wrap="square" rtlCol="0">
            <a:spAutoFit/>
          </a:bodyPr>
          <a:lstStyle/>
          <a:p>
            <a:endParaRPr lang="fr-CM" dirty="0"/>
          </a:p>
          <a:p>
            <a:endParaRPr lang="fr-CM" dirty="0" smtClean="0"/>
          </a:p>
          <a:p>
            <a:endParaRPr lang="fr-CM" dirty="0" smtClean="0"/>
          </a:p>
          <a:p>
            <a:r>
              <a:rPr lang="fr-CM" dirty="0" smtClean="0">
                <a:latin typeface="Times New Roman" panose="02020603050405020304" pitchFamily="18" charset="0"/>
                <a:cs typeface="Times New Roman" panose="02020603050405020304" pitchFamily="18" charset="0"/>
              </a:rPr>
              <a:t>Rédigé et présenté par:</a:t>
            </a:r>
          </a:p>
          <a:p>
            <a:endParaRPr lang="fr-CM" dirty="0">
              <a:latin typeface="Times New Roman" panose="02020603050405020304" pitchFamily="18" charset="0"/>
              <a:cs typeface="Times New Roman" panose="02020603050405020304" pitchFamily="18" charset="0"/>
            </a:endParaRPr>
          </a:p>
          <a:p>
            <a:pPr>
              <a:lnSpc>
                <a:spcPct val="150000"/>
              </a:lnSpc>
            </a:pPr>
            <a:r>
              <a:rPr lang="fr-CM" b="1" dirty="0" smtClean="0">
                <a:latin typeface="Times New Roman" panose="02020603050405020304" pitchFamily="18" charset="0"/>
                <a:cs typeface="Times New Roman" panose="02020603050405020304" pitchFamily="18" charset="0"/>
              </a:rPr>
              <a:t>BALA ZAM Marc Philippe</a:t>
            </a:r>
          </a:p>
          <a:p>
            <a:pPr>
              <a:lnSpc>
                <a:spcPct val="150000"/>
              </a:lnSpc>
            </a:pPr>
            <a:r>
              <a:rPr lang="fr-CM" b="1" dirty="0" smtClean="0">
                <a:latin typeface="Times New Roman" panose="02020603050405020304" pitchFamily="18" charset="0"/>
                <a:cs typeface="Times New Roman" panose="02020603050405020304" pitchFamily="18" charset="0"/>
              </a:rPr>
              <a:t>BARDE </a:t>
            </a:r>
            <a:r>
              <a:rPr lang="fr-CM" b="1" dirty="0" err="1" smtClean="0">
                <a:latin typeface="Times New Roman" panose="02020603050405020304" pitchFamily="18" charset="0"/>
                <a:cs typeface="Times New Roman" panose="02020603050405020304" pitchFamily="18" charset="0"/>
              </a:rPr>
              <a:t>BARDE</a:t>
            </a:r>
            <a:r>
              <a:rPr lang="fr-CM" b="1" dirty="0" smtClean="0">
                <a:latin typeface="Times New Roman" panose="02020603050405020304" pitchFamily="18" charset="0"/>
                <a:cs typeface="Times New Roman" panose="02020603050405020304" pitchFamily="18" charset="0"/>
              </a:rPr>
              <a:t> </a:t>
            </a:r>
            <a:r>
              <a:rPr lang="fr-CM" b="1" dirty="0" err="1" smtClean="0">
                <a:latin typeface="Times New Roman" panose="02020603050405020304" pitchFamily="18" charset="0"/>
                <a:cs typeface="Times New Roman" panose="02020603050405020304" pitchFamily="18" charset="0"/>
              </a:rPr>
              <a:t>Bebeto</a:t>
            </a:r>
            <a:r>
              <a:rPr lang="fr-CM" b="1" dirty="0" smtClean="0">
                <a:latin typeface="Times New Roman" panose="02020603050405020304" pitchFamily="18" charset="0"/>
                <a:cs typeface="Times New Roman" panose="02020603050405020304" pitchFamily="18" charset="0"/>
              </a:rPr>
              <a:t>  Jason</a:t>
            </a:r>
          </a:p>
          <a:p>
            <a:endParaRPr lang="fr-CM" dirty="0"/>
          </a:p>
          <a:p>
            <a:endParaRPr lang="fr-CM" dirty="0" smtClean="0">
              <a:latin typeface="Times New Roman" panose="02020603050405020304" pitchFamily="18" charset="0"/>
              <a:cs typeface="Times New Roman" panose="02020603050405020304" pitchFamily="18" charset="0"/>
            </a:endParaRPr>
          </a:p>
          <a:p>
            <a:r>
              <a:rPr lang="fr-CM" dirty="0" smtClean="0">
                <a:latin typeface="Times New Roman" panose="02020603050405020304" pitchFamily="18" charset="0"/>
                <a:cs typeface="Times New Roman" panose="02020603050405020304" pitchFamily="18" charset="0"/>
              </a:rPr>
              <a:t>Étudiants en M1 SSI</a:t>
            </a:r>
          </a:p>
          <a:p>
            <a:endParaRPr lang="fr-CM" dirty="0" smtClean="0"/>
          </a:p>
          <a:p>
            <a:endParaRPr lang="fr-CM" dirty="0" smtClean="0"/>
          </a:p>
        </p:txBody>
      </p:sp>
      <p:sp>
        <p:nvSpPr>
          <p:cNvPr id="3" name="ZoneTexte 2"/>
          <p:cNvSpPr txBox="1"/>
          <p:nvPr/>
        </p:nvSpPr>
        <p:spPr>
          <a:xfrm>
            <a:off x="6776720" y="4891534"/>
            <a:ext cx="5567680" cy="369332"/>
          </a:xfrm>
          <a:prstGeom prst="rect">
            <a:avLst/>
          </a:prstGeom>
          <a:noFill/>
        </p:spPr>
        <p:txBody>
          <a:bodyPr wrap="square" rtlCol="0">
            <a:spAutoFit/>
          </a:bodyPr>
          <a:lstStyle/>
          <a:p>
            <a:r>
              <a:rPr lang="fr-FR" b="1" dirty="0">
                <a:latin typeface="Times New Roman" panose="02020603050405020304" pitchFamily="18" charset="0"/>
                <a:cs typeface="Times New Roman" panose="02020603050405020304" pitchFamily="18" charset="0"/>
              </a:rPr>
              <a:t>Sous la supervision de : </a:t>
            </a:r>
            <a:r>
              <a:rPr lang="fr-FR" b="1" dirty="0" smtClean="0">
                <a:latin typeface="Times New Roman" panose="02020603050405020304" pitchFamily="18" charset="0"/>
                <a:cs typeface="Times New Roman" panose="02020603050405020304" pitchFamily="18" charset="0"/>
              </a:rPr>
              <a:t>M. NGUIMBUS Emmanuel</a:t>
            </a:r>
            <a:endParaRPr lang="en-US" b="1" dirty="0">
              <a:latin typeface="Times New Roman" panose="02020603050405020304" pitchFamily="18" charset="0"/>
              <a:cs typeface="Times New Roman" panose="02020603050405020304" pitchFamily="18" charset="0"/>
            </a:endParaRPr>
          </a:p>
        </p:txBody>
      </p:sp>
      <p:sp>
        <p:nvSpPr>
          <p:cNvPr id="6" name="ZoneTexte 5"/>
          <p:cNvSpPr txBox="1"/>
          <p:nvPr/>
        </p:nvSpPr>
        <p:spPr>
          <a:xfrm>
            <a:off x="4257040" y="66706"/>
            <a:ext cx="3474720" cy="584775"/>
          </a:xfrm>
          <a:prstGeom prst="rect">
            <a:avLst/>
          </a:prstGeom>
          <a:noFill/>
        </p:spPr>
        <p:txBody>
          <a:bodyPr wrap="square" rtlCol="0">
            <a:spAutoFit/>
          </a:bodyPr>
          <a:lstStyle/>
          <a:p>
            <a:pPr algn="ctr"/>
            <a:r>
              <a:rPr lang="fr-CM" sz="3200" b="1" u="sng" dirty="0" smtClean="0">
                <a:latin typeface="Times New Roman" panose="02020603050405020304" pitchFamily="18" charset="0"/>
                <a:cs typeface="Times New Roman" panose="02020603050405020304" pitchFamily="18" charset="0"/>
              </a:rPr>
              <a:t>THÈME</a:t>
            </a:r>
            <a:endParaRPr lang="en-US" sz="3200" b="1" u="sng" dirty="0">
              <a:latin typeface="Times New Roman" panose="02020603050405020304" pitchFamily="18" charset="0"/>
              <a:cs typeface="Times New Roman" panose="02020603050405020304" pitchFamily="18" charset="0"/>
            </a:endParaRPr>
          </a:p>
        </p:txBody>
      </p:sp>
      <p:sp>
        <p:nvSpPr>
          <p:cNvPr id="7" name="Parchemin horizontal 6"/>
          <p:cNvSpPr/>
          <p:nvPr/>
        </p:nvSpPr>
        <p:spPr>
          <a:xfrm>
            <a:off x="1625600" y="743844"/>
            <a:ext cx="9123680" cy="2283836"/>
          </a:xfrm>
          <a:prstGeom prst="horizontalScroll">
            <a:avLst/>
          </a:prstGeom>
          <a:solidFill>
            <a:schemeClr val="accent3">
              <a:lumMod val="5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50000"/>
              </a:lnSpc>
            </a:pPr>
            <a:r>
              <a:rPr lang="fr-CM" sz="2000" b="1" dirty="0" smtClean="0">
                <a:latin typeface="Times New Roman" panose="02020603050405020304" pitchFamily="18" charset="0"/>
                <a:cs typeface="Times New Roman" panose="02020603050405020304" pitchFamily="18" charset="0"/>
              </a:rPr>
              <a:t>CONCEPTION  </a:t>
            </a:r>
            <a:r>
              <a:rPr lang="fr-CM" sz="2000" b="1" dirty="0">
                <a:latin typeface="Times New Roman" panose="02020603050405020304" pitchFamily="18" charset="0"/>
                <a:cs typeface="Times New Roman" panose="02020603050405020304" pitchFamily="18" charset="0"/>
              </a:rPr>
              <a:t>ET MISE EN ŒUVRE MULTICORE </a:t>
            </a:r>
            <a:r>
              <a:rPr lang="fr-CM" sz="2000" b="1" dirty="0" smtClean="0">
                <a:latin typeface="Times New Roman" panose="02020603050405020304" pitchFamily="18" charset="0"/>
                <a:cs typeface="Times New Roman" panose="02020603050405020304" pitchFamily="18" charset="0"/>
              </a:rPr>
              <a:t>MONITOR </a:t>
            </a:r>
            <a:r>
              <a:rPr lang="fr-CM" sz="2000" b="1" dirty="0">
                <a:latin typeface="Times New Roman" panose="02020603050405020304" pitchFamily="18" charset="0"/>
                <a:cs typeface="Times New Roman" panose="02020603050405020304" pitchFamily="18" charset="0"/>
              </a:rPr>
              <a:t>, UN MONITEUR EN TEMPS </a:t>
            </a:r>
            <a:r>
              <a:rPr lang="fr-CM" sz="2000" b="1" dirty="0" smtClean="0">
                <a:latin typeface="Times New Roman" panose="02020603050405020304" pitchFamily="18" charset="0"/>
                <a:cs typeface="Times New Roman" panose="02020603050405020304" pitchFamily="18" charset="0"/>
              </a:rPr>
              <a:t>RÉEL  </a:t>
            </a:r>
            <a:r>
              <a:rPr lang="fr-CM" sz="2000" b="1" dirty="0">
                <a:latin typeface="Times New Roman" panose="02020603050405020304" pitchFamily="18" charset="0"/>
                <a:cs typeface="Times New Roman" panose="02020603050405020304" pitchFamily="18" charset="0"/>
              </a:rPr>
              <a:t>DE PERFORMANCE MULTIPROCESSEUR : cas de Linux </a:t>
            </a:r>
            <a:r>
              <a:rPr lang="fr-CM" sz="2000" b="1" dirty="0" err="1">
                <a:latin typeface="Times New Roman" panose="02020603050405020304" pitchFamily="18" charset="0"/>
                <a:cs typeface="Times New Roman" panose="02020603050405020304" pitchFamily="18" charset="0"/>
              </a:rPr>
              <a:t>OpenSUSE</a:t>
            </a:r>
            <a:r>
              <a:rPr lang="fr-CM" sz="2000" b="1" dirty="0">
                <a:latin typeface="Times New Roman" panose="02020603050405020304" pitchFamily="18" charset="0"/>
                <a:cs typeface="Times New Roman" panose="02020603050405020304" pitchFamily="18" charset="0"/>
              </a:rPr>
              <a:t>.</a:t>
            </a:r>
          </a:p>
        </p:txBody>
      </p:sp>
      <p:sp>
        <p:nvSpPr>
          <p:cNvPr id="9" name="Ruban courbé vers le bas 8"/>
          <p:cNvSpPr/>
          <p:nvPr/>
        </p:nvSpPr>
        <p:spPr>
          <a:xfrm>
            <a:off x="2260600" y="5841818"/>
            <a:ext cx="7853680" cy="758952"/>
          </a:xfrm>
          <a:prstGeom prst="ellipseRibbon">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latin typeface="Times New Roman" panose="02020603050405020304" pitchFamily="18" charset="0"/>
                <a:cs typeface="Times New Roman" panose="02020603050405020304" pitchFamily="18" charset="0"/>
              </a:rPr>
              <a:t>ANNÉE ACADEMIQUE: 2025-2026 </a:t>
            </a:r>
          </a:p>
        </p:txBody>
      </p:sp>
    </p:spTree>
    <p:extLst>
      <p:ext uri="{BB962C8B-B14F-4D97-AF65-F5344CB8AC3E}">
        <p14:creationId xmlns:p14="http://schemas.microsoft.com/office/powerpoint/2010/main" val="77853954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6000">
        <p15:prstTrans prst="curtains"/>
      </p:transition>
    </mc:Choice>
    <mc:Fallback xmlns="">
      <p:transition spd="slow">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ctrTitle"/>
          </p:nvPr>
        </p:nvSpPr>
        <p:spPr>
          <a:xfrm>
            <a:off x="1839912" y="2717800"/>
            <a:ext cx="8689976" cy="800100"/>
          </a:xfrm>
        </p:spPr>
        <p:txBody>
          <a:bodyPr>
            <a:normAutofit/>
          </a:bodyPr>
          <a:lstStyle/>
          <a:p>
            <a:r>
              <a:rPr lang="fr-FR" b="1" dirty="0" smtClean="0">
                <a:latin typeface="Times New Roman" panose="02020603050405020304" pitchFamily="18" charset="0"/>
                <a:cs typeface="Times New Roman" panose="02020603050405020304" pitchFamily="18" charset="0"/>
              </a:rPr>
              <a:t>Dossier</a:t>
            </a:r>
            <a:r>
              <a:rPr lang="fr-FR" dirty="0" smtClean="0">
                <a:latin typeface="Times New Roman" panose="02020603050405020304" pitchFamily="18" charset="0"/>
                <a:cs typeface="Times New Roman" panose="02020603050405020304" pitchFamily="18" charset="0"/>
              </a:rPr>
              <a:t> </a:t>
            </a:r>
            <a:r>
              <a:rPr lang="fr-FR" b="1" dirty="0" smtClean="0">
                <a:latin typeface="Times New Roman" panose="02020603050405020304" pitchFamily="18" charset="0"/>
                <a:cs typeface="Times New Roman" panose="02020603050405020304" pitchFamily="18" charset="0"/>
              </a:rPr>
              <a:t>d’analyse</a:t>
            </a:r>
            <a:endParaRPr lang="fr-FR"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9120838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80">
                                          <p:stCondLst>
                                            <p:cond delay="0"/>
                                          </p:stCondLst>
                                        </p:cTn>
                                        <p:tgtEl>
                                          <p:spTgt spid="2"/>
                                        </p:tgtEl>
                                      </p:cBhvr>
                                    </p:animEffect>
                                    <p:anim calcmode="lin" valueType="num">
                                      <p:cBhvr>
                                        <p:cTn id="8" dur="1822" tmFilter="0,0; 0.14,0.36; 0.43,0.73; 0.71,0.91; 1.0,1.0">
                                          <p:stCondLst>
                                            <p:cond delay="0"/>
                                          </p:stCondLst>
                                        </p:cTn>
                                        <p:tgtEl>
                                          <p:spTgt spid="2"/>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2"/>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2"/>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2"/>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2"/>
                                        </p:tgtEl>
                                        <p:attrNameLst>
                                          <p:attrName>ppt_y</p:attrName>
                                        </p:attrNameLst>
                                      </p:cBhvr>
                                      <p:tavLst>
                                        <p:tav tm="0" fmla="#ppt_y-sin(pi*$)/81">
                                          <p:val>
                                            <p:fltVal val="0"/>
                                          </p:val>
                                        </p:tav>
                                        <p:tav tm="100000">
                                          <p:val>
                                            <p:fltVal val="1"/>
                                          </p:val>
                                        </p:tav>
                                      </p:tavLst>
                                    </p:anim>
                                    <p:animScale>
                                      <p:cBhvr>
                                        <p:cTn id="13" dur="26">
                                          <p:stCondLst>
                                            <p:cond delay="650"/>
                                          </p:stCondLst>
                                        </p:cTn>
                                        <p:tgtEl>
                                          <p:spTgt spid="2"/>
                                        </p:tgtEl>
                                      </p:cBhvr>
                                      <p:to x="100000" y="60000"/>
                                    </p:animScale>
                                    <p:animScale>
                                      <p:cBhvr>
                                        <p:cTn id="14" dur="166" decel="50000">
                                          <p:stCondLst>
                                            <p:cond delay="676"/>
                                          </p:stCondLst>
                                        </p:cTn>
                                        <p:tgtEl>
                                          <p:spTgt spid="2"/>
                                        </p:tgtEl>
                                      </p:cBhvr>
                                      <p:to x="100000" y="100000"/>
                                    </p:animScale>
                                    <p:animScale>
                                      <p:cBhvr>
                                        <p:cTn id="15" dur="26">
                                          <p:stCondLst>
                                            <p:cond delay="1312"/>
                                          </p:stCondLst>
                                        </p:cTn>
                                        <p:tgtEl>
                                          <p:spTgt spid="2"/>
                                        </p:tgtEl>
                                      </p:cBhvr>
                                      <p:to x="100000" y="80000"/>
                                    </p:animScale>
                                    <p:animScale>
                                      <p:cBhvr>
                                        <p:cTn id="16" dur="166" decel="50000">
                                          <p:stCondLst>
                                            <p:cond delay="1338"/>
                                          </p:stCondLst>
                                        </p:cTn>
                                        <p:tgtEl>
                                          <p:spTgt spid="2"/>
                                        </p:tgtEl>
                                      </p:cBhvr>
                                      <p:to x="100000" y="100000"/>
                                    </p:animScale>
                                    <p:animScale>
                                      <p:cBhvr>
                                        <p:cTn id="17" dur="26">
                                          <p:stCondLst>
                                            <p:cond delay="1642"/>
                                          </p:stCondLst>
                                        </p:cTn>
                                        <p:tgtEl>
                                          <p:spTgt spid="2"/>
                                        </p:tgtEl>
                                      </p:cBhvr>
                                      <p:to x="100000" y="90000"/>
                                    </p:animScale>
                                    <p:animScale>
                                      <p:cBhvr>
                                        <p:cTn id="18" dur="166" decel="50000">
                                          <p:stCondLst>
                                            <p:cond delay="1668"/>
                                          </p:stCondLst>
                                        </p:cTn>
                                        <p:tgtEl>
                                          <p:spTgt spid="2"/>
                                        </p:tgtEl>
                                      </p:cBhvr>
                                      <p:to x="100000" y="100000"/>
                                    </p:animScale>
                                    <p:animScale>
                                      <p:cBhvr>
                                        <p:cTn id="19" dur="26">
                                          <p:stCondLst>
                                            <p:cond delay="1808"/>
                                          </p:stCondLst>
                                        </p:cTn>
                                        <p:tgtEl>
                                          <p:spTgt spid="2"/>
                                        </p:tgtEl>
                                      </p:cBhvr>
                                      <p:to x="100000" y="95000"/>
                                    </p:animScale>
                                    <p:animScale>
                                      <p:cBhvr>
                                        <p:cTn id="20" dur="166" decel="50000">
                                          <p:stCondLst>
                                            <p:cond delay="1834"/>
                                          </p:stCondLst>
                                        </p:cTn>
                                        <p:tgtEl>
                                          <p:spTgt spid="2"/>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751235" y="0"/>
            <a:ext cx="10353761" cy="711200"/>
          </a:xfrm>
        </p:spPr>
        <p:txBody>
          <a:bodyPr>
            <a:noAutofit/>
          </a:bodyPr>
          <a:lstStyle/>
          <a:p>
            <a:r>
              <a:rPr lang="en-US" sz="4800" b="1" u="sng" dirty="0" smtClean="0">
                <a:latin typeface="Times New Roman" panose="02020603050405020304" pitchFamily="18" charset="0"/>
                <a:cs typeface="Times New Roman" panose="02020603050405020304" pitchFamily="18" charset="0"/>
              </a:rPr>
              <a:t>SOMMAIRE</a:t>
            </a:r>
            <a:r>
              <a:rPr lang="en-US" sz="4800" dirty="0" smtClean="0"/>
              <a:t> </a:t>
            </a:r>
            <a:endParaRPr lang="fr-FR" sz="4800" dirty="0"/>
          </a:p>
        </p:txBody>
      </p:sp>
      <p:sp>
        <p:nvSpPr>
          <p:cNvPr id="5" name="ZoneTexte 4"/>
          <p:cNvSpPr txBox="1"/>
          <p:nvPr/>
        </p:nvSpPr>
        <p:spPr>
          <a:xfrm>
            <a:off x="606416" y="1386840"/>
            <a:ext cx="10843904" cy="5539978"/>
          </a:xfrm>
          <a:prstGeom prst="rect">
            <a:avLst/>
          </a:prstGeom>
          <a:noFill/>
        </p:spPr>
        <p:txBody>
          <a:bodyPr wrap="square" rtlCol="0">
            <a:spAutoFit/>
          </a:bodyPr>
          <a:lstStyle/>
          <a:p>
            <a:pPr algn="just">
              <a:lnSpc>
                <a:spcPct val="150000"/>
              </a:lnSpc>
            </a:pPr>
            <a:r>
              <a:rPr lang="en-US" sz="2800" b="1" dirty="0" smtClean="0">
                <a:latin typeface="Times New Roman" panose="02020603050405020304" pitchFamily="18" charset="0"/>
                <a:cs typeface="Times New Roman" panose="02020603050405020304" pitchFamily="18" charset="0"/>
              </a:rPr>
              <a:t>INTRODUCTION</a:t>
            </a:r>
          </a:p>
          <a:p>
            <a:pPr algn="just">
              <a:lnSpc>
                <a:spcPct val="150000"/>
              </a:lnSpc>
            </a:pPr>
            <a:r>
              <a:rPr lang="en-US" sz="2800" b="1" dirty="0" smtClean="0">
                <a:latin typeface="Times New Roman" panose="02020603050405020304" pitchFamily="18" charset="0"/>
                <a:cs typeface="Times New Roman" panose="02020603050405020304" pitchFamily="18" charset="0"/>
              </a:rPr>
              <a:t>	I. CONTEXTE ET OBJECTIFS</a:t>
            </a:r>
          </a:p>
          <a:p>
            <a:pPr algn="just">
              <a:lnSpc>
                <a:spcPct val="150000"/>
              </a:lnSpc>
            </a:pPr>
            <a:r>
              <a:rPr lang="en-US" sz="2800" b="1" dirty="0" smtClean="0">
                <a:latin typeface="Times New Roman" panose="02020603050405020304" pitchFamily="18" charset="0"/>
                <a:cs typeface="Times New Roman" panose="02020603050405020304" pitchFamily="18" charset="0"/>
              </a:rPr>
              <a:t>	II. PERIMETRE FONCTIONNEL</a:t>
            </a:r>
          </a:p>
          <a:p>
            <a:pPr algn="just">
              <a:lnSpc>
                <a:spcPct val="150000"/>
              </a:lnSpc>
            </a:pPr>
            <a:r>
              <a:rPr lang="en-US" sz="2800" b="1" dirty="0">
                <a:latin typeface="Times New Roman" panose="02020603050405020304" pitchFamily="18" charset="0"/>
                <a:cs typeface="Times New Roman" panose="02020603050405020304" pitchFamily="18" charset="0"/>
              </a:rPr>
              <a:t>	</a:t>
            </a:r>
            <a:r>
              <a:rPr lang="en-US" sz="2800" b="1" dirty="0" smtClean="0">
                <a:latin typeface="Times New Roman" panose="02020603050405020304" pitchFamily="18" charset="0"/>
                <a:cs typeface="Times New Roman" panose="02020603050405020304" pitchFamily="18" charset="0"/>
              </a:rPr>
              <a:t>III. ACTEURS ET CAS D’UTILISATION</a:t>
            </a:r>
          </a:p>
          <a:p>
            <a:pPr algn="just">
              <a:lnSpc>
                <a:spcPct val="150000"/>
              </a:lnSpc>
            </a:pPr>
            <a:r>
              <a:rPr lang="en-US" sz="2800" b="1" dirty="0" smtClean="0">
                <a:latin typeface="Times New Roman" panose="02020603050405020304" pitchFamily="18" charset="0"/>
                <a:cs typeface="Times New Roman" panose="02020603050405020304" pitchFamily="18" charset="0"/>
              </a:rPr>
              <a:t>	IV. DESCRIPTIONS TEXTUELLES</a:t>
            </a:r>
          </a:p>
          <a:p>
            <a:pPr algn="just">
              <a:lnSpc>
                <a:spcPct val="150000"/>
              </a:lnSpc>
            </a:pPr>
            <a:r>
              <a:rPr lang="en-US" sz="2800" b="1" dirty="0" smtClean="0">
                <a:latin typeface="Times New Roman" panose="02020603050405020304" pitchFamily="18" charset="0"/>
                <a:cs typeface="Times New Roman" panose="02020603050405020304" pitchFamily="18" charset="0"/>
              </a:rPr>
              <a:t>	V. MODELISATON UML (USE CASE)</a:t>
            </a:r>
          </a:p>
          <a:p>
            <a:pPr algn="just">
              <a:lnSpc>
                <a:spcPct val="150000"/>
              </a:lnSpc>
            </a:pPr>
            <a:r>
              <a:rPr lang="en-US" sz="2800" b="1" dirty="0" smtClean="0">
                <a:latin typeface="Times New Roman" panose="02020603050405020304" pitchFamily="18" charset="0"/>
                <a:cs typeface="Times New Roman" panose="02020603050405020304" pitchFamily="18" charset="0"/>
              </a:rPr>
              <a:t>CONCLUSION</a:t>
            </a:r>
          </a:p>
          <a:p>
            <a:pPr algn="just">
              <a:lnSpc>
                <a:spcPct val="150000"/>
              </a:lnSpc>
            </a:pPr>
            <a:endParaRPr lang="en-US" sz="2000" b="1" dirty="0">
              <a:latin typeface="Times New Roman" panose="02020603050405020304" pitchFamily="18" charset="0"/>
              <a:cs typeface="Times New Roman" panose="02020603050405020304" pitchFamily="18" charset="0"/>
            </a:endParaRPr>
          </a:p>
          <a:p>
            <a:pPr algn="just">
              <a:lnSpc>
                <a:spcPct val="150000"/>
              </a:lnSpc>
            </a:pPr>
            <a:endParaRPr lang="en-US" sz="2000" b="1" dirty="0" smtClean="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21086741"/>
      </p:ext>
    </p:extLst>
  </p:cSld>
  <p:clrMapOvr>
    <a:masterClrMapping/>
  </p:clrMapOvr>
  <mc:AlternateContent xmlns:mc="http://schemas.openxmlformats.org/markup-compatibility/2006" xmlns:p14="http://schemas.microsoft.com/office/powerpoint/2010/main">
    <mc:Choice Requires="p14">
      <p:transition spd="slow" p14:dur="4000">
        <p14:vortex dir="r"/>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5">
                                            <p:txEl>
                                              <p:pRg st="1" end="1"/>
                                            </p:txEl>
                                          </p:spTgt>
                                        </p:tgtEl>
                                        <p:attrNameLst>
                                          <p:attrName>style.visibility</p:attrName>
                                        </p:attrNameLst>
                                      </p:cBhvr>
                                      <p:to>
                                        <p:strVal val="visible"/>
                                      </p:to>
                                    </p:set>
                                    <p:anim calcmode="lin" valueType="num">
                                      <p:cBhvr additive="base">
                                        <p:cTn id="13" dur="500" fill="hold"/>
                                        <p:tgtEl>
                                          <p:spTgt spid="5">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5">
                                            <p:txEl>
                                              <p:pRg st="2" end="2"/>
                                            </p:txEl>
                                          </p:spTgt>
                                        </p:tgtEl>
                                        <p:attrNameLst>
                                          <p:attrName>style.visibility</p:attrName>
                                        </p:attrNameLst>
                                      </p:cBhvr>
                                      <p:to>
                                        <p:strVal val="visible"/>
                                      </p:to>
                                    </p:set>
                                    <p:anim calcmode="lin" valueType="num">
                                      <p:cBhvr additive="base">
                                        <p:cTn id="19"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5">
                                            <p:txEl>
                                              <p:pRg st="3" end="3"/>
                                            </p:txEl>
                                          </p:spTgt>
                                        </p:tgtEl>
                                        <p:attrNameLst>
                                          <p:attrName>style.visibility</p:attrName>
                                        </p:attrNameLst>
                                      </p:cBhvr>
                                      <p:to>
                                        <p:strVal val="visible"/>
                                      </p:to>
                                    </p:set>
                                    <p:anim calcmode="lin" valueType="num">
                                      <p:cBhvr additive="base">
                                        <p:cTn id="25"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5">
                                            <p:txEl>
                                              <p:pRg st="4" end="4"/>
                                            </p:txEl>
                                          </p:spTgt>
                                        </p:tgtEl>
                                        <p:attrNameLst>
                                          <p:attrName>style.visibility</p:attrName>
                                        </p:attrNameLst>
                                      </p:cBhvr>
                                      <p:to>
                                        <p:strVal val="visible"/>
                                      </p:to>
                                    </p:set>
                                    <p:anim calcmode="lin" valueType="num">
                                      <p:cBhvr additive="base">
                                        <p:cTn id="31"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5">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5">
                                            <p:txEl>
                                              <p:pRg st="5" end="5"/>
                                            </p:txEl>
                                          </p:spTgt>
                                        </p:tgtEl>
                                        <p:attrNameLst>
                                          <p:attrName>style.visibility</p:attrName>
                                        </p:attrNameLst>
                                      </p:cBhvr>
                                      <p:to>
                                        <p:strVal val="visible"/>
                                      </p:to>
                                    </p:set>
                                    <p:anim calcmode="lin" valueType="num">
                                      <p:cBhvr additive="base">
                                        <p:cTn id="37"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5">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5">
                                            <p:txEl>
                                              <p:pRg st="6" end="6"/>
                                            </p:txEl>
                                          </p:spTgt>
                                        </p:tgtEl>
                                        <p:attrNameLst>
                                          <p:attrName>style.visibility</p:attrName>
                                        </p:attrNameLst>
                                      </p:cBhvr>
                                      <p:to>
                                        <p:strVal val="visible"/>
                                      </p:to>
                                    </p:set>
                                    <p:anim calcmode="lin" valueType="num">
                                      <p:cBhvr additive="base">
                                        <p:cTn id="43" dur="500" fill="hold"/>
                                        <p:tgtEl>
                                          <p:spTgt spid="5">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5">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ctrTitle"/>
          </p:nvPr>
        </p:nvSpPr>
        <p:spPr>
          <a:xfrm>
            <a:off x="1636712" y="127000"/>
            <a:ext cx="8689976" cy="472440"/>
          </a:xfrm>
        </p:spPr>
        <p:txBody>
          <a:bodyPr>
            <a:normAutofit fontScale="90000"/>
          </a:bodyPr>
          <a:lstStyle/>
          <a:p>
            <a:r>
              <a:rPr lang="en-US" sz="4400" b="1" dirty="0" smtClean="0">
                <a:latin typeface="Times New Roman" panose="02020603050405020304" pitchFamily="18" charset="0"/>
                <a:cs typeface="Times New Roman" panose="02020603050405020304" pitchFamily="18" charset="0"/>
              </a:rPr>
              <a:t>INTRODUCTION</a:t>
            </a:r>
            <a:endParaRPr lang="fr-FR" sz="4400" b="1" dirty="0">
              <a:latin typeface="Times New Roman" panose="02020603050405020304" pitchFamily="18" charset="0"/>
              <a:cs typeface="Times New Roman" panose="02020603050405020304" pitchFamily="18" charset="0"/>
            </a:endParaRPr>
          </a:p>
        </p:txBody>
      </p:sp>
      <p:sp>
        <p:nvSpPr>
          <p:cNvPr id="3" name="Rectangle 2"/>
          <p:cNvSpPr/>
          <p:nvPr/>
        </p:nvSpPr>
        <p:spPr>
          <a:xfrm>
            <a:off x="629920" y="889844"/>
            <a:ext cx="10810240" cy="3782061"/>
          </a:xfrm>
          <a:prstGeom prst="rect">
            <a:avLst/>
          </a:prstGeom>
        </p:spPr>
        <p:txBody>
          <a:bodyPr wrap="square">
            <a:spAutoFit/>
          </a:bodyPr>
          <a:lstStyle/>
          <a:p>
            <a:pPr algn="just">
              <a:lnSpc>
                <a:spcPct val="150000"/>
              </a:lnSpc>
            </a:pPr>
            <a:r>
              <a:rPr lang="fr-FR" dirty="0" smtClean="0">
                <a:latin typeface="Times New Roman" panose="02020603050405020304" pitchFamily="18" charset="0"/>
                <a:cs typeface="Times New Roman" panose="02020603050405020304" pitchFamily="18" charset="0"/>
              </a:rPr>
              <a:t>	Ce </a:t>
            </a:r>
            <a:r>
              <a:rPr lang="fr-FR" dirty="0">
                <a:latin typeface="Times New Roman" panose="02020603050405020304" pitchFamily="18" charset="0"/>
                <a:cs typeface="Times New Roman" panose="02020603050405020304" pitchFamily="18" charset="0"/>
              </a:rPr>
              <a:t>dossier d'analyse s'inscrit dans la continuité directe du cahier des charges dont il constitue la déclinaison technique et structurelle </a:t>
            </a:r>
            <a:r>
              <a:rPr lang="fr-FR" dirty="0" smtClean="0">
                <a:latin typeface="Times New Roman" panose="02020603050405020304" pitchFamily="18" charset="0"/>
                <a:cs typeface="Times New Roman" panose="02020603050405020304" pitchFamily="18" charset="0"/>
              </a:rPr>
              <a:t>pour notre projet. </a:t>
            </a:r>
            <a:r>
              <a:rPr lang="fr-FR" dirty="0">
                <a:latin typeface="Times New Roman" panose="02020603050405020304" pitchFamily="18" charset="0"/>
                <a:cs typeface="Times New Roman" panose="02020603050405020304" pitchFamily="18" charset="0"/>
              </a:rPr>
              <a:t>Alors que le document précédent identifiait les besoins en surveillance de performance pour l'environnement </a:t>
            </a:r>
            <a:r>
              <a:rPr lang="fr-FR" b="1" dirty="0">
                <a:latin typeface="Times New Roman" panose="02020603050405020304" pitchFamily="18" charset="0"/>
                <a:cs typeface="Times New Roman" panose="02020603050405020304" pitchFamily="18" charset="0"/>
              </a:rPr>
              <a:t>Linux </a:t>
            </a:r>
            <a:r>
              <a:rPr lang="fr-FR" b="1" dirty="0" err="1">
                <a:latin typeface="Times New Roman" panose="02020603050405020304" pitchFamily="18" charset="0"/>
                <a:cs typeface="Times New Roman" panose="02020603050405020304" pitchFamily="18" charset="0"/>
              </a:rPr>
              <a:t>openSUSE</a:t>
            </a:r>
            <a:r>
              <a:rPr lang="fr-FR" dirty="0">
                <a:latin typeface="Times New Roman" panose="02020603050405020304" pitchFamily="18" charset="0"/>
                <a:cs typeface="Times New Roman" panose="02020603050405020304" pitchFamily="18" charset="0"/>
              </a:rPr>
              <a:t>, le présent dossier a pour objectif de traduire ces exigences fonctionnelles en une architecture logicielle concrète. En s’appuyant sur une modélisation rigoureuse via le langage </a:t>
            </a:r>
            <a:r>
              <a:rPr lang="fr-FR" b="1" dirty="0">
                <a:latin typeface="Times New Roman" panose="02020603050405020304" pitchFamily="18" charset="0"/>
                <a:cs typeface="Times New Roman" panose="02020603050405020304" pitchFamily="18" charset="0"/>
              </a:rPr>
              <a:t>UML</a:t>
            </a:r>
            <a:r>
              <a:rPr lang="fr-FR" dirty="0">
                <a:latin typeface="Times New Roman" panose="02020603050405020304" pitchFamily="18" charset="0"/>
                <a:cs typeface="Times New Roman" panose="02020603050405020304" pitchFamily="18" charset="0"/>
              </a:rPr>
              <a:t>, nous détaillons ici la conception des mécanismes de capture en temps réel des métriques CPU, tout en respectant les contraintes de performance et de précision imposées par le cahier des charges. Cette phase d'analyse permet de figer la logique interne du moniteur </a:t>
            </a:r>
            <a:r>
              <a:rPr lang="fr-FR" dirty="0" smtClean="0">
                <a:latin typeface="Times New Roman" panose="02020603050405020304" pitchFamily="18" charset="0"/>
                <a:cs typeface="Times New Roman" panose="02020603050405020304" pitchFamily="18" charset="0"/>
              </a:rPr>
              <a:t>de </a:t>
            </a:r>
            <a:r>
              <a:rPr lang="fr-FR" dirty="0">
                <a:latin typeface="Times New Roman" panose="02020603050405020304" pitchFamily="18" charset="0"/>
                <a:cs typeface="Times New Roman" panose="02020603050405020304" pitchFamily="18" charset="0"/>
              </a:rPr>
              <a:t>l'extraction des données brutes depuis les interfaces du noyau Linux jusqu'à leur représentation visuelle </a:t>
            </a:r>
            <a:r>
              <a:rPr lang="fr-FR" dirty="0" smtClean="0">
                <a:latin typeface="Times New Roman" panose="02020603050405020304" pitchFamily="18" charset="0"/>
                <a:cs typeface="Times New Roman" panose="02020603050405020304" pitchFamily="18" charset="0"/>
              </a:rPr>
              <a:t>garantissant </a:t>
            </a:r>
            <a:r>
              <a:rPr lang="fr-FR" dirty="0">
                <a:latin typeface="Times New Roman" panose="02020603050405020304" pitchFamily="18" charset="0"/>
                <a:cs typeface="Times New Roman" panose="02020603050405020304" pitchFamily="18" charset="0"/>
              </a:rPr>
              <a:t>ainsi une mise en œuvre cohérente et optimisée pour les architectures multiprocesseurs.</a:t>
            </a:r>
            <a:endParaRPr lang="fr-CM"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9254725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80">
                                          <p:stCondLst>
                                            <p:cond delay="0"/>
                                          </p:stCondLst>
                                        </p:cTn>
                                        <p:tgtEl>
                                          <p:spTgt spid="2"/>
                                        </p:tgtEl>
                                      </p:cBhvr>
                                    </p:animEffect>
                                    <p:anim calcmode="lin" valueType="num">
                                      <p:cBhvr>
                                        <p:cTn id="8" dur="1822" tmFilter="0,0; 0.14,0.36; 0.43,0.73; 0.71,0.91; 1.0,1.0">
                                          <p:stCondLst>
                                            <p:cond delay="0"/>
                                          </p:stCondLst>
                                        </p:cTn>
                                        <p:tgtEl>
                                          <p:spTgt spid="2"/>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2"/>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2"/>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2"/>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2"/>
                                        </p:tgtEl>
                                        <p:attrNameLst>
                                          <p:attrName>ppt_y</p:attrName>
                                        </p:attrNameLst>
                                      </p:cBhvr>
                                      <p:tavLst>
                                        <p:tav tm="0" fmla="#ppt_y-sin(pi*$)/81">
                                          <p:val>
                                            <p:fltVal val="0"/>
                                          </p:val>
                                        </p:tav>
                                        <p:tav tm="100000">
                                          <p:val>
                                            <p:fltVal val="1"/>
                                          </p:val>
                                        </p:tav>
                                      </p:tavLst>
                                    </p:anim>
                                    <p:animScale>
                                      <p:cBhvr>
                                        <p:cTn id="13" dur="26">
                                          <p:stCondLst>
                                            <p:cond delay="650"/>
                                          </p:stCondLst>
                                        </p:cTn>
                                        <p:tgtEl>
                                          <p:spTgt spid="2"/>
                                        </p:tgtEl>
                                      </p:cBhvr>
                                      <p:to x="100000" y="60000"/>
                                    </p:animScale>
                                    <p:animScale>
                                      <p:cBhvr>
                                        <p:cTn id="14" dur="166" decel="50000">
                                          <p:stCondLst>
                                            <p:cond delay="676"/>
                                          </p:stCondLst>
                                        </p:cTn>
                                        <p:tgtEl>
                                          <p:spTgt spid="2"/>
                                        </p:tgtEl>
                                      </p:cBhvr>
                                      <p:to x="100000" y="100000"/>
                                    </p:animScale>
                                    <p:animScale>
                                      <p:cBhvr>
                                        <p:cTn id="15" dur="26">
                                          <p:stCondLst>
                                            <p:cond delay="1312"/>
                                          </p:stCondLst>
                                        </p:cTn>
                                        <p:tgtEl>
                                          <p:spTgt spid="2"/>
                                        </p:tgtEl>
                                      </p:cBhvr>
                                      <p:to x="100000" y="80000"/>
                                    </p:animScale>
                                    <p:animScale>
                                      <p:cBhvr>
                                        <p:cTn id="16" dur="166" decel="50000">
                                          <p:stCondLst>
                                            <p:cond delay="1338"/>
                                          </p:stCondLst>
                                        </p:cTn>
                                        <p:tgtEl>
                                          <p:spTgt spid="2"/>
                                        </p:tgtEl>
                                      </p:cBhvr>
                                      <p:to x="100000" y="100000"/>
                                    </p:animScale>
                                    <p:animScale>
                                      <p:cBhvr>
                                        <p:cTn id="17" dur="26">
                                          <p:stCondLst>
                                            <p:cond delay="1642"/>
                                          </p:stCondLst>
                                        </p:cTn>
                                        <p:tgtEl>
                                          <p:spTgt spid="2"/>
                                        </p:tgtEl>
                                      </p:cBhvr>
                                      <p:to x="100000" y="90000"/>
                                    </p:animScale>
                                    <p:animScale>
                                      <p:cBhvr>
                                        <p:cTn id="18" dur="166" decel="50000">
                                          <p:stCondLst>
                                            <p:cond delay="1668"/>
                                          </p:stCondLst>
                                        </p:cTn>
                                        <p:tgtEl>
                                          <p:spTgt spid="2"/>
                                        </p:tgtEl>
                                      </p:cBhvr>
                                      <p:to x="100000" y="100000"/>
                                    </p:animScale>
                                    <p:animScale>
                                      <p:cBhvr>
                                        <p:cTn id="19" dur="26">
                                          <p:stCondLst>
                                            <p:cond delay="1808"/>
                                          </p:stCondLst>
                                        </p:cTn>
                                        <p:tgtEl>
                                          <p:spTgt spid="2"/>
                                        </p:tgtEl>
                                      </p:cBhvr>
                                      <p:to x="100000" y="95000"/>
                                    </p:animScale>
                                    <p:animScale>
                                      <p:cBhvr>
                                        <p:cTn id="20" dur="166" decel="50000">
                                          <p:stCondLst>
                                            <p:cond delay="1834"/>
                                          </p:stCondLst>
                                        </p:cTn>
                                        <p:tgtEl>
                                          <p:spTgt spid="2"/>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ctrTitle"/>
          </p:nvPr>
        </p:nvSpPr>
        <p:spPr>
          <a:xfrm>
            <a:off x="1504632" y="0"/>
            <a:ext cx="8689976" cy="800100"/>
          </a:xfrm>
        </p:spPr>
        <p:txBody>
          <a:bodyPr>
            <a:normAutofit/>
          </a:bodyPr>
          <a:lstStyle/>
          <a:p>
            <a:r>
              <a:rPr lang="en-US" sz="4000" b="1" dirty="0" smtClean="0">
                <a:latin typeface="Times New Roman" panose="02020603050405020304" pitchFamily="18" charset="0"/>
                <a:cs typeface="Times New Roman" panose="02020603050405020304" pitchFamily="18" charset="0"/>
              </a:rPr>
              <a:t>I. </a:t>
            </a:r>
            <a:r>
              <a:rPr lang="en-US" sz="4000" b="1" dirty="0" err="1" smtClean="0">
                <a:latin typeface="Times New Roman" panose="02020603050405020304" pitchFamily="18" charset="0"/>
                <a:cs typeface="Times New Roman" panose="02020603050405020304" pitchFamily="18" charset="0"/>
              </a:rPr>
              <a:t>Contexte</a:t>
            </a:r>
            <a:r>
              <a:rPr lang="en-US" sz="4000" b="1" dirty="0" smtClean="0">
                <a:latin typeface="Times New Roman" panose="02020603050405020304" pitchFamily="18" charset="0"/>
                <a:cs typeface="Times New Roman" panose="02020603050405020304" pitchFamily="18" charset="0"/>
              </a:rPr>
              <a:t> ET OBJECTIFS</a:t>
            </a:r>
            <a:endParaRPr lang="fr-FR" sz="4000" b="1" dirty="0">
              <a:latin typeface="Times New Roman" panose="02020603050405020304" pitchFamily="18" charset="0"/>
              <a:cs typeface="Times New Roman" panose="02020603050405020304" pitchFamily="18" charset="0"/>
            </a:endParaRPr>
          </a:p>
        </p:txBody>
      </p:sp>
      <p:sp>
        <p:nvSpPr>
          <p:cNvPr id="3" name="ZoneTexte 2"/>
          <p:cNvSpPr txBox="1"/>
          <p:nvPr/>
        </p:nvSpPr>
        <p:spPr>
          <a:xfrm>
            <a:off x="969005" y="3173160"/>
            <a:ext cx="10597279" cy="579582"/>
          </a:xfrm>
          <a:prstGeom prst="rect">
            <a:avLst/>
          </a:prstGeom>
          <a:noFill/>
        </p:spPr>
        <p:txBody>
          <a:bodyPr wrap="square" rtlCol="0">
            <a:spAutoFit/>
          </a:bodyPr>
          <a:lstStyle/>
          <a:p>
            <a:pPr algn="just">
              <a:lnSpc>
                <a:spcPct val="150000"/>
              </a:lnSpc>
            </a:pPr>
            <a:r>
              <a:rPr lang="fr-FR" sz="2400" dirty="0" smtClean="0">
                <a:latin typeface="Times New Roman" panose="02020603050405020304" pitchFamily="18" charset="0"/>
                <a:cs typeface="Times New Roman" panose="02020603050405020304" pitchFamily="18" charset="0"/>
              </a:rPr>
              <a:t>	</a:t>
            </a:r>
            <a:endParaRPr lang="fr-FR" dirty="0"/>
          </a:p>
        </p:txBody>
      </p:sp>
      <p:sp>
        <p:nvSpPr>
          <p:cNvPr id="5" name="Rectangle 2"/>
          <p:cNvSpPr>
            <a:spLocks noChangeArrowheads="1"/>
          </p:cNvSpPr>
          <p:nvPr/>
        </p:nvSpPr>
        <p:spPr bwMode="auto">
          <a:xfrm>
            <a:off x="619760" y="2290290"/>
            <a:ext cx="10797853" cy="2345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gn="just" eaLnBrk="0" fontAlgn="base" hangingPunct="0">
              <a:lnSpc>
                <a:spcPct val="150000"/>
              </a:lnSpc>
              <a:spcBef>
                <a:spcPct val="0"/>
              </a:spcBef>
              <a:spcAft>
                <a:spcPct val="0"/>
              </a:spcAft>
            </a:pPr>
            <a:r>
              <a:rPr lang="en-US" altLang="en-US" sz="1600" dirty="0" smtClean="0">
                <a:latin typeface="Times New Roman" panose="02020603050405020304" pitchFamily="18" charset="0"/>
                <a:cs typeface="Times New Roman" panose="02020603050405020304" pitchFamily="18" charset="0"/>
              </a:rPr>
              <a:t>	</a:t>
            </a:r>
            <a:r>
              <a:rPr lang="fr-FR" sz="2000" dirty="0">
                <a:latin typeface="Times New Roman" panose="02020603050405020304" pitchFamily="18" charset="0"/>
                <a:cs typeface="Times New Roman" panose="02020603050405020304" pitchFamily="18" charset="0"/>
              </a:rPr>
              <a:t>Le projet </a:t>
            </a:r>
            <a:r>
              <a:rPr lang="fr-FR" sz="2000" b="1" dirty="0" err="1">
                <a:latin typeface="Times New Roman" panose="02020603050405020304" pitchFamily="18" charset="0"/>
                <a:cs typeface="Times New Roman" panose="02020603050405020304" pitchFamily="18" charset="0"/>
              </a:rPr>
              <a:t>Multicore</a:t>
            </a:r>
            <a:r>
              <a:rPr lang="fr-FR" sz="2000" b="1" dirty="0">
                <a:latin typeface="Times New Roman" panose="02020603050405020304" pitchFamily="18" charset="0"/>
                <a:cs typeface="Times New Roman" panose="02020603050405020304" pitchFamily="18" charset="0"/>
              </a:rPr>
              <a:t> Monitor</a:t>
            </a:r>
            <a:r>
              <a:rPr lang="fr-FR" sz="2000" dirty="0">
                <a:latin typeface="Times New Roman" panose="02020603050405020304" pitchFamily="18" charset="0"/>
                <a:cs typeface="Times New Roman" panose="02020603050405020304" pitchFamily="18" charset="0"/>
              </a:rPr>
              <a:t> émerge dans un contexte technologique où la virtualisation, le calcul intensif (HPC) et la conteneurisation sollicitent les processeurs de manière hétérogène. Sous </a:t>
            </a:r>
            <a:r>
              <a:rPr lang="fr-FR" sz="2000" b="1" dirty="0">
                <a:latin typeface="Times New Roman" panose="02020603050405020304" pitchFamily="18" charset="0"/>
                <a:cs typeface="Times New Roman" panose="02020603050405020304" pitchFamily="18" charset="0"/>
              </a:rPr>
              <a:t>Linux </a:t>
            </a:r>
            <a:r>
              <a:rPr lang="fr-FR" sz="2000" b="1" dirty="0" err="1">
                <a:latin typeface="Times New Roman" panose="02020603050405020304" pitchFamily="18" charset="0"/>
                <a:cs typeface="Times New Roman" panose="02020603050405020304" pitchFamily="18" charset="0"/>
              </a:rPr>
              <a:t>openSUSE</a:t>
            </a:r>
            <a:r>
              <a:rPr lang="fr-FR" sz="2000" dirty="0">
                <a:latin typeface="Times New Roman" panose="02020603050405020304" pitchFamily="18" charset="0"/>
                <a:cs typeface="Times New Roman" panose="02020603050405020304" pitchFamily="18" charset="0"/>
              </a:rPr>
              <a:t>, bien que des outils comme </a:t>
            </a:r>
            <a:r>
              <a:rPr lang="fr-FR" sz="2000" i="1" dirty="0">
                <a:latin typeface="Times New Roman" panose="02020603050405020304" pitchFamily="18" charset="0"/>
                <a:cs typeface="Times New Roman" panose="02020603050405020304" pitchFamily="18" charset="0"/>
              </a:rPr>
              <a:t>top</a:t>
            </a:r>
            <a:r>
              <a:rPr lang="fr-FR" sz="2000" dirty="0">
                <a:latin typeface="Times New Roman" panose="02020603050405020304" pitchFamily="18" charset="0"/>
                <a:cs typeface="Times New Roman" panose="02020603050405020304" pitchFamily="18" charset="0"/>
              </a:rPr>
              <a:t> ou </a:t>
            </a:r>
            <a:r>
              <a:rPr lang="fr-FR" sz="2000" i="1" dirty="0" err="1">
                <a:latin typeface="Times New Roman" panose="02020603050405020304" pitchFamily="18" charset="0"/>
                <a:cs typeface="Times New Roman" panose="02020603050405020304" pitchFamily="18" charset="0"/>
              </a:rPr>
              <a:t>htop</a:t>
            </a:r>
            <a:r>
              <a:rPr lang="fr-FR" sz="2000" dirty="0">
                <a:latin typeface="Times New Roman" panose="02020603050405020304" pitchFamily="18" charset="0"/>
                <a:cs typeface="Times New Roman" panose="02020603050405020304" pitchFamily="18" charset="0"/>
              </a:rPr>
              <a:t> existent, il devient nécessaire de concevoir une solution dédiée capable d'isoler finement le comportement de chaque cœur physique et logique pour optimiser le rendement système.</a:t>
            </a:r>
            <a:endParaRPr kumimoji="0" lang="en-US" altLang="en-US" sz="18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p:txBody>
      </p:sp>
      <p:sp>
        <p:nvSpPr>
          <p:cNvPr id="4" name="ZoneTexte 3"/>
          <p:cNvSpPr txBox="1"/>
          <p:nvPr/>
        </p:nvSpPr>
        <p:spPr>
          <a:xfrm>
            <a:off x="619760" y="1352085"/>
            <a:ext cx="3434080" cy="646331"/>
          </a:xfrm>
          <a:prstGeom prst="rect">
            <a:avLst/>
          </a:prstGeom>
          <a:noFill/>
        </p:spPr>
        <p:txBody>
          <a:bodyPr wrap="square" rtlCol="0">
            <a:spAutoFit/>
          </a:bodyPr>
          <a:lstStyle/>
          <a:p>
            <a:r>
              <a:rPr lang="fr-CM" sz="3600" b="1" dirty="0" smtClean="0">
                <a:latin typeface="Times New Roman" panose="02020603050405020304" pitchFamily="18" charset="0"/>
                <a:cs typeface="Times New Roman" panose="02020603050405020304" pitchFamily="18" charset="0"/>
              </a:rPr>
              <a:t>1. Contexte</a:t>
            </a:r>
            <a:endParaRPr lang="fr-CM" sz="36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38046696"/>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80">
                                          <p:stCondLst>
                                            <p:cond delay="0"/>
                                          </p:stCondLst>
                                        </p:cTn>
                                        <p:tgtEl>
                                          <p:spTgt spid="2"/>
                                        </p:tgtEl>
                                      </p:cBhvr>
                                    </p:animEffect>
                                    <p:anim calcmode="lin" valueType="num">
                                      <p:cBhvr>
                                        <p:cTn id="8" dur="1822" tmFilter="0,0; 0.14,0.36; 0.43,0.73; 0.71,0.91; 1.0,1.0">
                                          <p:stCondLst>
                                            <p:cond delay="0"/>
                                          </p:stCondLst>
                                        </p:cTn>
                                        <p:tgtEl>
                                          <p:spTgt spid="2"/>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2"/>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2"/>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2"/>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2"/>
                                        </p:tgtEl>
                                        <p:attrNameLst>
                                          <p:attrName>ppt_y</p:attrName>
                                        </p:attrNameLst>
                                      </p:cBhvr>
                                      <p:tavLst>
                                        <p:tav tm="0" fmla="#ppt_y-sin(pi*$)/81">
                                          <p:val>
                                            <p:fltVal val="0"/>
                                          </p:val>
                                        </p:tav>
                                        <p:tav tm="100000">
                                          <p:val>
                                            <p:fltVal val="1"/>
                                          </p:val>
                                        </p:tav>
                                      </p:tavLst>
                                    </p:anim>
                                    <p:animScale>
                                      <p:cBhvr>
                                        <p:cTn id="13" dur="26">
                                          <p:stCondLst>
                                            <p:cond delay="650"/>
                                          </p:stCondLst>
                                        </p:cTn>
                                        <p:tgtEl>
                                          <p:spTgt spid="2"/>
                                        </p:tgtEl>
                                      </p:cBhvr>
                                      <p:to x="100000" y="60000"/>
                                    </p:animScale>
                                    <p:animScale>
                                      <p:cBhvr>
                                        <p:cTn id="14" dur="166" decel="50000">
                                          <p:stCondLst>
                                            <p:cond delay="676"/>
                                          </p:stCondLst>
                                        </p:cTn>
                                        <p:tgtEl>
                                          <p:spTgt spid="2"/>
                                        </p:tgtEl>
                                      </p:cBhvr>
                                      <p:to x="100000" y="100000"/>
                                    </p:animScale>
                                    <p:animScale>
                                      <p:cBhvr>
                                        <p:cTn id="15" dur="26">
                                          <p:stCondLst>
                                            <p:cond delay="1312"/>
                                          </p:stCondLst>
                                        </p:cTn>
                                        <p:tgtEl>
                                          <p:spTgt spid="2"/>
                                        </p:tgtEl>
                                      </p:cBhvr>
                                      <p:to x="100000" y="80000"/>
                                    </p:animScale>
                                    <p:animScale>
                                      <p:cBhvr>
                                        <p:cTn id="16" dur="166" decel="50000">
                                          <p:stCondLst>
                                            <p:cond delay="1338"/>
                                          </p:stCondLst>
                                        </p:cTn>
                                        <p:tgtEl>
                                          <p:spTgt spid="2"/>
                                        </p:tgtEl>
                                      </p:cBhvr>
                                      <p:to x="100000" y="100000"/>
                                    </p:animScale>
                                    <p:animScale>
                                      <p:cBhvr>
                                        <p:cTn id="17" dur="26">
                                          <p:stCondLst>
                                            <p:cond delay="1642"/>
                                          </p:stCondLst>
                                        </p:cTn>
                                        <p:tgtEl>
                                          <p:spTgt spid="2"/>
                                        </p:tgtEl>
                                      </p:cBhvr>
                                      <p:to x="100000" y="90000"/>
                                    </p:animScale>
                                    <p:animScale>
                                      <p:cBhvr>
                                        <p:cTn id="18" dur="166" decel="50000">
                                          <p:stCondLst>
                                            <p:cond delay="1668"/>
                                          </p:stCondLst>
                                        </p:cTn>
                                        <p:tgtEl>
                                          <p:spTgt spid="2"/>
                                        </p:tgtEl>
                                      </p:cBhvr>
                                      <p:to x="100000" y="100000"/>
                                    </p:animScale>
                                    <p:animScale>
                                      <p:cBhvr>
                                        <p:cTn id="19" dur="26">
                                          <p:stCondLst>
                                            <p:cond delay="1808"/>
                                          </p:stCondLst>
                                        </p:cTn>
                                        <p:tgtEl>
                                          <p:spTgt spid="2"/>
                                        </p:tgtEl>
                                      </p:cBhvr>
                                      <p:to x="100000" y="95000"/>
                                    </p:animScale>
                                    <p:animScale>
                                      <p:cBhvr>
                                        <p:cTn id="20" dur="166" decel="50000">
                                          <p:stCondLst>
                                            <p:cond delay="1834"/>
                                          </p:stCondLst>
                                        </p:cTn>
                                        <p:tgtEl>
                                          <p:spTgt spid="2"/>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31" presetClass="entr" presetSubtype="0" fill="hold" nodeType="clickEffect">
                                  <p:stCondLst>
                                    <p:cond delay="0"/>
                                  </p:stCondLst>
                                  <p:childTnLst>
                                    <p:set>
                                      <p:cBhvr>
                                        <p:cTn id="24" dur="1" fill="hold">
                                          <p:stCondLst>
                                            <p:cond delay="0"/>
                                          </p:stCondLst>
                                        </p:cTn>
                                        <p:tgtEl>
                                          <p:spTgt spid="5">
                                            <p:txEl>
                                              <p:pRg st="0" end="0"/>
                                            </p:txEl>
                                          </p:spTgt>
                                        </p:tgtEl>
                                        <p:attrNameLst>
                                          <p:attrName>style.visibility</p:attrName>
                                        </p:attrNameLst>
                                      </p:cBhvr>
                                      <p:to>
                                        <p:strVal val="visible"/>
                                      </p:to>
                                    </p:set>
                                    <p:anim calcmode="lin" valueType="num">
                                      <p:cBhvr>
                                        <p:cTn id="25" dur="1000" fill="hold"/>
                                        <p:tgtEl>
                                          <p:spTgt spid="5">
                                            <p:txEl>
                                              <p:pRg st="0" end="0"/>
                                            </p:txEl>
                                          </p:spTgt>
                                        </p:tgtEl>
                                        <p:attrNameLst>
                                          <p:attrName>ppt_w</p:attrName>
                                        </p:attrNameLst>
                                      </p:cBhvr>
                                      <p:tavLst>
                                        <p:tav tm="0">
                                          <p:val>
                                            <p:fltVal val="0"/>
                                          </p:val>
                                        </p:tav>
                                        <p:tav tm="100000">
                                          <p:val>
                                            <p:strVal val="#ppt_w"/>
                                          </p:val>
                                        </p:tav>
                                      </p:tavLst>
                                    </p:anim>
                                    <p:anim calcmode="lin" valueType="num">
                                      <p:cBhvr>
                                        <p:cTn id="26" dur="1000" fill="hold"/>
                                        <p:tgtEl>
                                          <p:spTgt spid="5">
                                            <p:txEl>
                                              <p:pRg st="0" end="0"/>
                                            </p:txEl>
                                          </p:spTgt>
                                        </p:tgtEl>
                                        <p:attrNameLst>
                                          <p:attrName>ppt_h</p:attrName>
                                        </p:attrNameLst>
                                      </p:cBhvr>
                                      <p:tavLst>
                                        <p:tav tm="0">
                                          <p:val>
                                            <p:fltVal val="0"/>
                                          </p:val>
                                        </p:tav>
                                        <p:tav tm="100000">
                                          <p:val>
                                            <p:strVal val="#ppt_h"/>
                                          </p:val>
                                        </p:tav>
                                      </p:tavLst>
                                    </p:anim>
                                    <p:anim calcmode="lin" valueType="num">
                                      <p:cBhvr>
                                        <p:cTn id="27" dur="1000" fill="hold"/>
                                        <p:tgtEl>
                                          <p:spTgt spid="5">
                                            <p:txEl>
                                              <p:pRg st="0" end="0"/>
                                            </p:txEl>
                                          </p:spTgt>
                                        </p:tgtEl>
                                        <p:attrNameLst>
                                          <p:attrName>style.rotation</p:attrName>
                                        </p:attrNameLst>
                                      </p:cBhvr>
                                      <p:tavLst>
                                        <p:tav tm="0">
                                          <p:val>
                                            <p:fltVal val="90"/>
                                          </p:val>
                                        </p:tav>
                                        <p:tav tm="100000">
                                          <p:val>
                                            <p:fltVal val="0"/>
                                          </p:val>
                                        </p:tav>
                                      </p:tavLst>
                                    </p:anim>
                                    <p:animEffect transition="in" filter="fade">
                                      <p:cBhvr>
                                        <p:cTn id="28" dur="1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ZoneTexte 2"/>
          <p:cNvSpPr txBox="1"/>
          <p:nvPr/>
        </p:nvSpPr>
        <p:spPr>
          <a:xfrm>
            <a:off x="487680" y="295445"/>
            <a:ext cx="3434080" cy="646331"/>
          </a:xfrm>
          <a:prstGeom prst="rect">
            <a:avLst/>
          </a:prstGeom>
          <a:noFill/>
        </p:spPr>
        <p:txBody>
          <a:bodyPr wrap="square" rtlCol="0">
            <a:spAutoFit/>
          </a:bodyPr>
          <a:lstStyle/>
          <a:p>
            <a:r>
              <a:rPr lang="fr-CM" sz="3600" dirty="0">
                <a:latin typeface="Times New Roman" panose="02020603050405020304" pitchFamily="18" charset="0"/>
                <a:cs typeface="Times New Roman" panose="02020603050405020304" pitchFamily="18" charset="0"/>
              </a:rPr>
              <a:t>2</a:t>
            </a:r>
            <a:r>
              <a:rPr lang="fr-CM" sz="3600" dirty="0" smtClean="0">
                <a:latin typeface="Times New Roman" panose="02020603050405020304" pitchFamily="18" charset="0"/>
                <a:cs typeface="Times New Roman" panose="02020603050405020304" pitchFamily="18" charset="0"/>
              </a:rPr>
              <a:t>. Objectifs</a:t>
            </a:r>
            <a:endParaRPr lang="fr-CM" sz="3600" dirty="0">
              <a:latin typeface="Times New Roman" panose="02020603050405020304" pitchFamily="18" charset="0"/>
              <a:cs typeface="Times New Roman" panose="02020603050405020304" pitchFamily="18" charset="0"/>
            </a:endParaRPr>
          </a:p>
        </p:txBody>
      </p:sp>
      <p:sp>
        <p:nvSpPr>
          <p:cNvPr id="4" name="Rectangle 1"/>
          <p:cNvSpPr>
            <a:spLocks noChangeArrowheads="1"/>
          </p:cNvSpPr>
          <p:nvPr/>
        </p:nvSpPr>
        <p:spPr bwMode="auto">
          <a:xfrm>
            <a:off x="487680" y="1296894"/>
            <a:ext cx="11431051" cy="4653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Les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objectifs</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principaux</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de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ce</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dossier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sont</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p>
          <a:p>
            <a:pPr marL="0" marR="0" lvl="0" indent="0" algn="l" defTabSz="914400" rtl="0" eaLnBrk="0" fontAlgn="base" latinLnBrk="0" hangingPunct="0">
              <a:lnSpc>
                <a:spcPct val="150000"/>
              </a:lnSpc>
              <a:spcBef>
                <a:spcPct val="0"/>
              </a:spcBef>
              <a:spcAft>
                <a:spcPct val="0"/>
              </a:spcAft>
              <a:buClrTx/>
              <a:buSzTx/>
              <a:buFontTx/>
              <a:buNone/>
              <a:tabLst/>
            </a:pPr>
            <a:endPar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Précision</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temporelle</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Garantir</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que les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métriques</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collectées</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reflètent</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l'état</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réel</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du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processeur</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à des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intervalles</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de temps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extrêmement</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courts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proche</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du temps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réel</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strict).</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Granularité</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des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données</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Dépasser</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la simple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mesure</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de charge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globale</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pour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analyser</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les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fréquences</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par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cœur</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les cycles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d'attente</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(I/O wait) et la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répartition</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des interruptions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matérielles</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Interopérabilité</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système</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 Exploiter les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spécificités</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d'openSUSE</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notamment</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sa</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gestion</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avancée</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du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noyau</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tout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en</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restant</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compatible avec les standards du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noyau</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Linux (Kernel) pour assurer la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pérennité</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de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l'outil</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Maîtrise</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de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l'empreinte</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logicielle</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Concevoir</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un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moniteur</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dont</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l'exécution</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n'impacte</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pas les performances des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cœurs</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qu'il</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est</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censé</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surveiller</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en</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optimisant</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les </a:t>
            </a:r>
            <a:r>
              <a:rPr kumimoji="0" lang="en-US" altLang="en-US" sz="200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accès</a:t>
            </a:r>
            <a:r>
              <a:rPr kumimoji="0" lang="en-US" altLang="en-US" sz="20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aux systems</a:t>
            </a:r>
            <a:r>
              <a:rPr kumimoji="0" lang="en-US" altLang="en-US" sz="2000" i="0" u="none" strike="noStrike" cap="none" normalizeH="0" dirty="0" smtClean="0">
                <a:ln>
                  <a:noFill/>
                </a:ln>
                <a:solidFill>
                  <a:schemeClr val="tx1"/>
                </a:solidFill>
                <a:effectLst/>
                <a:latin typeface="Times New Roman" panose="02020603050405020304" pitchFamily="18" charset="0"/>
                <a:cs typeface="Times New Roman" panose="02020603050405020304" pitchFamily="18" charset="0"/>
              </a:rPr>
              <a:t> via EBPF</a:t>
            </a:r>
            <a:endParaRPr kumimoji="0" lang="en-US" altLang="en-US" sz="180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056501259"/>
      </p:ext>
    </p:extLst>
  </p:cSld>
  <p:clrMapOvr>
    <a:masterClrMapping/>
  </p:clrMapOvr>
  <mc:AlternateContent xmlns:mc="http://schemas.openxmlformats.org/markup-compatibility/2006" xmlns:p14="http://schemas.microsoft.com/office/powerpoint/2010/main">
    <mc:Choice Requires="p14">
      <p:transition spd="slow" p14:dur="4000">
        <p14:vortex dir="r"/>
      </p:transition>
    </mc:Choice>
    <mc:Fallback xmlns="">
      <p:transition spd="slow">
        <p:fade/>
      </p:transition>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680321" y="111761"/>
            <a:ext cx="10353761" cy="599439"/>
          </a:xfrm>
        </p:spPr>
        <p:txBody>
          <a:bodyPr/>
          <a:lstStyle/>
          <a:p>
            <a:r>
              <a:rPr lang="fr-FR" b="1" dirty="0" smtClean="0">
                <a:latin typeface="Times New Roman" panose="02020603050405020304" pitchFamily="18" charset="0"/>
                <a:cs typeface="Times New Roman" panose="02020603050405020304" pitchFamily="18" charset="0"/>
              </a:rPr>
              <a:t>II</a:t>
            </a:r>
            <a:r>
              <a:rPr lang="en-US" b="1" dirty="0" smtClean="0">
                <a:latin typeface="Times New Roman" panose="02020603050405020304" pitchFamily="18" charset="0"/>
                <a:cs typeface="Times New Roman" panose="02020603050405020304" pitchFamily="18" charset="0"/>
              </a:rPr>
              <a:t>. PERIMETRE FONCTIONNEL</a:t>
            </a:r>
            <a:endParaRPr lang="fr-FR" b="1" dirty="0">
              <a:latin typeface="Times New Roman" panose="02020603050405020304" pitchFamily="18" charset="0"/>
              <a:cs typeface="Times New Roman" panose="02020603050405020304" pitchFamily="18" charset="0"/>
            </a:endParaRPr>
          </a:p>
        </p:txBody>
      </p:sp>
      <p:sp>
        <p:nvSpPr>
          <p:cNvPr id="5" name="Rectangle 2"/>
          <p:cNvSpPr>
            <a:spLocks noChangeArrowheads="1"/>
          </p:cNvSpPr>
          <p:nvPr/>
        </p:nvSpPr>
        <p:spPr bwMode="auto">
          <a:xfrm>
            <a:off x="386080" y="1233909"/>
            <a:ext cx="4886960" cy="46166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00000"/>
              </a:lnSpc>
              <a:spcBef>
                <a:spcPct val="0"/>
              </a:spcBef>
              <a:spcAft>
                <a:spcPct val="0"/>
              </a:spcAft>
              <a:buClrTx/>
              <a:buSzTx/>
              <a:buFontTx/>
              <a:buAutoNum type="arabicPeriod"/>
              <a:tabLst/>
            </a:pPr>
            <a:r>
              <a:rPr kumimoji="0" lang="en-US" alt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Le Module de </a:t>
            </a:r>
            <a:r>
              <a:rPr kumimoji="0" lang="en-US" alt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Collecte</a:t>
            </a:r>
            <a:r>
              <a:rPr kumimoji="0" lang="en-US" alt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(Data Extractor):</a:t>
            </a:r>
          </a:p>
          <a:p>
            <a:pPr marR="0" lvl="0" algn="l" defTabSz="914400" rtl="0" eaLnBrk="0" fontAlgn="base" latinLnBrk="0" hangingPunct="0">
              <a:lnSpc>
                <a:spcPct val="100000"/>
              </a:lnSpc>
              <a:spcBef>
                <a:spcPct val="0"/>
              </a:spcBef>
              <a:spcAft>
                <a:spcPct val="0"/>
              </a:spcAft>
              <a:buClrTx/>
              <a:buSzTx/>
              <a:tabLst/>
            </a:pPr>
            <a:endParaRPr kumimoji="0" lang="en-US" alt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C'est</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le module "bas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niveau</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Son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rôle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est</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de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communiquer</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avec le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noyau</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Linux pour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récupérer</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les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informations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brutes.</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Sources : </a:t>
            </a:r>
            <a:r>
              <a:rPr kumimoji="0" lang="en-US" altLang="en-US"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Capture</a:t>
            </a:r>
            <a:r>
              <a:rPr kumimoji="0" lang="en-US" altLang="en-US" i="0" u="none" strike="noStrike" cap="none" normalizeH="0" dirty="0" smtClean="0">
                <a:ln>
                  <a:noFill/>
                </a:ln>
                <a:solidFill>
                  <a:schemeClr val="tx1"/>
                </a:solidFill>
                <a:effectLst/>
                <a:latin typeface="Times New Roman" panose="02020603050405020304" pitchFamily="18" charset="0"/>
                <a:cs typeface="Times New Roman" panose="02020603050405020304" pitchFamily="18" charset="0"/>
              </a:rPr>
              <a:t> des performance du CPU  via EBPF</a:t>
            </a:r>
            <a:endParaRPr kumimoji="0" lang="en-US" altLang="en-US"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Fonction</a:t>
            </a:r>
            <a:r>
              <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Il parse les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chaînes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de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caractères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brutes du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système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et les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convertit</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en</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données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numériques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exploitables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p:txBody>
      </p:sp>
      <p:sp>
        <p:nvSpPr>
          <p:cNvPr id="6" name="ZoneTexte 5"/>
          <p:cNvSpPr txBox="1"/>
          <p:nvPr/>
        </p:nvSpPr>
        <p:spPr>
          <a:xfrm>
            <a:off x="6969761" y="841494"/>
            <a:ext cx="4775200" cy="369332"/>
          </a:xfrm>
          <a:prstGeom prst="rect">
            <a:avLst/>
          </a:prstGeom>
          <a:noFill/>
        </p:spPr>
        <p:txBody>
          <a:bodyPr wrap="square" rtlCol="0">
            <a:spAutoFit/>
          </a:bodyPr>
          <a:lstStyle/>
          <a:p>
            <a:r>
              <a:rPr lang="fr-CM" dirty="0" smtClean="0"/>
              <a:t> </a:t>
            </a:r>
            <a:endParaRPr lang="fr-CM" dirty="0"/>
          </a:p>
        </p:txBody>
      </p:sp>
      <p:sp>
        <p:nvSpPr>
          <p:cNvPr id="8" name="Rectangle 4"/>
          <p:cNvSpPr>
            <a:spLocks noChangeArrowheads="1"/>
          </p:cNvSpPr>
          <p:nvPr/>
        </p:nvSpPr>
        <p:spPr bwMode="auto">
          <a:xfrm>
            <a:off x="6065521" y="1309578"/>
            <a:ext cx="5679440" cy="45704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2. Le Module de </a:t>
            </a:r>
            <a:r>
              <a:rPr kumimoji="0" lang="en-US" alt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Calcul</a:t>
            </a:r>
            <a:r>
              <a:rPr kumimoji="0" lang="en-US" alt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et </a:t>
            </a:r>
            <a:r>
              <a:rPr kumimoji="0" lang="en-US" alt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d'Analyse</a:t>
            </a:r>
            <a:r>
              <a:rPr kumimoji="0" lang="en-US" alt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(Logic Engine):</a:t>
            </a: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Les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données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lues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dans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proc</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/stat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sont</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des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compteurs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cumulatifs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Ce module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effectue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les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calculs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mathématiques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pour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obtenir</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des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pourcentages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Gestion</a:t>
            </a:r>
            <a:r>
              <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des </a:t>
            </a:r>
            <a:r>
              <a:rPr kumimoji="0" lang="en-US" altLang="en-US"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cœurs</a:t>
            </a:r>
            <a:r>
              <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Il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organise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les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données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dans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une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structure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d'objet</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(ex: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une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liste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d'objets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Core) pour que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chaque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cœur</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soit</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suivi</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individuellement</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Surveillance des </a:t>
            </a:r>
            <a:r>
              <a:rPr kumimoji="0" lang="en-US" altLang="en-US"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seuils</a:t>
            </a:r>
            <a:r>
              <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Il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vérifie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si</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une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valeur</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dépasse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les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limites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définies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(ex: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alerte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si</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Charge &gt; 90%).</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b="0" i="0" u="none" strike="noStrike" cap="none" normalizeH="0" baseline="0" dirty="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42916849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1"/>
          <p:cNvSpPr txBox="1">
            <a:spLocks/>
          </p:cNvSpPr>
          <p:nvPr/>
        </p:nvSpPr>
        <p:spPr>
          <a:xfrm>
            <a:off x="597191" y="137160"/>
            <a:ext cx="10353761" cy="599439"/>
          </a:xfrm>
          <a:prstGeom prst="rect">
            <a:avLst/>
          </a:prstGeom>
        </p:spPr>
        <p:txBody>
          <a:bodyPr vert="horz" lIns="91440" tIns="45720" rIns="91440" bIns="45720" rtlCol="0" anchor="ctr">
            <a:normAutofit/>
          </a:bodyPr>
          <a:lstStyle>
            <a:lvl1pPr algn="ctr" defTabSz="914400" rtl="0" eaLnBrk="1" latinLnBrk="0" hangingPunct="1">
              <a:lnSpc>
                <a:spcPct val="90000"/>
              </a:lnSpc>
              <a:spcBef>
                <a:spcPct val="0"/>
              </a:spcBef>
              <a:buNone/>
              <a:defRPr sz="3400" b="1" i="0" kern="1200" cap="all">
                <a:solidFill>
                  <a:schemeClr val="tx1"/>
                </a:solidFill>
                <a:effectLst>
                  <a:outerShdw blurRad="50800" dist="63500" dir="2700000" algn="tl" rotWithShape="0">
                    <a:srgbClr val="000000">
                      <a:alpha val="48000"/>
                    </a:srgbClr>
                  </a:outerShdw>
                </a:effectLst>
                <a:latin typeface="+mj-lt"/>
                <a:ea typeface="+mj-ea"/>
                <a:cs typeface="+mj-cs"/>
              </a:defRPr>
            </a:lvl1pPr>
          </a:lstStyle>
          <a:p>
            <a:r>
              <a:rPr lang="fr-FR" dirty="0" smtClean="0">
                <a:effectLst/>
                <a:latin typeface="Times New Roman" panose="02020603050405020304" pitchFamily="18" charset="0"/>
                <a:cs typeface="Times New Roman" panose="02020603050405020304" pitchFamily="18" charset="0"/>
              </a:rPr>
              <a:t>II</a:t>
            </a:r>
            <a:r>
              <a:rPr lang="en-US" dirty="0" smtClean="0">
                <a:effectLst/>
                <a:latin typeface="Times New Roman" panose="02020603050405020304" pitchFamily="18" charset="0"/>
                <a:cs typeface="Times New Roman" panose="02020603050405020304" pitchFamily="18" charset="0"/>
              </a:rPr>
              <a:t>. PERIMETRE FONCTIONNEL</a:t>
            </a:r>
            <a:endParaRPr lang="fr-FR" dirty="0">
              <a:effectLst/>
              <a:latin typeface="Times New Roman" panose="02020603050405020304" pitchFamily="18" charset="0"/>
              <a:cs typeface="Times New Roman" panose="02020603050405020304" pitchFamily="18" charset="0"/>
            </a:endParaRPr>
          </a:p>
        </p:txBody>
      </p:sp>
      <p:sp>
        <p:nvSpPr>
          <p:cNvPr id="6" name="Rectangle 1"/>
          <p:cNvSpPr>
            <a:spLocks noChangeArrowheads="1"/>
          </p:cNvSpPr>
          <p:nvPr/>
        </p:nvSpPr>
        <p:spPr bwMode="auto">
          <a:xfrm>
            <a:off x="426720" y="1297939"/>
            <a:ext cx="5567680" cy="3139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3. Le Module d 'Interface </a:t>
            </a:r>
            <a:r>
              <a:rPr kumimoji="0" lang="en-US" alt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Utilisateur</a:t>
            </a:r>
            <a:r>
              <a:rPr kumimoji="0" lang="en-US" alt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(UI/Dashboard):</a:t>
            </a:r>
          </a:p>
          <a:p>
            <a:pPr marL="0" marR="0" lvl="0" indent="0" algn="l" defTabSz="914400" rtl="0" eaLnBrk="0" fontAlgn="base" latinLnBrk="0" hangingPunct="0">
              <a:lnSpc>
                <a:spcPct val="150000"/>
              </a:lnSpc>
              <a:spcBef>
                <a:spcPct val="0"/>
              </a:spcBef>
              <a:spcAft>
                <a:spcPct val="0"/>
              </a:spcAft>
              <a:buClrTx/>
              <a:buSzTx/>
              <a:buFontTx/>
              <a:buNone/>
              <a:tabLst/>
            </a:pPr>
            <a:endParaRPr kumimoji="0" lang="en-US" alt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Mode </a:t>
            </a:r>
            <a:r>
              <a:rPr kumimoji="0" lang="en-US" alt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Graphique</a:t>
            </a:r>
            <a:r>
              <a:rPr kumimoji="0" lang="en-US" alt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(GUI) :</a:t>
            </a:r>
            <a:r>
              <a:rPr kumimoji="0" lang="en-US" alt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Utilisation</a:t>
            </a:r>
            <a:r>
              <a:rPr kumimoji="0" lang="en-US" alt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de </a:t>
            </a:r>
            <a:r>
              <a:rPr kumimoji="0" lang="en-US" alt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Qt</a:t>
            </a:r>
            <a:r>
              <a:rPr kumimoji="0" lang="en-US" alt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ou</a:t>
            </a:r>
            <a:r>
              <a:rPr kumimoji="0" lang="en-US" alt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GTK pour </a:t>
            </a:r>
            <a:r>
              <a:rPr kumimoji="0" lang="en-US" alt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afficher</a:t>
            </a:r>
            <a:r>
              <a:rPr kumimoji="0" lang="en-US" alt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des </a:t>
            </a:r>
            <a:r>
              <a:rPr kumimoji="0" lang="en-US" alt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courbes</a:t>
            </a:r>
            <a:r>
              <a:rPr kumimoji="0" lang="en-US" alt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et des </a:t>
            </a:r>
            <a:r>
              <a:rPr kumimoji="0" lang="en-US" alt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jauges</a:t>
            </a:r>
            <a:r>
              <a:rPr kumimoji="0" lang="en-US" alt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colorées</a:t>
            </a:r>
            <a:r>
              <a:rPr kumimoji="0" lang="en-US" alt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smtClean="0">
              <a:ln>
                <a:noFill/>
              </a:ln>
              <a:solidFill>
                <a:schemeClr val="tx1"/>
              </a:solidFill>
              <a:effectLst/>
              <a:latin typeface="Arial" panose="020B0604020202020204" pitchFamily="34" charset="0"/>
            </a:endParaRPr>
          </a:p>
        </p:txBody>
      </p:sp>
      <p:sp>
        <p:nvSpPr>
          <p:cNvPr id="7" name="Rectangle 2"/>
          <p:cNvSpPr>
            <a:spLocks noChangeArrowheads="1"/>
          </p:cNvSpPr>
          <p:nvPr/>
        </p:nvSpPr>
        <p:spPr bwMode="auto">
          <a:xfrm>
            <a:off x="6167120" y="1297939"/>
            <a:ext cx="6024880" cy="51706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4. Le Module de </a:t>
            </a:r>
            <a:r>
              <a:rPr kumimoji="0" lang="en-US" alt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Journalisation</a:t>
            </a:r>
            <a:r>
              <a:rPr kumimoji="0" lang="en-US" alt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et Configuration (System Manager):</a:t>
            </a:r>
          </a:p>
          <a:p>
            <a:pPr marL="0" marR="0" lvl="0" indent="0" algn="l" defTabSz="914400" rtl="0" eaLnBrk="0" fontAlgn="base" latinLnBrk="0" hangingPunct="0">
              <a:lnSpc>
                <a:spcPct val="150000"/>
              </a:lnSpc>
              <a:spcBef>
                <a:spcPct val="0"/>
              </a:spcBef>
              <a:spcAft>
                <a:spcPct val="0"/>
              </a:spcAft>
              <a:buClrTx/>
              <a:buSzTx/>
              <a:buFontTx/>
              <a:buNone/>
              <a:tabLst/>
            </a:pPr>
            <a:endParaRPr kumimoji="0" lang="en-US" alt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Ce module </a:t>
            </a:r>
            <a:r>
              <a:rPr kumimoji="0" lang="en-US" alt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gère</a:t>
            </a:r>
            <a:r>
              <a:rPr kumimoji="0" lang="en-US" alt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la </a:t>
            </a:r>
            <a:r>
              <a:rPr kumimoji="0" lang="en-US" alt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persistance</a:t>
            </a:r>
            <a:r>
              <a:rPr kumimoji="0" lang="en-US" alt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et les </a:t>
            </a:r>
            <a:r>
              <a:rPr kumimoji="0" lang="en-US" alt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réglages</a:t>
            </a:r>
            <a:r>
              <a:rPr kumimoji="0" lang="en-US" alt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de </a:t>
            </a:r>
            <a:r>
              <a:rPr kumimoji="0" lang="en-US" alt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l'application</a:t>
            </a:r>
            <a:r>
              <a:rPr kumimoji="0" lang="en-US" alt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Configuration :</a:t>
            </a:r>
            <a:r>
              <a:rPr kumimoji="0" lang="en-US" alt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Lecture d'un </a:t>
            </a:r>
            <a:r>
              <a:rPr kumimoji="0" lang="en-US" alt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fichier</a:t>
            </a:r>
            <a:r>
              <a:rPr kumimoji="0" lang="en-US" alt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(ex: </a:t>
            </a:r>
            <a:r>
              <a:rPr kumimoji="0" lang="en-US" alt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config.conf</a:t>
            </a:r>
            <a:r>
              <a:rPr kumimoji="0" lang="en-US" alt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pour </a:t>
            </a:r>
            <a:r>
              <a:rPr kumimoji="0" lang="en-US" alt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définir</a:t>
            </a:r>
            <a:r>
              <a:rPr kumimoji="0" lang="en-US" alt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l'intervalle</a:t>
            </a:r>
            <a:r>
              <a:rPr kumimoji="0" lang="en-US" alt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de </a:t>
            </a:r>
            <a:r>
              <a:rPr kumimoji="0" lang="en-US" alt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rafraîchissement</a:t>
            </a:r>
            <a:r>
              <a:rPr kumimoji="0" lang="en-US" alt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(ex: 500ms).</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Logging :</a:t>
            </a:r>
            <a:r>
              <a:rPr kumimoji="0" lang="en-US" alt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Enregistrement</a:t>
            </a:r>
            <a:r>
              <a:rPr kumimoji="0" lang="en-US" alt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des anomalies </a:t>
            </a:r>
            <a:r>
              <a:rPr kumimoji="0" lang="en-US" alt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ou</a:t>
            </a:r>
            <a:r>
              <a:rPr kumimoji="0" lang="en-US" alt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des </a:t>
            </a:r>
            <a:r>
              <a:rPr kumimoji="0" lang="en-US" alt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historiques</a:t>
            </a:r>
            <a:r>
              <a:rPr kumimoji="0" lang="en-US" alt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de performance </a:t>
            </a:r>
            <a:r>
              <a:rPr kumimoji="0" lang="en-US" alt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dans</a:t>
            </a:r>
            <a:r>
              <a:rPr kumimoji="0" lang="en-US" alt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var</a:t>
            </a:r>
            <a:r>
              <a:rPr kumimoji="0" lang="en-US" alt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/log/multicore_monitor.log.</a:t>
            </a:r>
          </a:p>
          <a:p>
            <a:pPr marL="0" marR="0" lvl="0" indent="0" algn="l" defTabSz="914400" rtl="0" eaLnBrk="0" fontAlgn="base" latinLnBrk="0" hangingPunct="0">
              <a:lnSpc>
                <a:spcPct val="150000"/>
              </a:lnSpc>
              <a:spcBef>
                <a:spcPct val="0"/>
              </a:spcBef>
              <a:spcAft>
                <a:spcPct val="0"/>
              </a:spcAft>
              <a:buClrTx/>
              <a:buSzTx/>
              <a:buFontTx/>
              <a:buNone/>
              <a:tabLst/>
            </a:pPr>
            <a:endParaRPr kumimoji="0" lang="en-US" alt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7961562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ctrTitle"/>
          </p:nvPr>
        </p:nvSpPr>
        <p:spPr>
          <a:xfrm>
            <a:off x="619760" y="2433320"/>
            <a:ext cx="10570528" cy="800100"/>
          </a:xfrm>
        </p:spPr>
        <p:txBody>
          <a:bodyPr>
            <a:normAutofit fontScale="90000"/>
          </a:bodyPr>
          <a:lstStyle/>
          <a:p>
            <a:pPr>
              <a:lnSpc>
                <a:spcPct val="150000"/>
              </a:lnSpc>
            </a:pPr>
            <a:r>
              <a:rPr lang="en-US" b="1" dirty="0" smtClean="0">
                <a:latin typeface="Times New Roman" panose="02020603050405020304" pitchFamily="18" charset="0"/>
                <a:cs typeface="Times New Roman" panose="02020603050405020304" pitchFamily="18" charset="0"/>
              </a:rPr>
              <a:t>III. ACTEURS ET CAS D’UTILISATION</a:t>
            </a:r>
            <a:endParaRPr lang="fr-FR"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56391933"/>
      </p:ext>
    </p:extLst>
  </p:cSld>
  <p:clrMapOvr>
    <a:masterClrMapping/>
  </p:clrMapOvr>
  <mc:AlternateContent xmlns:mc="http://schemas.openxmlformats.org/markup-compatibility/2006" xmlns:p14="http://schemas.microsoft.com/office/powerpoint/2010/main">
    <mc:Choice Requires="p14">
      <p:transition spd="slow" p14:dur="3900">
        <p14:glitter pattern="hexagon"/>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80">
                                          <p:stCondLst>
                                            <p:cond delay="0"/>
                                          </p:stCondLst>
                                        </p:cTn>
                                        <p:tgtEl>
                                          <p:spTgt spid="2"/>
                                        </p:tgtEl>
                                      </p:cBhvr>
                                    </p:animEffect>
                                    <p:anim calcmode="lin" valueType="num">
                                      <p:cBhvr>
                                        <p:cTn id="8" dur="1822" tmFilter="0,0; 0.14,0.36; 0.43,0.73; 0.71,0.91; 1.0,1.0">
                                          <p:stCondLst>
                                            <p:cond delay="0"/>
                                          </p:stCondLst>
                                        </p:cTn>
                                        <p:tgtEl>
                                          <p:spTgt spid="2"/>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2"/>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2"/>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2"/>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2"/>
                                        </p:tgtEl>
                                        <p:attrNameLst>
                                          <p:attrName>ppt_y</p:attrName>
                                        </p:attrNameLst>
                                      </p:cBhvr>
                                      <p:tavLst>
                                        <p:tav tm="0" fmla="#ppt_y-sin(pi*$)/81">
                                          <p:val>
                                            <p:fltVal val="0"/>
                                          </p:val>
                                        </p:tav>
                                        <p:tav tm="100000">
                                          <p:val>
                                            <p:fltVal val="1"/>
                                          </p:val>
                                        </p:tav>
                                      </p:tavLst>
                                    </p:anim>
                                    <p:animScale>
                                      <p:cBhvr>
                                        <p:cTn id="13" dur="26">
                                          <p:stCondLst>
                                            <p:cond delay="650"/>
                                          </p:stCondLst>
                                        </p:cTn>
                                        <p:tgtEl>
                                          <p:spTgt spid="2"/>
                                        </p:tgtEl>
                                      </p:cBhvr>
                                      <p:to x="100000" y="60000"/>
                                    </p:animScale>
                                    <p:animScale>
                                      <p:cBhvr>
                                        <p:cTn id="14" dur="166" decel="50000">
                                          <p:stCondLst>
                                            <p:cond delay="676"/>
                                          </p:stCondLst>
                                        </p:cTn>
                                        <p:tgtEl>
                                          <p:spTgt spid="2"/>
                                        </p:tgtEl>
                                      </p:cBhvr>
                                      <p:to x="100000" y="100000"/>
                                    </p:animScale>
                                    <p:animScale>
                                      <p:cBhvr>
                                        <p:cTn id="15" dur="26">
                                          <p:stCondLst>
                                            <p:cond delay="1312"/>
                                          </p:stCondLst>
                                        </p:cTn>
                                        <p:tgtEl>
                                          <p:spTgt spid="2"/>
                                        </p:tgtEl>
                                      </p:cBhvr>
                                      <p:to x="100000" y="80000"/>
                                    </p:animScale>
                                    <p:animScale>
                                      <p:cBhvr>
                                        <p:cTn id="16" dur="166" decel="50000">
                                          <p:stCondLst>
                                            <p:cond delay="1338"/>
                                          </p:stCondLst>
                                        </p:cTn>
                                        <p:tgtEl>
                                          <p:spTgt spid="2"/>
                                        </p:tgtEl>
                                      </p:cBhvr>
                                      <p:to x="100000" y="100000"/>
                                    </p:animScale>
                                    <p:animScale>
                                      <p:cBhvr>
                                        <p:cTn id="17" dur="26">
                                          <p:stCondLst>
                                            <p:cond delay="1642"/>
                                          </p:stCondLst>
                                        </p:cTn>
                                        <p:tgtEl>
                                          <p:spTgt spid="2"/>
                                        </p:tgtEl>
                                      </p:cBhvr>
                                      <p:to x="100000" y="90000"/>
                                    </p:animScale>
                                    <p:animScale>
                                      <p:cBhvr>
                                        <p:cTn id="18" dur="166" decel="50000">
                                          <p:stCondLst>
                                            <p:cond delay="1668"/>
                                          </p:stCondLst>
                                        </p:cTn>
                                        <p:tgtEl>
                                          <p:spTgt spid="2"/>
                                        </p:tgtEl>
                                      </p:cBhvr>
                                      <p:to x="100000" y="100000"/>
                                    </p:animScale>
                                    <p:animScale>
                                      <p:cBhvr>
                                        <p:cTn id="19" dur="26">
                                          <p:stCondLst>
                                            <p:cond delay="1808"/>
                                          </p:stCondLst>
                                        </p:cTn>
                                        <p:tgtEl>
                                          <p:spTgt spid="2"/>
                                        </p:tgtEl>
                                      </p:cBhvr>
                                      <p:to x="100000" y="95000"/>
                                    </p:animScale>
                                    <p:animScale>
                                      <p:cBhvr>
                                        <p:cTn id="20" dur="166" decel="50000">
                                          <p:stCondLst>
                                            <p:cond delay="1834"/>
                                          </p:stCondLst>
                                        </p:cTn>
                                        <p:tgtEl>
                                          <p:spTgt spid="2"/>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re 1"/>
          <p:cNvSpPr txBox="1">
            <a:spLocks/>
          </p:cNvSpPr>
          <p:nvPr/>
        </p:nvSpPr>
        <p:spPr>
          <a:xfrm>
            <a:off x="1117600" y="-82712"/>
            <a:ext cx="10052368" cy="800100"/>
          </a:xfrm>
          <a:prstGeom prst="rect">
            <a:avLst/>
          </a:prstGeom>
        </p:spPr>
        <p:txBody>
          <a:bodyPr vert="horz" lIns="91440" tIns="45720" rIns="91440" bIns="45720" rtlCol="0" anchor="ctr">
            <a:normAutofit fontScale="97500" lnSpcReduction="10000"/>
          </a:bodyPr>
          <a:lstStyle>
            <a:lvl1pPr algn="ctr" defTabSz="914400" rtl="0" eaLnBrk="1" latinLnBrk="0" hangingPunct="1">
              <a:lnSpc>
                <a:spcPct val="90000"/>
              </a:lnSpc>
              <a:spcBef>
                <a:spcPct val="0"/>
              </a:spcBef>
              <a:buNone/>
              <a:defRPr sz="3400" b="1" i="0" kern="1200" cap="all">
                <a:solidFill>
                  <a:schemeClr val="tx1"/>
                </a:solidFill>
                <a:effectLst>
                  <a:outerShdw blurRad="50800" dist="63500" dir="2700000" algn="tl" rotWithShape="0">
                    <a:srgbClr val="000000">
                      <a:alpha val="48000"/>
                    </a:srgbClr>
                  </a:outerShdw>
                </a:effectLst>
                <a:latin typeface="+mj-lt"/>
                <a:ea typeface="+mj-ea"/>
                <a:cs typeface="+mj-cs"/>
              </a:defRPr>
            </a:lvl1pPr>
          </a:lstStyle>
          <a:p>
            <a:pPr>
              <a:lnSpc>
                <a:spcPct val="150000"/>
              </a:lnSpc>
            </a:pPr>
            <a:r>
              <a:rPr lang="en-US" dirty="0" smtClean="0">
                <a:effectLst/>
                <a:latin typeface="Times New Roman" panose="02020603050405020304" pitchFamily="18" charset="0"/>
                <a:cs typeface="Times New Roman" panose="02020603050405020304" pitchFamily="18" charset="0"/>
              </a:rPr>
              <a:t>III. ACTEURS ET CAS D’UTILISATION</a:t>
            </a:r>
            <a:endParaRPr lang="fr-FR" dirty="0">
              <a:effectLst/>
              <a:latin typeface="Times New Roman" panose="02020603050405020304" pitchFamily="18" charset="0"/>
              <a:cs typeface="Times New Roman" panose="02020603050405020304" pitchFamily="18" charset="0"/>
            </a:endParaRPr>
          </a:p>
        </p:txBody>
      </p:sp>
      <p:sp>
        <p:nvSpPr>
          <p:cNvPr id="10" name="ZoneTexte 9"/>
          <p:cNvSpPr txBox="1"/>
          <p:nvPr/>
        </p:nvSpPr>
        <p:spPr>
          <a:xfrm>
            <a:off x="201108" y="717388"/>
            <a:ext cx="5651976" cy="4247317"/>
          </a:xfrm>
          <a:prstGeom prst="rect">
            <a:avLst/>
          </a:prstGeom>
          <a:noFill/>
        </p:spPr>
        <p:txBody>
          <a:bodyPr wrap="square" rtlCol="0">
            <a:spAutoFit/>
          </a:bodyPr>
          <a:lstStyle/>
          <a:p>
            <a:pPr marL="342900" indent="-342900">
              <a:buFont typeface="+mj-lt"/>
              <a:buAutoNum type="arabicPeriod"/>
            </a:pPr>
            <a:r>
              <a:rPr lang="fr-CM" b="1" dirty="0" smtClean="0">
                <a:latin typeface="Times New Roman" panose="02020603050405020304" pitchFamily="18" charset="0"/>
                <a:cs typeface="Times New Roman" panose="02020603050405020304" pitchFamily="18" charset="0"/>
              </a:rPr>
              <a:t>Administrateur du système (acteur principal):</a:t>
            </a:r>
          </a:p>
          <a:p>
            <a:endParaRPr lang="fr-CM" dirty="0" smtClean="0"/>
          </a:p>
          <a:p>
            <a:pPr lvl="0" eaLnBrk="0" fontAlgn="base" hangingPunct="0">
              <a:lnSpc>
                <a:spcPct val="150000"/>
              </a:lnSpc>
              <a:spcBef>
                <a:spcPct val="0"/>
              </a:spcBef>
              <a:spcAft>
                <a:spcPct val="0"/>
              </a:spcAft>
              <a:buFontTx/>
              <a:buChar char="•"/>
            </a:pPr>
            <a:r>
              <a:rPr lang="fr-CM" altLang="en-US" dirty="0" smtClean="0"/>
              <a:t> </a:t>
            </a:r>
            <a:r>
              <a:rPr lang="en-US" altLang="en-US" b="1" dirty="0" err="1" smtClean="0">
                <a:latin typeface="Times New Roman" panose="02020603050405020304" pitchFamily="18" charset="0"/>
                <a:cs typeface="Times New Roman" panose="02020603050405020304" pitchFamily="18" charset="0"/>
              </a:rPr>
              <a:t>Visualiser</a:t>
            </a:r>
            <a:r>
              <a:rPr lang="en-US" altLang="en-US" b="1" dirty="0" smtClean="0">
                <a:latin typeface="Times New Roman" panose="02020603050405020304" pitchFamily="18" charset="0"/>
                <a:cs typeface="Times New Roman" panose="02020603050405020304" pitchFamily="18" charset="0"/>
              </a:rPr>
              <a:t> </a:t>
            </a:r>
            <a:r>
              <a:rPr lang="en-US" altLang="en-US" b="1" dirty="0">
                <a:latin typeface="Times New Roman" panose="02020603050405020304" pitchFamily="18" charset="0"/>
                <a:cs typeface="Times New Roman" panose="02020603050405020304" pitchFamily="18" charset="0"/>
              </a:rPr>
              <a:t>les performances</a:t>
            </a:r>
            <a:r>
              <a:rPr lang="en-US" altLang="en-US" dirty="0">
                <a:latin typeface="Times New Roman" panose="02020603050405020304" pitchFamily="18" charset="0"/>
                <a:cs typeface="Times New Roman" panose="02020603050405020304" pitchFamily="18" charset="0"/>
              </a:rPr>
              <a:t> (Charge, </a:t>
            </a:r>
            <a:r>
              <a:rPr lang="en-US" altLang="en-US" dirty="0" err="1">
                <a:latin typeface="Times New Roman" panose="02020603050405020304" pitchFamily="18" charset="0"/>
                <a:cs typeface="Times New Roman" panose="02020603050405020304" pitchFamily="18" charset="0"/>
              </a:rPr>
              <a:t>Fréquence</a:t>
            </a:r>
            <a:r>
              <a:rPr lang="en-US" altLang="en-US" dirty="0">
                <a:latin typeface="Times New Roman" panose="02020603050405020304" pitchFamily="18" charset="0"/>
                <a:cs typeface="Times New Roman" panose="02020603050405020304" pitchFamily="18" charset="0"/>
              </a:rPr>
              <a:t>, </a:t>
            </a:r>
            <a:r>
              <a:rPr lang="en-US" altLang="en-US" dirty="0" err="1">
                <a:latin typeface="Times New Roman" panose="02020603050405020304" pitchFamily="18" charset="0"/>
                <a:cs typeface="Times New Roman" panose="02020603050405020304" pitchFamily="18" charset="0"/>
              </a:rPr>
              <a:t>Température</a:t>
            </a:r>
            <a:r>
              <a:rPr lang="en-US" altLang="en-US" dirty="0">
                <a:latin typeface="Times New Roman" panose="02020603050405020304" pitchFamily="18" charset="0"/>
                <a:cs typeface="Times New Roman" panose="02020603050405020304" pitchFamily="18" charset="0"/>
              </a:rPr>
              <a:t>).</a:t>
            </a:r>
          </a:p>
          <a:p>
            <a:pPr lvl="0" eaLnBrk="0" fontAlgn="base" hangingPunct="0">
              <a:lnSpc>
                <a:spcPct val="150000"/>
              </a:lnSpc>
              <a:spcBef>
                <a:spcPct val="0"/>
              </a:spcBef>
              <a:spcAft>
                <a:spcPct val="0"/>
              </a:spcAft>
              <a:buFontTx/>
              <a:buChar char="•"/>
            </a:pPr>
            <a:r>
              <a:rPr lang="en-US" altLang="en-US" b="1" dirty="0" smtClean="0">
                <a:latin typeface="Times New Roman" panose="02020603050405020304" pitchFamily="18" charset="0"/>
                <a:cs typeface="Times New Roman" panose="02020603050405020304" pitchFamily="18" charset="0"/>
              </a:rPr>
              <a:t> </a:t>
            </a:r>
            <a:r>
              <a:rPr lang="en-US" altLang="en-US" b="1" dirty="0" err="1" smtClean="0">
                <a:latin typeface="Times New Roman" panose="02020603050405020304" pitchFamily="18" charset="0"/>
                <a:cs typeface="Times New Roman" panose="02020603050405020304" pitchFamily="18" charset="0"/>
              </a:rPr>
              <a:t>Paramétrer</a:t>
            </a:r>
            <a:r>
              <a:rPr lang="en-US" altLang="en-US" b="1" dirty="0" smtClean="0">
                <a:latin typeface="Times New Roman" panose="02020603050405020304" pitchFamily="18" charset="0"/>
                <a:cs typeface="Times New Roman" panose="02020603050405020304" pitchFamily="18" charset="0"/>
              </a:rPr>
              <a:t> </a:t>
            </a:r>
            <a:r>
              <a:rPr lang="en-US" altLang="en-US" b="1" dirty="0">
                <a:latin typeface="Times New Roman" panose="02020603050405020304" pitchFamily="18" charset="0"/>
                <a:cs typeface="Times New Roman" panose="02020603050405020304" pitchFamily="18" charset="0"/>
              </a:rPr>
              <a:t>le </a:t>
            </a:r>
            <a:r>
              <a:rPr lang="en-US" altLang="en-US" b="1" dirty="0" err="1">
                <a:latin typeface="Times New Roman" panose="02020603050405020304" pitchFamily="18" charset="0"/>
                <a:cs typeface="Times New Roman" panose="02020603050405020304" pitchFamily="18" charset="0"/>
              </a:rPr>
              <a:t>moniteur</a:t>
            </a:r>
            <a:r>
              <a:rPr lang="en-US" altLang="en-US" dirty="0">
                <a:latin typeface="Times New Roman" panose="02020603050405020304" pitchFamily="18" charset="0"/>
                <a:cs typeface="Times New Roman" panose="02020603050405020304" pitchFamily="18" charset="0"/>
              </a:rPr>
              <a:t> (</a:t>
            </a:r>
            <a:r>
              <a:rPr lang="en-US" altLang="en-US" dirty="0" err="1">
                <a:latin typeface="Times New Roman" panose="02020603050405020304" pitchFamily="18" charset="0"/>
                <a:cs typeface="Times New Roman" panose="02020603050405020304" pitchFamily="18" charset="0"/>
              </a:rPr>
              <a:t>Seuils</a:t>
            </a:r>
            <a:r>
              <a:rPr lang="en-US" altLang="en-US" dirty="0">
                <a:latin typeface="Times New Roman" panose="02020603050405020304" pitchFamily="18" charset="0"/>
                <a:cs typeface="Times New Roman" panose="02020603050405020304" pitchFamily="18" charset="0"/>
              </a:rPr>
              <a:t> </a:t>
            </a:r>
            <a:r>
              <a:rPr lang="en-US" altLang="en-US" dirty="0" err="1">
                <a:latin typeface="Times New Roman" panose="02020603050405020304" pitchFamily="18" charset="0"/>
                <a:cs typeface="Times New Roman" panose="02020603050405020304" pitchFamily="18" charset="0"/>
              </a:rPr>
              <a:t>d'alerte</a:t>
            </a:r>
            <a:r>
              <a:rPr lang="en-US" altLang="en-US" dirty="0">
                <a:latin typeface="Times New Roman" panose="02020603050405020304" pitchFamily="18" charset="0"/>
                <a:cs typeface="Times New Roman" panose="02020603050405020304" pitchFamily="18" charset="0"/>
              </a:rPr>
              <a:t>, </a:t>
            </a:r>
            <a:r>
              <a:rPr lang="en-US" altLang="en-US" dirty="0" err="1">
                <a:latin typeface="Times New Roman" panose="02020603050405020304" pitchFamily="18" charset="0"/>
                <a:cs typeface="Times New Roman" panose="02020603050405020304" pitchFamily="18" charset="0"/>
              </a:rPr>
              <a:t>intervalles</a:t>
            </a:r>
            <a:r>
              <a:rPr lang="en-US" altLang="en-US" dirty="0">
                <a:latin typeface="Times New Roman" panose="02020603050405020304" pitchFamily="18" charset="0"/>
                <a:cs typeface="Times New Roman" panose="02020603050405020304" pitchFamily="18" charset="0"/>
              </a:rPr>
              <a:t> de </a:t>
            </a:r>
            <a:r>
              <a:rPr lang="en-US" altLang="en-US" dirty="0" err="1">
                <a:latin typeface="Times New Roman" panose="02020603050405020304" pitchFamily="18" charset="0"/>
                <a:cs typeface="Times New Roman" panose="02020603050405020304" pitchFamily="18" charset="0"/>
              </a:rPr>
              <a:t>rafraîchissement</a:t>
            </a:r>
            <a:r>
              <a:rPr lang="en-US" altLang="en-US" dirty="0">
                <a:latin typeface="Times New Roman" panose="02020603050405020304" pitchFamily="18" charset="0"/>
                <a:cs typeface="Times New Roman" panose="02020603050405020304" pitchFamily="18" charset="0"/>
              </a:rPr>
              <a:t>).</a:t>
            </a:r>
          </a:p>
          <a:p>
            <a:pPr lvl="0" eaLnBrk="0" fontAlgn="base" hangingPunct="0">
              <a:lnSpc>
                <a:spcPct val="150000"/>
              </a:lnSpc>
              <a:spcBef>
                <a:spcPct val="0"/>
              </a:spcBef>
              <a:spcAft>
                <a:spcPct val="0"/>
              </a:spcAft>
              <a:buFontTx/>
              <a:buChar char="•"/>
            </a:pPr>
            <a:r>
              <a:rPr lang="en-US" altLang="en-US" b="1" dirty="0" smtClean="0">
                <a:latin typeface="Times New Roman" panose="02020603050405020304" pitchFamily="18" charset="0"/>
                <a:cs typeface="Times New Roman" panose="02020603050405020304" pitchFamily="18" charset="0"/>
              </a:rPr>
              <a:t>Exporter </a:t>
            </a:r>
            <a:r>
              <a:rPr lang="en-US" altLang="en-US" b="1" dirty="0">
                <a:latin typeface="Times New Roman" panose="02020603050405020304" pitchFamily="18" charset="0"/>
                <a:cs typeface="Times New Roman" panose="02020603050405020304" pitchFamily="18" charset="0"/>
              </a:rPr>
              <a:t>les rapports</a:t>
            </a:r>
            <a:r>
              <a:rPr lang="en-US" altLang="en-US" dirty="0">
                <a:latin typeface="Times New Roman" panose="02020603050405020304" pitchFamily="18" charset="0"/>
                <a:cs typeface="Times New Roman" panose="02020603050405020304" pitchFamily="18" charset="0"/>
              </a:rPr>
              <a:t> (</a:t>
            </a:r>
            <a:r>
              <a:rPr lang="en-US" altLang="en-US" dirty="0" err="1">
                <a:latin typeface="Times New Roman" panose="02020603050405020304" pitchFamily="18" charset="0"/>
                <a:cs typeface="Times New Roman" panose="02020603050405020304" pitchFamily="18" charset="0"/>
              </a:rPr>
              <a:t>Génération</a:t>
            </a:r>
            <a:r>
              <a:rPr lang="en-US" altLang="en-US" dirty="0">
                <a:latin typeface="Times New Roman" panose="02020603050405020304" pitchFamily="18" charset="0"/>
                <a:cs typeface="Times New Roman" panose="02020603050405020304" pitchFamily="18" charset="0"/>
              </a:rPr>
              <a:t> de </a:t>
            </a:r>
            <a:r>
              <a:rPr lang="en-US" altLang="en-US" dirty="0" err="1">
                <a:latin typeface="Times New Roman" panose="02020603050405020304" pitchFamily="18" charset="0"/>
                <a:cs typeface="Times New Roman" panose="02020603050405020304" pitchFamily="18" charset="0"/>
              </a:rPr>
              <a:t>fichiers</a:t>
            </a:r>
            <a:r>
              <a:rPr lang="en-US" altLang="en-US" dirty="0">
                <a:latin typeface="Times New Roman" panose="02020603050405020304" pitchFamily="18" charset="0"/>
                <a:cs typeface="Times New Roman" panose="02020603050405020304" pitchFamily="18" charset="0"/>
              </a:rPr>
              <a:t> logs </a:t>
            </a:r>
            <a:r>
              <a:rPr lang="en-US" altLang="en-US" dirty="0" err="1">
                <a:latin typeface="Times New Roman" panose="02020603050405020304" pitchFamily="18" charset="0"/>
                <a:cs typeface="Times New Roman" panose="02020603050405020304" pitchFamily="18" charset="0"/>
              </a:rPr>
              <a:t>ou</a:t>
            </a:r>
            <a:r>
              <a:rPr lang="en-US" altLang="en-US" dirty="0">
                <a:latin typeface="Times New Roman" panose="02020603050405020304" pitchFamily="18" charset="0"/>
                <a:cs typeface="Times New Roman" panose="02020603050405020304" pitchFamily="18" charset="0"/>
              </a:rPr>
              <a:t> CSV</a:t>
            </a:r>
            <a:r>
              <a:rPr lang="en-US" altLang="en-US" dirty="0" smtClean="0">
                <a:latin typeface="Times New Roman" panose="02020603050405020304" pitchFamily="18" charset="0"/>
                <a:cs typeface="Times New Roman" panose="02020603050405020304" pitchFamily="18" charset="0"/>
              </a:rPr>
              <a:t>)..</a:t>
            </a:r>
          </a:p>
          <a:p>
            <a:pPr lvl="0" eaLnBrk="0" fontAlgn="base" hangingPunct="0">
              <a:lnSpc>
                <a:spcPct val="150000"/>
              </a:lnSpc>
              <a:spcBef>
                <a:spcPct val="0"/>
              </a:spcBef>
              <a:spcAft>
                <a:spcPct val="0"/>
              </a:spcAft>
              <a:buFontTx/>
              <a:buChar char="•"/>
            </a:pPr>
            <a:r>
              <a:rPr lang="en-US" altLang="en-US" b="1" dirty="0" smtClean="0">
                <a:latin typeface="Times New Roman" panose="02020603050405020304" pitchFamily="18" charset="0"/>
                <a:cs typeface="Times New Roman" panose="02020603050405020304" pitchFamily="18" charset="0"/>
              </a:rPr>
              <a:t>  </a:t>
            </a:r>
            <a:r>
              <a:rPr lang="en-US" altLang="en-US" b="1" dirty="0" err="1" smtClean="0">
                <a:latin typeface="Times New Roman" panose="02020603050405020304" pitchFamily="18" charset="0"/>
                <a:cs typeface="Times New Roman" panose="02020603050405020304" pitchFamily="18" charset="0"/>
              </a:rPr>
              <a:t>Réagir</a:t>
            </a:r>
            <a:r>
              <a:rPr lang="en-US" altLang="en-US" b="1" dirty="0" smtClean="0">
                <a:latin typeface="Times New Roman" panose="02020603050405020304" pitchFamily="18" charset="0"/>
                <a:cs typeface="Times New Roman" panose="02020603050405020304" pitchFamily="18" charset="0"/>
              </a:rPr>
              <a:t> aux </a:t>
            </a:r>
            <a:r>
              <a:rPr lang="en-US" altLang="en-US" b="1" dirty="0" err="1" smtClean="0">
                <a:latin typeface="Times New Roman" panose="02020603050405020304" pitchFamily="18" charset="0"/>
                <a:cs typeface="Times New Roman" panose="02020603050405020304" pitchFamily="18" charset="0"/>
              </a:rPr>
              <a:t>alertes</a:t>
            </a:r>
            <a:r>
              <a:rPr lang="en-US" altLang="en-US" dirty="0" smtClean="0">
                <a:latin typeface="Times New Roman" panose="02020603050405020304" pitchFamily="18" charset="0"/>
                <a:cs typeface="Times New Roman" panose="02020603050405020304" pitchFamily="18" charset="0"/>
              </a:rPr>
              <a:t> (Acquitter </a:t>
            </a:r>
            <a:r>
              <a:rPr lang="en-US" altLang="en-US" dirty="0" err="1" smtClean="0">
                <a:latin typeface="Times New Roman" panose="02020603050405020304" pitchFamily="18" charset="0"/>
                <a:cs typeface="Times New Roman" panose="02020603050405020304" pitchFamily="18" charset="0"/>
              </a:rPr>
              <a:t>une</a:t>
            </a:r>
            <a:r>
              <a:rPr lang="en-US" altLang="en-US" dirty="0" smtClean="0">
                <a:latin typeface="Times New Roman" panose="02020603050405020304" pitchFamily="18" charset="0"/>
                <a:cs typeface="Times New Roman" panose="02020603050405020304" pitchFamily="18" charset="0"/>
              </a:rPr>
              <a:t> notification de </a:t>
            </a:r>
            <a:r>
              <a:rPr lang="en-US" altLang="en-US" dirty="0" err="1" smtClean="0">
                <a:latin typeface="Times New Roman" panose="02020603050405020304" pitchFamily="18" charset="0"/>
                <a:cs typeface="Times New Roman" panose="02020603050405020304" pitchFamily="18" charset="0"/>
              </a:rPr>
              <a:t>surchauffe</a:t>
            </a:r>
            <a:r>
              <a:rPr lang="en-US" altLang="en-US" dirty="0" smtClean="0">
                <a:latin typeface="Times New Roman" panose="02020603050405020304" pitchFamily="18" charset="0"/>
                <a:cs typeface="Times New Roman" panose="02020603050405020304" pitchFamily="18" charset="0"/>
              </a:rPr>
              <a:t>).</a:t>
            </a:r>
          </a:p>
          <a:p>
            <a:pPr marL="285750" indent="-285750">
              <a:buFont typeface="Wingdings" panose="05000000000000000000" pitchFamily="2" charset="2"/>
              <a:buChar char="q"/>
            </a:pPr>
            <a:endParaRPr lang="fr-CM" dirty="0"/>
          </a:p>
        </p:txBody>
      </p:sp>
      <p:sp>
        <p:nvSpPr>
          <p:cNvPr id="13" name="Rectangle 12"/>
          <p:cNvSpPr/>
          <p:nvPr/>
        </p:nvSpPr>
        <p:spPr>
          <a:xfrm>
            <a:off x="5853084" y="717388"/>
            <a:ext cx="6096000" cy="3920560"/>
          </a:xfrm>
          <a:prstGeom prst="rect">
            <a:avLst/>
          </a:prstGeom>
        </p:spPr>
        <p:txBody>
          <a:bodyPr>
            <a:spAutoFit/>
          </a:bodyPr>
          <a:lstStyle/>
          <a:p>
            <a:r>
              <a:rPr lang="fr-FR" b="1" dirty="0" smtClean="0">
                <a:latin typeface="Times New Roman" panose="02020603050405020304" pitchFamily="18" charset="0"/>
                <a:cs typeface="Times New Roman" panose="02020603050405020304" pitchFamily="18" charset="0"/>
              </a:rPr>
              <a:t>2. Utilisateur (acteur principal):</a:t>
            </a:r>
          </a:p>
          <a:p>
            <a:endParaRPr lang="fr-FR" b="1" dirty="0" smtClean="0">
              <a:latin typeface="Times New Roman" panose="02020603050405020304" pitchFamily="18" charset="0"/>
              <a:cs typeface="Times New Roman" panose="02020603050405020304" pitchFamily="18" charset="0"/>
            </a:endParaRPr>
          </a:p>
          <a:p>
            <a:pPr>
              <a:lnSpc>
                <a:spcPct val="150000"/>
              </a:lnSpc>
            </a:pPr>
            <a:r>
              <a:rPr lang="fr-FR" b="1" dirty="0" smtClean="0">
                <a:latin typeface="Times New Roman" panose="02020603050405020304" pitchFamily="18" charset="0"/>
                <a:cs typeface="Times New Roman" panose="02020603050405020304" pitchFamily="18" charset="0"/>
              </a:rPr>
              <a:t>a) Consulter </a:t>
            </a:r>
            <a:endParaRPr lang="fr-FR" b="1" dirty="0">
              <a:latin typeface="Times New Roman" panose="02020603050405020304" pitchFamily="18" charset="0"/>
              <a:cs typeface="Times New Roman" panose="02020603050405020304" pitchFamily="18" charset="0"/>
            </a:endParaRPr>
          </a:p>
          <a:p>
            <a:pPr>
              <a:lnSpc>
                <a:spcPct val="150000"/>
              </a:lnSpc>
              <a:buFont typeface="Arial" panose="020B0604020202020204" pitchFamily="34" charset="0"/>
              <a:buChar char="•"/>
            </a:pPr>
            <a:r>
              <a:rPr lang="fr-FR" b="1" dirty="0">
                <a:latin typeface="Times New Roman" panose="02020603050405020304" pitchFamily="18" charset="0"/>
                <a:cs typeface="Times New Roman" panose="02020603050405020304" pitchFamily="18" charset="0"/>
              </a:rPr>
              <a:t>Visualiser le tableau de bord :</a:t>
            </a:r>
            <a:r>
              <a:rPr lang="fr-FR" dirty="0">
                <a:latin typeface="Times New Roman" panose="02020603050405020304" pitchFamily="18" charset="0"/>
                <a:cs typeface="Times New Roman" panose="02020603050405020304" pitchFamily="18" charset="0"/>
              </a:rPr>
              <a:t> Consulter la charge globale et individuelle des cœurs en temps réel.</a:t>
            </a:r>
          </a:p>
          <a:p>
            <a:pPr>
              <a:lnSpc>
                <a:spcPct val="150000"/>
              </a:lnSpc>
              <a:buFont typeface="Arial" panose="020B0604020202020204" pitchFamily="34" charset="0"/>
              <a:buChar char="•"/>
            </a:pPr>
            <a:r>
              <a:rPr lang="fr-FR" b="1" dirty="0">
                <a:latin typeface="Times New Roman" panose="02020603050405020304" pitchFamily="18" charset="0"/>
                <a:cs typeface="Times New Roman" panose="02020603050405020304" pitchFamily="18" charset="0"/>
              </a:rPr>
              <a:t>Surveiller les températures :</a:t>
            </a:r>
            <a:r>
              <a:rPr lang="fr-FR" dirty="0">
                <a:latin typeface="Times New Roman" panose="02020603050405020304" pitchFamily="18" charset="0"/>
                <a:cs typeface="Times New Roman" panose="02020603050405020304" pitchFamily="18" charset="0"/>
              </a:rPr>
              <a:t> Vérifier que son activité n'entraîne pas une surchauffe du processeur.</a:t>
            </a:r>
          </a:p>
          <a:p>
            <a:pPr>
              <a:lnSpc>
                <a:spcPct val="150000"/>
              </a:lnSpc>
              <a:buFont typeface="Arial" panose="020B0604020202020204" pitchFamily="34" charset="0"/>
              <a:buChar char="•"/>
            </a:pPr>
            <a:r>
              <a:rPr lang="fr-FR" b="1" dirty="0">
                <a:latin typeface="Times New Roman" panose="02020603050405020304" pitchFamily="18" charset="0"/>
                <a:cs typeface="Times New Roman" panose="02020603050405020304" pitchFamily="18" charset="0"/>
              </a:rPr>
              <a:t>Consulter les fréquences :</a:t>
            </a:r>
            <a:r>
              <a:rPr lang="fr-FR" dirty="0">
                <a:latin typeface="Times New Roman" panose="02020603050405020304" pitchFamily="18" charset="0"/>
                <a:cs typeface="Times New Roman" panose="02020603050405020304" pitchFamily="18" charset="0"/>
              </a:rPr>
              <a:t> Vérifier si le processeur tourne à sa vitesse maximale (mode </a:t>
            </a:r>
            <a:r>
              <a:rPr lang="fr-FR" dirty="0" err="1">
                <a:latin typeface="Times New Roman" panose="02020603050405020304" pitchFamily="18" charset="0"/>
                <a:cs typeface="Times New Roman" panose="02020603050405020304" pitchFamily="18" charset="0"/>
              </a:rPr>
              <a:t>Boost</a:t>
            </a:r>
            <a:r>
              <a:rPr lang="fr-FR" dirty="0">
                <a:latin typeface="Times New Roman" panose="02020603050405020304" pitchFamily="18" charset="0"/>
                <a:cs typeface="Times New Roman" panose="02020603050405020304" pitchFamily="18" charset="0"/>
              </a:rPr>
              <a:t>) ou s'il est bridé</a:t>
            </a:r>
            <a:r>
              <a:rPr lang="fr-FR" dirty="0" smtClean="0">
                <a:latin typeface="Times New Roman" panose="02020603050405020304" pitchFamily="18" charset="0"/>
                <a:cs typeface="Times New Roman" panose="02020603050405020304" pitchFamily="18" charset="0"/>
              </a:rPr>
              <a:t>.</a:t>
            </a:r>
          </a:p>
          <a:p>
            <a:pPr lvl="0">
              <a:lnSpc>
                <a:spcPct val="150000"/>
              </a:lnSpc>
              <a:buFont typeface="Arial" panose="020B0604020202020204" pitchFamily="34" charset="0"/>
              <a:buChar char="•"/>
            </a:pPr>
            <a:r>
              <a:rPr lang="en-US" altLang="en-US" b="1" dirty="0">
                <a:latin typeface="Times New Roman" panose="02020603050405020304" pitchFamily="18" charset="0"/>
                <a:cs typeface="Times New Roman" panose="02020603050405020304" pitchFamily="18" charset="0"/>
              </a:rPr>
              <a:t> </a:t>
            </a:r>
            <a:r>
              <a:rPr lang="en-US" altLang="en-US" b="1" dirty="0" err="1" smtClean="0">
                <a:latin typeface="Times New Roman" panose="02020603050405020304" pitchFamily="18" charset="0"/>
                <a:cs typeface="Times New Roman" panose="02020603050405020304" pitchFamily="18" charset="0"/>
              </a:rPr>
              <a:t>Selectionner</a:t>
            </a:r>
            <a:r>
              <a:rPr lang="en-US" altLang="en-US" b="1" dirty="0" smtClean="0">
                <a:latin typeface="Times New Roman" panose="02020603050405020304" pitchFamily="18" charset="0"/>
                <a:cs typeface="Times New Roman" panose="02020603050405020304" pitchFamily="18" charset="0"/>
              </a:rPr>
              <a:t> les </a:t>
            </a:r>
            <a:r>
              <a:rPr lang="en-US" altLang="en-US" b="1" dirty="0" err="1" smtClean="0">
                <a:latin typeface="Times New Roman" panose="02020603050405020304" pitchFamily="18" charset="0"/>
                <a:cs typeface="Times New Roman" panose="02020603050405020304" pitchFamily="18" charset="0"/>
              </a:rPr>
              <a:t>coeurs</a:t>
            </a:r>
            <a:r>
              <a:rPr lang="en-US" altLang="en-US" b="1" dirty="0" smtClean="0">
                <a:latin typeface="Times New Roman" panose="02020603050405020304" pitchFamily="18" charset="0"/>
                <a:cs typeface="Times New Roman" panose="02020603050405020304" pitchFamily="18" charset="0"/>
              </a:rPr>
              <a:t> à </a:t>
            </a:r>
            <a:r>
              <a:rPr lang="en-US" altLang="en-US" b="1" dirty="0" err="1" smtClean="0">
                <a:latin typeface="Times New Roman" panose="02020603050405020304" pitchFamily="18" charset="0"/>
                <a:cs typeface="Times New Roman" panose="02020603050405020304" pitchFamily="18" charset="0"/>
              </a:rPr>
              <a:t>surveiller</a:t>
            </a:r>
            <a:endParaRPr lang="fr-FR"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9462172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80">
                                          <p:stCondLst>
                                            <p:cond delay="0"/>
                                          </p:stCondLst>
                                        </p:cTn>
                                        <p:tgtEl>
                                          <p:spTgt spid="6"/>
                                        </p:tgtEl>
                                      </p:cBhvr>
                                    </p:animEffect>
                                    <p:anim calcmode="lin" valueType="num">
                                      <p:cBhvr>
                                        <p:cTn id="8" dur="1822" tmFilter="0,0; 0.14,0.36; 0.43,0.73; 0.71,0.91; 1.0,1.0">
                                          <p:stCondLst>
                                            <p:cond delay="0"/>
                                          </p:stCondLst>
                                        </p:cTn>
                                        <p:tgtEl>
                                          <p:spTgt spid="6"/>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6"/>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6"/>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6"/>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6"/>
                                        </p:tgtEl>
                                        <p:attrNameLst>
                                          <p:attrName>ppt_y</p:attrName>
                                        </p:attrNameLst>
                                      </p:cBhvr>
                                      <p:tavLst>
                                        <p:tav tm="0" fmla="#ppt_y-sin(pi*$)/81">
                                          <p:val>
                                            <p:fltVal val="0"/>
                                          </p:val>
                                        </p:tav>
                                        <p:tav tm="100000">
                                          <p:val>
                                            <p:fltVal val="1"/>
                                          </p:val>
                                        </p:tav>
                                      </p:tavLst>
                                    </p:anim>
                                    <p:animScale>
                                      <p:cBhvr>
                                        <p:cTn id="13" dur="26">
                                          <p:stCondLst>
                                            <p:cond delay="650"/>
                                          </p:stCondLst>
                                        </p:cTn>
                                        <p:tgtEl>
                                          <p:spTgt spid="6"/>
                                        </p:tgtEl>
                                      </p:cBhvr>
                                      <p:to x="100000" y="60000"/>
                                    </p:animScale>
                                    <p:animScale>
                                      <p:cBhvr>
                                        <p:cTn id="14" dur="166" decel="50000">
                                          <p:stCondLst>
                                            <p:cond delay="676"/>
                                          </p:stCondLst>
                                        </p:cTn>
                                        <p:tgtEl>
                                          <p:spTgt spid="6"/>
                                        </p:tgtEl>
                                      </p:cBhvr>
                                      <p:to x="100000" y="100000"/>
                                    </p:animScale>
                                    <p:animScale>
                                      <p:cBhvr>
                                        <p:cTn id="15" dur="26">
                                          <p:stCondLst>
                                            <p:cond delay="1312"/>
                                          </p:stCondLst>
                                        </p:cTn>
                                        <p:tgtEl>
                                          <p:spTgt spid="6"/>
                                        </p:tgtEl>
                                      </p:cBhvr>
                                      <p:to x="100000" y="80000"/>
                                    </p:animScale>
                                    <p:animScale>
                                      <p:cBhvr>
                                        <p:cTn id="16" dur="166" decel="50000">
                                          <p:stCondLst>
                                            <p:cond delay="1338"/>
                                          </p:stCondLst>
                                        </p:cTn>
                                        <p:tgtEl>
                                          <p:spTgt spid="6"/>
                                        </p:tgtEl>
                                      </p:cBhvr>
                                      <p:to x="100000" y="100000"/>
                                    </p:animScale>
                                    <p:animScale>
                                      <p:cBhvr>
                                        <p:cTn id="17" dur="26">
                                          <p:stCondLst>
                                            <p:cond delay="1642"/>
                                          </p:stCondLst>
                                        </p:cTn>
                                        <p:tgtEl>
                                          <p:spTgt spid="6"/>
                                        </p:tgtEl>
                                      </p:cBhvr>
                                      <p:to x="100000" y="90000"/>
                                    </p:animScale>
                                    <p:animScale>
                                      <p:cBhvr>
                                        <p:cTn id="18" dur="166" decel="50000">
                                          <p:stCondLst>
                                            <p:cond delay="1668"/>
                                          </p:stCondLst>
                                        </p:cTn>
                                        <p:tgtEl>
                                          <p:spTgt spid="6"/>
                                        </p:tgtEl>
                                      </p:cBhvr>
                                      <p:to x="100000" y="100000"/>
                                    </p:animScale>
                                    <p:animScale>
                                      <p:cBhvr>
                                        <p:cTn id="19" dur="26">
                                          <p:stCondLst>
                                            <p:cond delay="1808"/>
                                          </p:stCondLst>
                                        </p:cTn>
                                        <p:tgtEl>
                                          <p:spTgt spid="6"/>
                                        </p:tgtEl>
                                      </p:cBhvr>
                                      <p:to x="100000" y="95000"/>
                                    </p:animScale>
                                    <p:animScale>
                                      <p:cBhvr>
                                        <p:cTn id="20" dur="166" decel="50000">
                                          <p:stCondLst>
                                            <p:cond delay="1834"/>
                                          </p:stCondLst>
                                        </p:cTn>
                                        <p:tgtEl>
                                          <p:spTgt spid="6"/>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re 1"/>
          <p:cNvSpPr txBox="1">
            <a:spLocks/>
          </p:cNvSpPr>
          <p:nvPr/>
        </p:nvSpPr>
        <p:spPr>
          <a:xfrm>
            <a:off x="1117600" y="-82712"/>
            <a:ext cx="10052368" cy="800100"/>
          </a:xfrm>
          <a:prstGeom prst="rect">
            <a:avLst/>
          </a:prstGeom>
        </p:spPr>
        <p:txBody>
          <a:bodyPr vert="horz" lIns="91440" tIns="45720" rIns="91440" bIns="45720" rtlCol="0" anchor="ctr">
            <a:normAutofit fontScale="97500" lnSpcReduction="10000"/>
          </a:bodyPr>
          <a:lstStyle>
            <a:lvl1pPr algn="ctr" defTabSz="914400" rtl="0" eaLnBrk="1" latinLnBrk="0" hangingPunct="1">
              <a:lnSpc>
                <a:spcPct val="90000"/>
              </a:lnSpc>
              <a:spcBef>
                <a:spcPct val="0"/>
              </a:spcBef>
              <a:buNone/>
              <a:defRPr sz="3400" b="1" i="0" kern="1200" cap="all">
                <a:solidFill>
                  <a:schemeClr val="tx1"/>
                </a:solidFill>
                <a:effectLst>
                  <a:outerShdw blurRad="50800" dist="63500" dir="2700000" algn="tl" rotWithShape="0">
                    <a:srgbClr val="000000">
                      <a:alpha val="48000"/>
                    </a:srgbClr>
                  </a:outerShdw>
                </a:effectLst>
                <a:latin typeface="+mj-lt"/>
                <a:ea typeface="+mj-ea"/>
                <a:cs typeface="+mj-cs"/>
              </a:defRPr>
            </a:lvl1pPr>
          </a:lstStyle>
          <a:p>
            <a:pPr>
              <a:lnSpc>
                <a:spcPct val="150000"/>
              </a:lnSpc>
            </a:pPr>
            <a:r>
              <a:rPr lang="en-US" dirty="0" smtClean="0">
                <a:effectLst/>
                <a:latin typeface="Times New Roman" panose="02020603050405020304" pitchFamily="18" charset="0"/>
                <a:cs typeface="Times New Roman" panose="02020603050405020304" pitchFamily="18" charset="0"/>
              </a:rPr>
              <a:t>III. ACTEURS ET CAS D’UTILISATION</a:t>
            </a:r>
            <a:endParaRPr lang="fr-FR" dirty="0">
              <a:effectLst/>
              <a:latin typeface="Times New Roman" panose="02020603050405020304" pitchFamily="18" charset="0"/>
              <a:cs typeface="Times New Roman" panose="02020603050405020304" pitchFamily="18" charset="0"/>
            </a:endParaRPr>
          </a:p>
        </p:txBody>
      </p:sp>
      <p:sp>
        <p:nvSpPr>
          <p:cNvPr id="3" name="Rectangle 1"/>
          <p:cNvSpPr>
            <a:spLocks noChangeArrowheads="1"/>
          </p:cNvSpPr>
          <p:nvPr/>
        </p:nvSpPr>
        <p:spPr bwMode="auto">
          <a:xfrm>
            <a:off x="624086" y="1495135"/>
            <a:ext cx="10043199"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lang="en-US" altLang="en-US" b="1" dirty="0" smtClean="0">
                <a:latin typeface="Times New Roman" panose="02020603050405020304" pitchFamily="18" charset="0"/>
                <a:cs typeface="Times New Roman" panose="02020603050405020304" pitchFamily="18" charset="0"/>
              </a:rPr>
              <a:t>3. </a:t>
            </a:r>
            <a:r>
              <a:rPr lang="en-US" altLang="en-US" b="1" dirty="0" err="1" smtClean="0">
                <a:latin typeface="Times New Roman" panose="02020603050405020304" pitchFamily="18" charset="0"/>
                <a:cs typeface="Times New Roman" panose="02020603050405020304" pitchFamily="18" charset="0"/>
              </a:rPr>
              <a:t>Noyaux</a:t>
            </a:r>
            <a:r>
              <a:rPr lang="en-US" altLang="en-US" b="1" dirty="0" smtClean="0">
                <a:latin typeface="Times New Roman" panose="02020603050405020304" pitchFamily="18" charset="0"/>
                <a:cs typeface="Times New Roman" panose="02020603050405020304" pitchFamily="18" charset="0"/>
              </a:rPr>
              <a:t> </a:t>
            </a:r>
            <a:r>
              <a:rPr lang="en-US" altLang="en-US" b="1" dirty="0" err="1" smtClean="0">
                <a:latin typeface="Times New Roman" panose="02020603050405020304" pitchFamily="18" charset="0"/>
                <a:cs typeface="Times New Roman" panose="02020603050405020304" pitchFamily="18" charset="0"/>
              </a:rPr>
              <a:t>linux</a:t>
            </a:r>
            <a:r>
              <a:rPr lang="en-US" altLang="en-US" b="1" dirty="0" smtClean="0">
                <a:latin typeface="Times New Roman" panose="02020603050405020304" pitchFamily="18" charset="0"/>
                <a:cs typeface="Times New Roman" panose="02020603050405020304" pitchFamily="18" charset="0"/>
              </a:rPr>
              <a:t>/</a:t>
            </a:r>
            <a:r>
              <a:rPr lang="en-US" altLang="en-US" b="1" dirty="0" err="1" smtClean="0">
                <a:latin typeface="Times New Roman" panose="02020603050405020304" pitchFamily="18" charset="0"/>
                <a:cs typeface="Times New Roman" panose="02020603050405020304" pitchFamily="18" charset="0"/>
              </a:rPr>
              <a:t>Système</a:t>
            </a:r>
            <a:r>
              <a:rPr lang="en-US" altLang="en-US" b="1" dirty="0" smtClean="0">
                <a:latin typeface="Times New Roman" panose="02020603050405020304" pitchFamily="18" charset="0"/>
                <a:cs typeface="Times New Roman" panose="02020603050405020304" pitchFamily="18" charset="0"/>
              </a:rPr>
              <a:t> </a:t>
            </a:r>
            <a:r>
              <a:rPr lang="en-US" altLang="en-US" b="1" dirty="0" err="1" smtClean="0">
                <a:latin typeface="Times New Roman" panose="02020603050405020304" pitchFamily="18" charset="0"/>
                <a:cs typeface="Times New Roman" panose="02020603050405020304" pitchFamily="18" charset="0"/>
              </a:rPr>
              <a:t>d’Exploitation</a:t>
            </a:r>
            <a:r>
              <a:rPr lang="en-US" altLang="en-US" b="1" dirty="0" smtClean="0">
                <a:latin typeface="Times New Roman" panose="02020603050405020304" pitchFamily="18" charset="0"/>
                <a:cs typeface="Times New Roman" panose="02020603050405020304" pitchFamily="18" charset="0"/>
              </a:rPr>
              <a:t> (</a:t>
            </a:r>
            <a:r>
              <a:rPr lang="en-US" altLang="en-US" b="1" dirty="0" err="1" smtClean="0">
                <a:latin typeface="Times New Roman" panose="02020603050405020304" pitchFamily="18" charset="0"/>
                <a:cs typeface="Times New Roman" panose="02020603050405020304" pitchFamily="18" charset="0"/>
              </a:rPr>
              <a:t>Acteurs</a:t>
            </a:r>
            <a:r>
              <a:rPr lang="en-US" altLang="en-US" b="1" dirty="0" smtClean="0">
                <a:latin typeface="Times New Roman" panose="02020603050405020304" pitchFamily="18" charset="0"/>
                <a:cs typeface="Times New Roman" panose="02020603050405020304" pitchFamily="18" charset="0"/>
              </a:rPr>
              <a:t> </a:t>
            </a:r>
            <a:r>
              <a:rPr lang="en-US" altLang="en-US" b="1" dirty="0" err="1" smtClean="0">
                <a:latin typeface="Times New Roman" panose="02020603050405020304" pitchFamily="18" charset="0"/>
                <a:cs typeface="Times New Roman" panose="02020603050405020304" pitchFamily="18" charset="0"/>
              </a:rPr>
              <a:t>secondaires</a:t>
            </a:r>
            <a:r>
              <a:rPr lang="en-US" altLang="en-US" b="1" dirty="0" smtClean="0">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50000"/>
              </a:lnSpc>
              <a:spcBef>
                <a:spcPct val="0"/>
              </a:spcBef>
              <a:spcAft>
                <a:spcPct val="0"/>
              </a:spcAft>
              <a:buClrTx/>
              <a:buSzTx/>
              <a:buFontTx/>
              <a:buNone/>
              <a:tabLst/>
            </a:pPr>
            <a:endPar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50000"/>
              </a:lnSpc>
              <a:spcBef>
                <a:spcPct val="0"/>
              </a:spcBef>
              <a:spcAft>
                <a:spcPct val="0"/>
              </a:spcAft>
              <a:buClrTx/>
              <a:buSzTx/>
              <a:buFontTx/>
              <a:buNone/>
              <a:tabLst/>
            </a:pPr>
            <a:r>
              <a:rPr lang="en-US" altLang="en-US" b="1" dirty="0" smtClean="0">
                <a:latin typeface="Times New Roman" panose="02020603050405020304" pitchFamily="18" charset="0"/>
                <a:cs typeface="Times New Roman" panose="02020603050405020304" pitchFamily="18" charset="0"/>
              </a:rPr>
              <a:t>a) </a:t>
            </a:r>
            <a:r>
              <a:rPr lang="en-US" altLang="en-US" b="1" dirty="0" err="1" smtClean="0">
                <a:latin typeface="Times New Roman" panose="02020603050405020304" pitchFamily="18" charset="0"/>
                <a:cs typeface="Times New Roman" panose="02020603050405020304" pitchFamily="18" charset="0"/>
              </a:rPr>
              <a:t>F</a:t>
            </a:r>
            <a:r>
              <a:rPr kumimoji="0" lang="en-US" altLang="en-US"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ournir</a:t>
            </a:r>
            <a:r>
              <a:rPr kumimoji="0" lang="en-US" altLang="en-US" b="1" i="0" u="none" strike="noStrike" cap="none" normalizeH="0" dirty="0" smtClean="0">
                <a:ln>
                  <a:noFill/>
                </a:ln>
                <a:solidFill>
                  <a:schemeClr val="tx1"/>
                </a:solidFill>
                <a:effectLst/>
                <a:latin typeface="Times New Roman" panose="02020603050405020304" pitchFamily="18" charset="0"/>
                <a:cs typeface="Times New Roman" panose="02020603050405020304" pitchFamily="18" charset="0"/>
              </a:rPr>
              <a:t> les </a:t>
            </a:r>
            <a:r>
              <a:rPr kumimoji="0" lang="en-US" altLang="en-US" b="1" i="0" u="none" strike="noStrike" cap="none" normalizeH="0" dirty="0" err="1" smtClean="0">
                <a:ln>
                  <a:noFill/>
                </a:ln>
                <a:solidFill>
                  <a:schemeClr val="tx1"/>
                </a:solidFill>
                <a:effectLst/>
                <a:latin typeface="Times New Roman" panose="02020603050405020304" pitchFamily="18" charset="0"/>
                <a:cs typeface="Times New Roman" panose="02020603050405020304" pitchFamily="18" charset="0"/>
              </a:rPr>
              <a:t>données</a:t>
            </a:r>
            <a:r>
              <a:rPr kumimoji="0" lang="en-US" altLang="en-US" b="1" i="0" u="none" strike="noStrike" cap="none" normalizeH="0" dirty="0" smtClean="0">
                <a:ln>
                  <a:noFill/>
                </a:ln>
                <a:solidFill>
                  <a:schemeClr val="tx1"/>
                </a:solidFill>
                <a:effectLst/>
                <a:latin typeface="Times New Roman" panose="02020603050405020304" pitchFamily="18" charset="0"/>
                <a:cs typeface="Times New Roman" panose="02020603050405020304" pitchFamily="18" charset="0"/>
              </a:rPr>
              <a:t>:</a:t>
            </a:r>
            <a:endPar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Mettre</a:t>
            </a:r>
            <a:r>
              <a:rPr kumimoji="0" lang="en-US" altLang="en-US"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à jour les </a:t>
            </a:r>
            <a:r>
              <a:rPr kumimoji="0" lang="en-US" altLang="en-US"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fichiers</a:t>
            </a:r>
            <a:r>
              <a:rPr kumimoji="0" lang="en-US" altLang="en-US"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virtuels</a:t>
            </a:r>
            <a:r>
              <a:rPr kumimoji="0" lang="en-US" altLang="en-US"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p>
          <a:p>
            <a:pPr lvl="0" eaLnBrk="0" fontAlgn="base" hangingPunct="0">
              <a:lnSpc>
                <a:spcPct val="150000"/>
              </a:lnSpc>
              <a:spcBef>
                <a:spcPct val="0"/>
              </a:spcBef>
              <a:spcAft>
                <a:spcPct val="0"/>
              </a:spcAft>
              <a:buFontTx/>
              <a:buChar char="•"/>
            </a:pPr>
            <a:r>
              <a:rPr kumimoji="0" lang="en-US" altLang="en-US"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Envoyer</a:t>
            </a:r>
            <a:r>
              <a:rPr kumimoji="0" lang="en-US" altLang="en-US"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des </a:t>
            </a:r>
            <a:r>
              <a:rPr kumimoji="0" lang="en-US" altLang="en-US"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signaux</a:t>
            </a:r>
            <a:r>
              <a:rPr kumimoji="0" lang="en-US" altLang="en-US"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thermiques</a:t>
            </a:r>
            <a:r>
              <a:rPr kumimoji="0" lang="en-US" altLang="en-US"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via les </a:t>
            </a:r>
            <a:r>
              <a:rPr kumimoji="0" lang="en-US" altLang="en-US"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sondes</a:t>
            </a:r>
            <a:r>
              <a:rPr kumimoji="0" lang="en-US" altLang="en-US"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ACPI (</a:t>
            </a:r>
            <a:r>
              <a:rPr lang="en-US" dirty="0"/>
              <a:t>Advanced Configuration and Power </a:t>
            </a:r>
            <a:r>
              <a:rPr lang="en-US" dirty="0" smtClean="0"/>
              <a:t>Interface)</a:t>
            </a:r>
            <a:r>
              <a:rPr kumimoji="0" lang="en-US" altLang="en-US"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50000"/>
              </a:lnSpc>
              <a:spcBef>
                <a:spcPct val="0"/>
              </a:spcBef>
              <a:spcAft>
                <a:spcPct val="0"/>
              </a:spcAft>
              <a:buClrTx/>
              <a:buSzTx/>
              <a:buFontTx/>
              <a:buNone/>
              <a:tabLst/>
            </a:pPr>
            <a:endParaRPr kumimoji="0" lang="en-US" altLang="en-US" i="0" u="none" strike="noStrike" cap="none" normalizeH="0" baseline="0" dirty="0" smtClean="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62296844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down)">
                                      <p:cBhvr>
                                        <p:cTn id="7" dur="580">
                                          <p:stCondLst>
                                            <p:cond delay="0"/>
                                          </p:stCondLst>
                                        </p:cTn>
                                        <p:tgtEl>
                                          <p:spTgt spid="9"/>
                                        </p:tgtEl>
                                      </p:cBhvr>
                                    </p:animEffect>
                                    <p:anim calcmode="lin" valueType="num">
                                      <p:cBhvr>
                                        <p:cTn id="8" dur="1822" tmFilter="0,0; 0.14,0.36; 0.43,0.73; 0.71,0.91; 1.0,1.0">
                                          <p:stCondLst>
                                            <p:cond delay="0"/>
                                          </p:stCondLst>
                                        </p:cTn>
                                        <p:tgtEl>
                                          <p:spTgt spid="9"/>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9"/>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9"/>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9"/>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9"/>
                                        </p:tgtEl>
                                        <p:attrNameLst>
                                          <p:attrName>ppt_y</p:attrName>
                                        </p:attrNameLst>
                                      </p:cBhvr>
                                      <p:tavLst>
                                        <p:tav tm="0" fmla="#ppt_y-sin(pi*$)/81">
                                          <p:val>
                                            <p:fltVal val="0"/>
                                          </p:val>
                                        </p:tav>
                                        <p:tav tm="100000">
                                          <p:val>
                                            <p:fltVal val="1"/>
                                          </p:val>
                                        </p:tav>
                                      </p:tavLst>
                                    </p:anim>
                                    <p:animScale>
                                      <p:cBhvr>
                                        <p:cTn id="13" dur="26">
                                          <p:stCondLst>
                                            <p:cond delay="650"/>
                                          </p:stCondLst>
                                        </p:cTn>
                                        <p:tgtEl>
                                          <p:spTgt spid="9"/>
                                        </p:tgtEl>
                                      </p:cBhvr>
                                      <p:to x="100000" y="60000"/>
                                    </p:animScale>
                                    <p:animScale>
                                      <p:cBhvr>
                                        <p:cTn id="14" dur="166" decel="50000">
                                          <p:stCondLst>
                                            <p:cond delay="676"/>
                                          </p:stCondLst>
                                        </p:cTn>
                                        <p:tgtEl>
                                          <p:spTgt spid="9"/>
                                        </p:tgtEl>
                                      </p:cBhvr>
                                      <p:to x="100000" y="100000"/>
                                    </p:animScale>
                                    <p:animScale>
                                      <p:cBhvr>
                                        <p:cTn id="15" dur="26">
                                          <p:stCondLst>
                                            <p:cond delay="1312"/>
                                          </p:stCondLst>
                                        </p:cTn>
                                        <p:tgtEl>
                                          <p:spTgt spid="9"/>
                                        </p:tgtEl>
                                      </p:cBhvr>
                                      <p:to x="100000" y="80000"/>
                                    </p:animScale>
                                    <p:animScale>
                                      <p:cBhvr>
                                        <p:cTn id="16" dur="166" decel="50000">
                                          <p:stCondLst>
                                            <p:cond delay="1338"/>
                                          </p:stCondLst>
                                        </p:cTn>
                                        <p:tgtEl>
                                          <p:spTgt spid="9"/>
                                        </p:tgtEl>
                                      </p:cBhvr>
                                      <p:to x="100000" y="100000"/>
                                    </p:animScale>
                                    <p:animScale>
                                      <p:cBhvr>
                                        <p:cTn id="17" dur="26">
                                          <p:stCondLst>
                                            <p:cond delay="1642"/>
                                          </p:stCondLst>
                                        </p:cTn>
                                        <p:tgtEl>
                                          <p:spTgt spid="9"/>
                                        </p:tgtEl>
                                      </p:cBhvr>
                                      <p:to x="100000" y="90000"/>
                                    </p:animScale>
                                    <p:animScale>
                                      <p:cBhvr>
                                        <p:cTn id="18" dur="166" decel="50000">
                                          <p:stCondLst>
                                            <p:cond delay="1668"/>
                                          </p:stCondLst>
                                        </p:cTn>
                                        <p:tgtEl>
                                          <p:spTgt spid="9"/>
                                        </p:tgtEl>
                                      </p:cBhvr>
                                      <p:to x="100000" y="100000"/>
                                    </p:animScale>
                                    <p:animScale>
                                      <p:cBhvr>
                                        <p:cTn id="19" dur="26">
                                          <p:stCondLst>
                                            <p:cond delay="1808"/>
                                          </p:stCondLst>
                                        </p:cTn>
                                        <p:tgtEl>
                                          <p:spTgt spid="9"/>
                                        </p:tgtEl>
                                      </p:cBhvr>
                                      <p:to x="100000" y="95000"/>
                                    </p:animScale>
                                    <p:animScale>
                                      <p:cBhvr>
                                        <p:cTn id="20" dur="166" decel="50000">
                                          <p:stCondLst>
                                            <p:cond delay="1834"/>
                                          </p:stCondLst>
                                        </p:cTn>
                                        <p:tgtEl>
                                          <p:spTgt spid="9"/>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1"/>
          <p:cNvSpPr txBox="1">
            <a:spLocks/>
          </p:cNvSpPr>
          <p:nvPr/>
        </p:nvSpPr>
        <p:spPr>
          <a:xfrm>
            <a:off x="1137920" y="2433320"/>
            <a:ext cx="10052368" cy="800100"/>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4800" b="1" i="0" kern="1200" cap="all">
                <a:solidFill>
                  <a:schemeClr val="tx1"/>
                </a:solidFill>
                <a:effectLst>
                  <a:outerShdw blurRad="50800" dist="63500" dir="2700000" algn="tl" rotWithShape="0">
                    <a:srgbClr val="000000">
                      <a:alpha val="48000"/>
                    </a:srgbClr>
                  </a:outerShdw>
                </a:effectLst>
                <a:latin typeface="+mj-lt"/>
                <a:ea typeface="+mj-ea"/>
                <a:cs typeface="+mj-cs"/>
              </a:defRPr>
            </a:lvl1pPr>
          </a:lstStyle>
          <a:p>
            <a:pPr>
              <a:lnSpc>
                <a:spcPct val="150000"/>
              </a:lnSpc>
            </a:pPr>
            <a:r>
              <a:rPr lang="en-US" sz="4400" dirty="0" smtClean="0">
                <a:effectLst/>
                <a:latin typeface="Times New Roman" panose="02020603050405020304" pitchFamily="18" charset="0"/>
                <a:cs typeface="Times New Roman" panose="02020603050405020304" pitchFamily="18" charset="0"/>
              </a:rPr>
              <a:t>IV. DESCRIPTION TEXTUELLES</a:t>
            </a:r>
            <a:endParaRPr lang="fr-FR" sz="4400" dirty="0">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95950626"/>
      </p:ext>
    </p:extLst>
  </p:cSld>
  <p:clrMapOvr>
    <a:masterClrMapping/>
  </p:clrMapOvr>
  <mc:AlternateContent xmlns:mc="http://schemas.openxmlformats.org/markup-compatibility/2006" xmlns:p14="http://schemas.microsoft.com/office/powerpoint/2010/main">
    <mc:Choice Requires="p14">
      <p:transition spd="slow" p14:dur="3900">
        <p14:glitter pattern="hexagon"/>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down)">
                                      <p:cBhvr>
                                        <p:cTn id="7" dur="580">
                                          <p:stCondLst>
                                            <p:cond delay="0"/>
                                          </p:stCondLst>
                                        </p:cTn>
                                        <p:tgtEl>
                                          <p:spTgt spid="3"/>
                                        </p:tgtEl>
                                      </p:cBhvr>
                                    </p:animEffect>
                                    <p:anim calcmode="lin" valueType="num">
                                      <p:cBhvr>
                                        <p:cTn id="8" dur="1822" tmFilter="0,0; 0.14,0.36; 0.43,0.73; 0.71,0.91; 1.0,1.0">
                                          <p:stCondLst>
                                            <p:cond delay="0"/>
                                          </p:stCondLst>
                                        </p:cTn>
                                        <p:tgtEl>
                                          <p:spTgt spid="3"/>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3"/>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3"/>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3"/>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3"/>
                                        </p:tgtEl>
                                        <p:attrNameLst>
                                          <p:attrName>ppt_y</p:attrName>
                                        </p:attrNameLst>
                                      </p:cBhvr>
                                      <p:tavLst>
                                        <p:tav tm="0" fmla="#ppt_y-sin(pi*$)/81">
                                          <p:val>
                                            <p:fltVal val="0"/>
                                          </p:val>
                                        </p:tav>
                                        <p:tav tm="100000">
                                          <p:val>
                                            <p:fltVal val="1"/>
                                          </p:val>
                                        </p:tav>
                                      </p:tavLst>
                                    </p:anim>
                                    <p:animScale>
                                      <p:cBhvr>
                                        <p:cTn id="13" dur="26">
                                          <p:stCondLst>
                                            <p:cond delay="650"/>
                                          </p:stCondLst>
                                        </p:cTn>
                                        <p:tgtEl>
                                          <p:spTgt spid="3"/>
                                        </p:tgtEl>
                                      </p:cBhvr>
                                      <p:to x="100000" y="60000"/>
                                    </p:animScale>
                                    <p:animScale>
                                      <p:cBhvr>
                                        <p:cTn id="14" dur="166" decel="50000">
                                          <p:stCondLst>
                                            <p:cond delay="676"/>
                                          </p:stCondLst>
                                        </p:cTn>
                                        <p:tgtEl>
                                          <p:spTgt spid="3"/>
                                        </p:tgtEl>
                                      </p:cBhvr>
                                      <p:to x="100000" y="100000"/>
                                    </p:animScale>
                                    <p:animScale>
                                      <p:cBhvr>
                                        <p:cTn id="15" dur="26">
                                          <p:stCondLst>
                                            <p:cond delay="1312"/>
                                          </p:stCondLst>
                                        </p:cTn>
                                        <p:tgtEl>
                                          <p:spTgt spid="3"/>
                                        </p:tgtEl>
                                      </p:cBhvr>
                                      <p:to x="100000" y="80000"/>
                                    </p:animScale>
                                    <p:animScale>
                                      <p:cBhvr>
                                        <p:cTn id="16" dur="166" decel="50000">
                                          <p:stCondLst>
                                            <p:cond delay="1338"/>
                                          </p:stCondLst>
                                        </p:cTn>
                                        <p:tgtEl>
                                          <p:spTgt spid="3"/>
                                        </p:tgtEl>
                                      </p:cBhvr>
                                      <p:to x="100000" y="100000"/>
                                    </p:animScale>
                                    <p:animScale>
                                      <p:cBhvr>
                                        <p:cTn id="17" dur="26">
                                          <p:stCondLst>
                                            <p:cond delay="1642"/>
                                          </p:stCondLst>
                                        </p:cTn>
                                        <p:tgtEl>
                                          <p:spTgt spid="3"/>
                                        </p:tgtEl>
                                      </p:cBhvr>
                                      <p:to x="100000" y="90000"/>
                                    </p:animScale>
                                    <p:animScale>
                                      <p:cBhvr>
                                        <p:cTn id="18" dur="166" decel="50000">
                                          <p:stCondLst>
                                            <p:cond delay="1668"/>
                                          </p:stCondLst>
                                        </p:cTn>
                                        <p:tgtEl>
                                          <p:spTgt spid="3"/>
                                        </p:tgtEl>
                                      </p:cBhvr>
                                      <p:to x="100000" y="100000"/>
                                    </p:animScale>
                                    <p:animScale>
                                      <p:cBhvr>
                                        <p:cTn id="19" dur="26">
                                          <p:stCondLst>
                                            <p:cond delay="1808"/>
                                          </p:stCondLst>
                                        </p:cTn>
                                        <p:tgtEl>
                                          <p:spTgt spid="3"/>
                                        </p:tgtEl>
                                      </p:cBhvr>
                                      <p:to x="100000" y="95000"/>
                                    </p:animScale>
                                    <p:animScale>
                                      <p:cBhvr>
                                        <p:cTn id="20" dur="166" decel="50000">
                                          <p:stCondLst>
                                            <p:cond delay="1834"/>
                                          </p:stCondLst>
                                        </p:cTn>
                                        <p:tgtEl>
                                          <p:spTgt spid="3"/>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914400" y="1328341"/>
            <a:ext cx="10617200" cy="2951064"/>
          </a:xfrm>
          <a:prstGeom prst="rect">
            <a:avLst/>
          </a:prstGeom>
        </p:spPr>
        <p:txBody>
          <a:bodyPr wrap="square">
            <a:spAutoFit/>
          </a:bodyPr>
          <a:lstStyle/>
          <a:p>
            <a:pPr algn="just">
              <a:lnSpc>
                <a:spcPct val="150000"/>
              </a:lnSpc>
            </a:pPr>
            <a:r>
              <a:rPr lang="fr-FR" dirty="0" smtClean="0">
                <a:latin typeface="Times New Roman" panose="02020603050405020304" pitchFamily="18" charset="0"/>
                <a:cs typeface="Times New Roman" panose="02020603050405020304" pitchFamily="18" charset="0"/>
              </a:rPr>
              <a:t>	Afin </a:t>
            </a:r>
            <a:r>
              <a:rPr lang="fr-FR" dirty="0">
                <a:latin typeface="Times New Roman" panose="02020603050405020304" pitchFamily="18" charset="0"/>
                <a:cs typeface="Times New Roman" panose="02020603050405020304" pitchFamily="18" charset="0"/>
              </a:rPr>
              <a:t>de préciser les interactions entre les acteurs et le système </a:t>
            </a:r>
            <a:r>
              <a:rPr lang="fr-FR" b="1" dirty="0" err="1">
                <a:latin typeface="Times New Roman" panose="02020603050405020304" pitchFamily="18" charset="0"/>
                <a:cs typeface="Times New Roman" panose="02020603050405020304" pitchFamily="18" charset="0"/>
              </a:rPr>
              <a:t>Multicore</a:t>
            </a:r>
            <a:r>
              <a:rPr lang="fr-FR" b="1" dirty="0">
                <a:latin typeface="Times New Roman" panose="02020603050405020304" pitchFamily="18" charset="0"/>
                <a:cs typeface="Times New Roman" panose="02020603050405020304" pitchFamily="18" charset="0"/>
              </a:rPr>
              <a:t> Monitor</a:t>
            </a:r>
            <a:r>
              <a:rPr lang="fr-FR" dirty="0">
                <a:latin typeface="Times New Roman" panose="02020603050405020304" pitchFamily="18" charset="0"/>
                <a:cs typeface="Times New Roman" panose="02020603050405020304" pitchFamily="18" charset="0"/>
              </a:rPr>
              <a:t>, cette section détaille les descriptions textuelles des cas d'utilisation. Alors que les diagrammes UML offrent une vue synthétique des fonctionnalités, ces descriptions permettent d'approfondir le comportement dynamique du logiciel en spécifiant les scénarios nominaux, les conditions préalables et les exceptions. Cette étape est cruciale pour anticiper les flux de données entre l'utilisateur et le noyau </a:t>
            </a:r>
            <a:r>
              <a:rPr lang="fr-FR" b="1" dirty="0" err="1">
                <a:latin typeface="Times New Roman" panose="02020603050405020304" pitchFamily="18" charset="0"/>
                <a:cs typeface="Times New Roman" panose="02020603050405020304" pitchFamily="18" charset="0"/>
              </a:rPr>
              <a:t>openSUSE</a:t>
            </a:r>
            <a:r>
              <a:rPr lang="fr-FR" dirty="0">
                <a:latin typeface="Times New Roman" panose="02020603050405020304" pitchFamily="18" charset="0"/>
                <a:cs typeface="Times New Roman" panose="02020603050405020304" pitchFamily="18" charset="0"/>
              </a:rPr>
              <a:t>, garantissant ainsi que chaque fonction, de la surveillance thermique à l'exportation des logs, soit implémentée avec la rigueur nécessaire aux systèmes temps réel.</a:t>
            </a:r>
            <a:endParaRPr lang="fr-CM" dirty="0">
              <a:latin typeface="Times New Roman" panose="02020603050405020304" pitchFamily="18" charset="0"/>
              <a:cs typeface="Times New Roman" panose="02020603050405020304" pitchFamily="18" charset="0"/>
            </a:endParaRPr>
          </a:p>
        </p:txBody>
      </p:sp>
      <p:sp>
        <p:nvSpPr>
          <p:cNvPr id="5" name="ZoneTexte 4"/>
          <p:cNvSpPr txBox="1"/>
          <p:nvPr/>
        </p:nvSpPr>
        <p:spPr>
          <a:xfrm>
            <a:off x="2468880" y="396240"/>
            <a:ext cx="7101840" cy="584775"/>
          </a:xfrm>
          <a:prstGeom prst="rect">
            <a:avLst/>
          </a:prstGeom>
          <a:noFill/>
        </p:spPr>
        <p:txBody>
          <a:bodyPr wrap="square" rtlCol="0">
            <a:spAutoFit/>
          </a:bodyPr>
          <a:lstStyle/>
          <a:p>
            <a:pPr algn="ctr"/>
            <a:r>
              <a:rPr lang="fr-CM" sz="3200" b="1" dirty="0" smtClean="0">
                <a:latin typeface="Times New Roman" panose="02020603050405020304" pitchFamily="18" charset="0"/>
                <a:cs typeface="Times New Roman" panose="02020603050405020304" pitchFamily="18" charset="0"/>
              </a:rPr>
              <a:t>INTRODUCTION</a:t>
            </a:r>
            <a:endParaRPr lang="fr-CM" sz="32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34660016"/>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142240" y="187236"/>
            <a:ext cx="11287760" cy="738664"/>
          </a:xfrm>
          <a:prstGeom prst="rect">
            <a:avLst/>
          </a:prstGeom>
        </p:spPr>
        <p:txBody>
          <a:bodyPr wrap="square">
            <a:spAutoFit/>
          </a:bodyPr>
          <a:lstStyle/>
          <a:p>
            <a:pPr algn="ctr"/>
            <a:r>
              <a:rPr lang="fr-FR" sz="2400" b="1" dirty="0" smtClean="0">
                <a:latin typeface="Times New Roman" panose="02020603050405020304" pitchFamily="18" charset="0"/>
                <a:cs typeface="Times New Roman" panose="02020603050405020304" pitchFamily="18" charset="0"/>
              </a:rPr>
              <a:t>STRUCTURE TYPE D'UNE DESCRIPTION TEXTUELLE </a:t>
            </a:r>
          </a:p>
          <a:p>
            <a:endParaRPr lang="fr-FR" b="1" dirty="0"/>
          </a:p>
        </p:txBody>
      </p:sp>
      <p:sp>
        <p:nvSpPr>
          <p:cNvPr id="5" name="Rectangle 1"/>
          <p:cNvSpPr>
            <a:spLocks noChangeArrowheads="1"/>
          </p:cNvSpPr>
          <p:nvPr/>
        </p:nvSpPr>
        <p:spPr bwMode="auto">
          <a:xfrm>
            <a:off x="215631" y="764317"/>
            <a:ext cx="10856498" cy="62170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1. Nom du </a:t>
            </a:r>
            <a:r>
              <a:rPr kumimoji="0" lang="en-US" altLang="en-US"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Cas</a:t>
            </a:r>
            <a:r>
              <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d'Utilisation</a:t>
            </a:r>
            <a:endPar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Il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doit</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commencer par un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verbe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à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l'infinitif</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et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être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explicite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b="0" i="1"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Exemple</a:t>
            </a:r>
            <a:r>
              <a:rPr kumimoji="0" lang="en-US" altLang="en-US" b="0" i="1"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Surveiller</a:t>
            </a:r>
            <a:r>
              <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la charge des </a:t>
            </a:r>
            <a:r>
              <a:rPr kumimoji="0" lang="en-US" altLang="en-US"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cœurs</a:t>
            </a:r>
            <a:r>
              <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en</a:t>
            </a:r>
            <a:r>
              <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temps </a:t>
            </a:r>
            <a:r>
              <a:rPr kumimoji="0" lang="en-US" altLang="en-US"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réel</a:t>
            </a:r>
            <a:r>
              <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endPar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50000"/>
              </a:lnSpc>
              <a:spcBef>
                <a:spcPct val="0"/>
              </a:spcBef>
              <a:spcAft>
                <a:spcPct val="0"/>
              </a:spcAft>
              <a:buClrTx/>
              <a:buSzTx/>
              <a:buFontTx/>
              <a:buNone/>
              <a:tabLst/>
            </a:pPr>
            <a:endPar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2. </a:t>
            </a:r>
            <a:r>
              <a:rPr kumimoji="0" lang="en-US" altLang="en-US"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Objectif</a:t>
            </a:r>
            <a:r>
              <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du </a:t>
            </a:r>
            <a:r>
              <a:rPr kumimoji="0" lang="en-US" altLang="en-US"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Cas</a:t>
            </a:r>
            <a:endPar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Une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brève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explication du but recherché par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l'acteur</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en</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lançant</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cette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action.</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b="0" i="1"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Exemple</a:t>
            </a:r>
            <a:r>
              <a:rPr kumimoji="0" lang="en-US" altLang="en-US" b="0" i="1"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Permettre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à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l'utilisateur</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de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visualiser</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la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répartition</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de la charge de travail sur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chaque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processeur</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logique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50000"/>
              </a:lnSpc>
              <a:spcBef>
                <a:spcPct val="0"/>
              </a:spcBef>
              <a:spcAft>
                <a:spcPct val="0"/>
              </a:spcAft>
              <a:buClrTx/>
              <a:buSzTx/>
              <a:buFontTx/>
              <a:buNone/>
              <a:tabLst/>
            </a:pPr>
            <a:endPar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3. </a:t>
            </a:r>
            <a:r>
              <a:rPr kumimoji="0" lang="en-US" altLang="en-US"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Acteurs</a:t>
            </a:r>
            <a:endPar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Acteur</a:t>
            </a:r>
            <a:r>
              <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Principal :</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Celui</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qui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déclenche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l'action</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(ex: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Administrateur</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Acteurs</a:t>
            </a:r>
            <a:r>
              <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Secondaires</a:t>
            </a:r>
            <a:r>
              <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Ceux</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qui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assistent</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ou</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reçoivent</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des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données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(ex: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Noyau</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Linux).</a:t>
            </a:r>
          </a:p>
          <a:p>
            <a:pPr marL="0" marR="0" lvl="0" indent="0" algn="l" defTabSz="914400" rtl="0" eaLnBrk="0" fontAlgn="base" latinLnBrk="0" hangingPunct="0">
              <a:lnSpc>
                <a:spcPct val="150000"/>
              </a:lnSpc>
              <a:spcBef>
                <a:spcPct val="0"/>
              </a:spcBef>
              <a:spcAft>
                <a:spcPct val="0"/>
              </a:spcAft>
              <a:buClrTx/>
              <a:buSzTx/>
              <a:buFontTx/>
              <a:buNone/>
              <a:tabLst/>
            </a:pPr>
            <a:endPar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4. </a:t>
            </a:r>
            <a:r>
              <a:rPr kumimoji="0" lang="en-US" altLang="en-US"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Pré-supposés</a:t>
            </a:r>
            <a:r>
              <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Hypothèses</a:t>
            </a:r>
            <a:r>
              <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Ce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sont</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les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éléments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qui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sont</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considérés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comme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acquis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ou</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existants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avant</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même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le début du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cas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41887510"/>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
          <p:cNvSpPr>
            <a:spLocks noChangeArrowheads="1"/>
          </p:cNvSpPr>
          <p:nvPr/>
        </p:nvSpPr>
        <p:spPr bwMode="auto">
          <a:xfrm>
            <a:off x="274320" y="64329"/>
            <a:ext cx="11795760" cy="30008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5. </a:t>
            </a:r>
            <a:r>
              <a:rPr kumimoji="0" lang="en-US" altLang="en-US"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Pré</a:t>
            </a:r>
            <a:r>
              <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-conditions</a:t>
            </a: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L'état</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spécifique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dans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lequel</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doit</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se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trouver</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le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système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pour que le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cas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d'utilisation</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puisse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démarrer</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b="0" i="1"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Exemple</a:t>
            </a:r>
            <a:r>
              <a:rPr kumimoji="0" lang="en-US" altLang="en-US" b="0" i="1"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L'utilisateur</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doit</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posséder</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les droits de lecture sur les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fichiers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système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privilèges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root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ou</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membres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du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groupe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video/render pour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certaines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sondes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50000"/>
              </a:lnSpc>
              <a:spcBef>
                <a:spcPct val="0"/>
              </a:spcBef>
              <a:spcAft>
                <a:spcPct val="0"/>
              </a:spcAft>
              <a:buClrTx/>
              <a:buSzTx/>
              <a:buFontTx/>
              <a:buChar char="•"/>
              <a:tabLst/>
            </a:pPr>
            <a:endPar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6. </a:t>
            </a:r>
            <a:r>
              <a:rPr kumimoji="0" lang="en-US" altLang="en-US"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Scénario</a:t>
            </a:r>
            <a:r>
              <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Nominal (</a:t>
            </a:r>
            <a:r>
              <a:rPr kumimoji="0" lang="en-US" altLang="en-US"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Enchaînement</a:t>
            </a:r>
            <a:r>
              <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principal)</a:t>
            </a: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C’est</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le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chemin</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idéal</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où</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tout se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passe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sans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erreur</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Il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décrit</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les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étapes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chronologiques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p:txBody>
      </p:sp>
      <p:sp>
        <p:nvSpPr>
          <p:cNvPr id="6" name="Rectangle 2"/>
          <p:cNvSpPr>
            <a:spLocks noChangeArrowheads="1"/>
          </p:cNvSpPr>
          <p:nvPr/>
        </p:nvSpPr>
        <p:spPr bwMode="auto">
          <a:xfrm>
            <a:off x="274320" y="3381470"/>
            <a:ext cx="11308080" cy="30008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7. </a:t>
            </a:r>
            <a:r>
              <a:rPr kumimoji="0" lang="en-US" altLang="en-US"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Scénario</a:t>
            </a:r>
            <a:r>
              <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Alternatif</a:t>
            </a:r>
            <a:r>
              <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 </a:t>
            </a:r>
            <a:r>
              <a:rPr kumimoji="0" lang="en-US" altLang="en-US"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Exceptionnel</a:t>
            </a:r>
            <a:endPar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Il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décrit</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qui se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passe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en</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cas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de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comportement</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inhabituel</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ou</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d'erreur</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50000"/>
              </a:lnSpc>
              <a:spcBef>
                <a:spcPct val="0"/>
              </a:spcBef>
              <a:spcAft>
                <a:spcPct val="0"/>
              </a:spcAft>
              <a:buClrTx/>
              <a:buSzTx/>
              <a:buFontTx/>
              <a:buChar char="•"/>
              <a:tabLst/>
            </a:pPr>
            <a:r>
              <a:rPr kumimoji="0" lang="en-US" altLang="en-US"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Erreur</a:t>
            </a:r>
            <a:r>
              <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de lecture :</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Si le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fichier</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proc</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/stat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est</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inaccessible, le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système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affiche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un message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d'erreur</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et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retente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la lecture après 5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secondes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50000"/>
              </a:lnSpc>
              <a:spcBef>
                <a:spcPct val="0"/>
              </a:spcBef>
              <a:spcAft>
                <a:spcPct val="0"/>
              </a:spcAft>
              <a:buClrTx/>
              <a:buSzTx/>
              <a:buFontTx/>
              <a:buNone/>
              <a:tabLst/>
            </a:pPr>
            <a:endPar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endParaRP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8. Post-conditions</a:t>
            </a:r>
          </a:p>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L'état</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du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système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une</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fois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que le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cas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d'utilisation</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est</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terminé</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avec </a:t>
            </a:r>
            <a:r>
              <a:rPr kumimoji="0" lang="en-US" altLang="en-US"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succès</a:t>
            </a:r>
            <a:r>
              <a:rPr kumimoji="0" lang="en-US" altLang="en-US"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728168848"/>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leau 5"/>
          <p:cNvGraphicFramePr>
            <a:graphicFrameLocks noGrp="1"/>
          </p:cNvGraphicFramePr>
          <p:nvPr>
            <p:extLst>
              <p:ext uri="{D42A27DB-BD31-4B8C-83A1-F6EECF244321}">
                <p14:modId xmlns:p14="http://schemas.microsoft.com/office/powerpoint/2010/main" val="3300917132"/>
              </p:ext>
            </p:extLst>
          </p:nvPr>
        </p:nvGraphicFramePr>
        <p:xfrm>
          <a:off x="193963" y="233678"/>
          <a:ext cx="11757892" cy="5977192"/>
        </p:xfrm>
        <a:graphic>
          <a:graphicData uri="http://schemas.openxmlformats.org/drawingml/2006/table">
            <a:tbl>
              <a:tblPr firstRow="1" firstCol="1" bandRow="1">
                <a:tableStyleId>{5C22544A-7EE6-4342-B048-85BDC9FD1C3A}</a:tableStyleId>
              </a:tblPr>
              <a:tblGrid>
                <a:gridCol w="5878946">
                  <a:extLst>
                    <a:ext uri="{9D8B030D-6E8A-4147-A177-3AD203B41FA5}">
                      <a16:colId xmlns:a16="http://schemas.microsoft.com/office/drawing/2014/main" val="3246621911"/>
                    </a:ext>
                  </a:extLst>
                </a:gridCol>
                <a:gridCol w="5878946">
                  <a:extLst>
                    <a:ext uri="{9D8B030D-6E8A-4147-A177-3AD203B41FA5}">
                      <a16:colId xmlns:a16="http://schemas.microsoft.com/office/drawing/2014/main" val="2172479193"/>
                    </a:ext>
                  </a:extLst>
                </a:gridCol>
              </a:tblGrid>
              <a:tr h="179924">
                <a:tc>
                  <a:txBody>
                    <a:bodyPr/>
                    <a:lstStyle/>
                    <a:p>
                      <a:pPr>
                        <a:lnSpc>
                          <a:spcPct val="107000"/>
                        </a:lnSpc>
                        <a:spcAft>
                          <a:spcPts val="800"/>
                        </a:spcAft>
                      </a:pPr>
                      <a:r>
                        <a:rPr lang="en-US" sz="1200" dirty="0">
                          <a:effectLst/>
                          <a:latin typeface="Times New Roman" panose="02020603050405020304" pitchFamily="18" charset="0"/>
                          <a:cs typeface="Times New Roman" panose="02020603050405020304" pitchFamily="18" charset="0"/>
                        </a:rPr>
                        <a:t>Nom du </a:t>
                      </a:r>
                      <a:r>
                        <a:rPr lang="en-US" sz="1200" dirty="0" err="1">
                          <a:effectLst/>
                          <a:latin typeface="Times New Roman" panose="02020603050405020304" pitchFamily="18" charset="0"/>
                          <a:cs typeface="Times New Roman" panose="02020603050405020304" pitchFamily="18" charset="0"/>
                        </a:rPr>
                        <a:t>Cas</a:t>
                      </a:r>
                      <a:endParaRPr lang="en-US" sz="1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3213" marR="33213" marT="0" marB="0" anchor="ctr"/>
                </a:tc>
                <a:tc>
                  <a:txBody>
                    <a:bodyPr/>
                    <a:lstStyle/>
                    <a:p>
                      <a:pPr>
                        <a:lnSpc>
                          <a:spcPct val="107000"/>
                        </a:lnSpc>
                        <a:spcAft>
                          <a:spcPts val="800"/>
                        </a:spcAft>
                      </a:pPr>
                      <a:r>
                        <a:rPr lang="fr-FR" sz="1200" dirty="0">
                          <a:effectLst/>
                          <a:latin typeface="Times New Roman" panose="02020603050405020304" pitchFamily="18" charset="0"/>
                          <a:cs typeface="Times New Roman" panose="02020603050405020304" pitchFamily="18" charset="0"/>
                        </a:rPr>
                        <a:t>Visualiser les performances multiprocesseurs en temps réel.</a:t>
                      </a:r>
                      <a:endParaRPr lang="en-US" sz="1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3213" marR="33213" marT="0" marB="0" anchor="ctr"/>
                </a:tc>
                <a:extLst>
                  <a:ext uri="{0D108BD9-81ED-4DB2-BD59-A6C34878D82A}">
                    <a16:rowId xmlns:a16="http://schemas.microsoft.com/office/drawing/2014/main" val="3794403748"/>
                  </a:ext>
                </a:extLst>
              </a:tr>
              <a:tr h="559181">
                <a:tc>
                  <a:txBody>
                    <a:bodyPr/>
                    <a:lstStyle/>
                    <a:p>
                      <a:pPr>
                        <a:lnSpc>
                          <a:spcPct val="107000"/>
                        </a:lnSpc>
                        <a:spcAft>
                          <a:spcPts val="800"/>
                        </a:spcAft>
                      </a:pPr>
                      <a:r>
                        <a:rPr lang="en-US" sz="1200" dirty="0" err="1">
                          <a:effectLst/>
                          <a:latin typeface="Times New Roman" panose="02020603050405020304" pitchFamily="18" charset="0"/>
                          <a:cs typeface="Times New Roman" panose="02020603050405020304" pitchFamily="18" charset="0"/>
                        </a:rPr>
                        <a:t>Objectif</a:t>
                      </a:r>
                      <a:r>
                        <a:rPr lang="en-US" sz="1200" dirty="0">
                          <a:effectLst/>
                          <a:latin typeface="Times New Roman" panose="02020603050405020304" pitchFamily="18" charset="0"/>
                          <a:cs typeface="Times New Roman" panose="02020603050405020304" pitchFamily="18" charset="0"/>
                        </a:rPr>
                        <a:t> du </a:t>
                      </a:r>
                      <a:r>
                        <a:rPr lang="en-US" sz="1200" dirty="0" err="1">
                          <a:effectLst/>
                          <a:latin typeface="Times New Roman" panose="02020603050405020304" pitchFamily="18" charset="0"/>
                          <a:cs typeface="Times New Roman" panose="02020603050405020304" pitchFamily="18" charset="0"/>
                        </a:rPr>
                        <a:t>Cas</a:t>
                      </a:r>
                      <a:endParaRPr lang="en-US" sz="1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3213" marR="33213" marT="0" marB="0" anchor="ctr"/>
                </a:tc>
                <a:tc>
                  <a:txBody>
                    <a:bodyPr/>
                    <a:lstStyle/>
                    <a:p>
                      <a:pPr>
                        <a:lnSpc>
                          <a:spcPct val="107000"/>
                        </a:lnSpc>
                        <a:spcAft>
                          <a:spcPts val="800"/>
                        </a:spcAft>
                      </a:pPr>
                      <a:r>
                        <a:rPr lang="fr-FR" sz="1200">
                          <a:effectLst/>
                          <a:latin typeface="Times New Roman" panose="02020603050405020304" pitchFamily="18" charset="0"/>
                          <a:cs typeface="Times New Roman" panose="02020603050405020304" pitchFamily="18" charset="0"/>
                        </a:rPr>
                        <a:t>Permettre à l'utilisateur d'obtenir une représentation graphique et textuelle instantanée de l'état de santé et de la charge de travail de chaque cœur du processeur.</a:t>
                      </a:r>
                      <a:endParaRPr lang="en-US" sz="1200">
                        <a:effectLst/>
                        <a:latin typeface="Times New Roman" panose="02020603050405020304" pitchFamily="18" charset="0"/>
                        <a:ea typeface="Calibri" panose="020F0502020204030204" pitchFamily="34" charset="0"/>
                        <a:cs typeface="Times New Roman" panose="02020603050405020304" pitchFamily="18" charset="0"/>
                      </a:endParaRPr>
                    </a:p>
                  </a:txBody>
                  <a:tcPr marL="33213" marR="33213" marT="0" marB="0" anchor="ctr"/>
                </a:tc>
                <a:extLst>
                  <a:ext uri="{0D108BD9-81ED-4DB2-BD59-A6C34878D82A}">
                    <a16:rowId xmlns:a16="http://schemas.microsoft.com/office/drawing/2014/main" val="2960048649"/>
                  </a:ext>
                </a:extLst>
              </a:tr>
              <a:tr h="598176">
                <a:tc>
                  <a:txBody>
                    <a:bodyPr/>
                    <a:lstStyle/>
                    <a:p>
                      <a:pPr>
                        <a:lnSpc>
                          <a:spcPct val="107000"/>
                        </a:lnSpc>
                        <a:spcAft>
                          <a:spcPts val="800"/>
                        </a:spcAft>
                      </a:pPr>
                      <a:r>
                        <a:rPr lang="en-US" sz="1200" dirty="0" err="1">
                          <a:effectLst/>
                          <a:latin typeface="Times New Roman" panose="02020603050405020304" pitchFamily="18" charset="0"/>
                          <a:cs typeface="Times New Roman" panose="02020603050405020304" pitchFamily="18" charset="0"/>
                        </a:rPr>
                        <a:t>Acteurs</a:t>
                      </a:r>
                      <a:endParaRPr lang="en-US" sz="1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3213" marR="33213" marT="0" marB="0" anchor="ctr"/>
                </a:tc>
                <a:tc>
                  <a:txBody>
                    <a:bodyPr/>
                    <a:lstStyle/>
                    <a:p>
                      <a:pPr>
                        <a:lnSpc>
                          <a:spcPct val="115000"/>
                        </a:lnSpc>
                        <a:spcAft>
                          <a:spcPts val="800"/>
                        </a:spcAft>
                      </a:pPr>
                      <a:r>
                        <a:rPr lang="fr-FR" sz="1200" dirty="0">
                          <a:effectLst/>
                          <a:latin typeface="Times New Roman" panose="02020603050405020304" pitchFamily="18" charset="0"/>
                          <a:cs typeface="Times New Roman" panose="02020603050405020304" pitchFamily="18" charset="0"/>
                        </a:rPr>
                        <a:t>Principal : Utilisateur Standard </a:t>
                      </a:r>
                      <a:r>
                        <a:rPr lang="fr-FR" sz="1200" dirty="0" smtClean="0">
                          <a:effectLst/>
                          <a:latin typeface="Times New Roman" panose="02020603050405020304" pitchFamily="18" charset="0"/>
                          <a:cs typeface="Times New Roman" panose="02020603050405020304" pitchFamily="18" charset="0"/>
                        </a:rPr>
                        <a:t>et</a:t>
                      </a:r>
                      <a:r>
                        <a:rPr lang="fr-FR" sz="1200" baseline="0" dirty="0" smtClean="0">
                          <a:effectLst/>
                          <a:latin typeface="Times New Roman" panose="02020603050405020304" pitchFamily="18" charset="0"/>
                          <a:cs typeface="Times New Roman" panose="02020603050405020304" pitchFamily="18" charset="0"/>
                        </a:rPr>
                        <a:t> </a:t>
                      </a:r>
                      <a:r>
                        <a:rPr lang="fr-FR" sz="1200" dirty="0" smtClean="0">
                          <a:effectLst/>
                          <a:latin typeface="Times New Roman" panose="02020603050405020304" pitchFamily="18" charset="0"/>
                          <a:cs typeface="Times New Roman" panose="02020603050405020304" pitchFamily="18" charset="0"/>
                        </a:rPr>
                        <a:t>Administrateur</a:t>
                      </a:r>
                      <a:r>
                        <a:rPr lang="fr-FR" sz="1200" dirty="0">
                          <a:effectLst/>
                          <a:latin typeface="Times New Roman" panose="02020603050405020304" pitchFamily="18" charset="0"/>
                          <a:cs typeface="Times New Roman" panose="02020603050405020304" pitchFamily="18" charset="0"/>
                        </a:rPr>
                        <a:t>.</a:t>
                      </a:r>
                      <a:br>
                        <a:rPr lang="fr-FR" sz="1200" dirty="0">
                          <a:effectLst/>
                          <a:latin typeface="Times New Roman" panose="02020603050405020304" pitchFamily="18" charset="0"/>
                          <a:cs typeface="Times New Roman" panose="02020603050405020304" pitchFamily="18" charset="0"/>
                        </a:rPr>
                      </a:br>
                      <a:r>
                        <a:rPr lang="fr-FR" sz="1200" dirty="0">
                          <a:effectLst/>
                          <a:latin typeface="Times New Roman" panose="02020603050405020304" pitchFamily="18" charset="0"/>
                          <a:cs typeface="Times New Roman" panose="02020603050405020304" pitchFamily="18" charset="0"/>
                        </a:rPr>
                        <a:t>Secondaires : Noyau Linux (Fournisseur de données</a:t>
                      </a:r>
                      <a:r>
                        <a:rPr lang="fr-FR" sz="1200" dirty="0" smtClean="0">
                          <a:effectLst/>
                          <a:latin typeface="Times New Roman" panose="02020603050405020304" pitchFamily="18" charset="0"/>
                          <a:cs typeface="Times New Roman" panose="02020603050405020304" pitchFamily="18" charset="0"/>
                        </a:rPr>
                        <a:t>)</a:t>
                      </a:r>
                      <a:endParaRPr lang="en-US" sz="1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3213" marR="33213" marT="0" marB="0" anchor="ctr"/>
                </a:tc>
                <a:extLst>
                  <a:ext uri="{0D108BD9-81ED-4DB2-BD59-A6C34878D82A}">
                    <a16:rowId xmlns:a16="http://schemas.microsoft.com/office/drawing/2014/main" val="1604047225"/>
                  </a:ext>
                </a:extLst>
              </a:tr>
              <a:tr h="449304">
                <a:tc>
                  <a:txBody>
                    <a:bodyPr/>
                    <a:lstStyle/>
                    <a:p>
                      <a:pPr>
                        <a:lnSpc>
                          <a:spcPct val="107000"/>
                        </a:lnSpc>
                        <a:spcAft>
                          <a:spcPts val="800"/>
                        </a:spcAft>
                      </a:pPr>
                      <a:r>
                        <a:rPr lang="en-US" sz="1200" dirty="0" err="1">
                          <a:effectLst/>
                          <a:latin typeface="Times New Roman" panose="02020603050405020304" pitchFamily="18" charset="0"/>
                          <a:cs typeface="Times New Roman" panose="02020603050405020304" pitchFamily="18" charset="0"/>
                        </a:rPr>
                        <a:t>Pré-supposés</a:t>
                      </a:r>
                      <a:endParaRPr lang="en-US" sz="1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3213" marR="33213" marT="0" marB="0" anchor="ctr"/>
                </a:tc>
                <a:tc>
                  <a:txBody>
                    <a:bodyPr/>
                    <a:lstStyle/>
                    <a:p>
                      <a:pPr>
                        <a:lnSpc>
                          <a:spcPct val="115000"/>
                        </a:lnSpc>
                        <a:spcAft>
                          <a:spcPts val="800"/>
                        </a:spcAft>
                      </a:pPr>
                      <a:r>
                        <a:rPr lang="fr-FR" sz="1200" dirty="0">
                          <a:effectLst/>
                          <a:latin typeface="Times New Roman" panose="02020603050405020304" pitchFamily="18" charset="0"/>
                          <a:cs typeface="Times New Roman" panose="02020603050405020304" pitchFamily="18" charset="0"/>
                        </a:rPr>
                        <a:t>1. L'application est lancée sur une distribution Linux (</a:t>
                      </a:r>
                      <a:r>
                        <a:rPr lang="fr-FR" sz="1200" dirty="0" err="1">
                          <a:effectLst/>
                          <a:latin typeface="Times New Roman" panose="02020603050405020304" pitchFamily="18" charset="0"/>
                          <a:cs typeface="Times New Roman" panose="02020603050405020304" pitchFamily="18" charset="0"/>
                        </a:rPr>
                        <a:t>openSUSE</a:t>
                      </a:r>
                      <a:r>
                        <a:rPr lang="fr-FR" sz="1200" dirty="0">
                          <a:effectLst/>
                          <a:latin typeface="Times New Roman" panose="02020603050405020304" pitchFamily="18" charset="0"/>
                          <a:cs typeface="Times New Roman" panose="02020603050405020304" pitchFamily="18" charset="0"/>
                        </a:rPr>
                        <a:t>).</a:t>
                      </a:r>
                      <a:br>
                        <a:rPr lang="fr-FR" sz="1200" dirty="0">
                          <a:effectLst/>
                          <a:latin typeface="Times New Roman" panose="02020603050405020304" pitchFamily="18" charset="0"/>
                          <a:cs typeface="Times New Roman" panose="02020603050405020304" pitchFamily="18" charset="0"/>
                        </a:rPr>
                      </a:br>
                      <a:endParaRPr lang="en-US" sz="1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3213" marR="33213" marT="0" marB="0" anchor="ctr"/>
                </a:tc>
                <a:extLst>
                  <a:ext uri="{0D108BD9-81ED-4DB2-BD59-A6C34878D82A}">
                    <a16:rowId xmlns:a16="http://schemas.microsoft.com/office/drawing/2014/main" val="484514750"/>
                  </a:ext>
                </a:extLst>
              </a:tr>
              <a:tr h="299538">
                <a:tc>
                  <a:txBody>
                    <a:bodyPr/>
                    <a:lstStyle/>
                    <a:p>
                      <a:pPr>
                        <a:lnSpc>
                          <a:spcPct val="107000"/>
                        </a:lnSpc>
                        <a:spcAft>
                          <a:spcPts val="800"/>
                        </a:spcAft>
                      </a:pPr>
                      <a:r>
                        <a:rPr lang="en-US" sz="1200" dirty="0" err="1">
                          <a:effectLst/>
                          <a:latin typeface="Times New Roman" panose="02020603050405020304" pitchFamily="18" charset="0"/>
                          <a:cs typeface="Times New Roman" panose="02020603050405020304" pitchFamily="18" charset="0"/>
                        </a:rPr>
                        <a:t>Pré</a:t>
                      </a:r>
                      <a:r>
                        <a:rPr lang="en-US" sz="1200" dirty="0">
                          <a:effectLst/>
                          <a:latin typeface="Times New Roman" panose="02020603050405020304" pitchFamily="18" charset="0"/>
                          <a:cs typeface="Times New Roman" panose="02020603050405020304" pitchFamily="18" charset="0"/>
                        </a:rPr>
                        <a:t>-condition</a:t>
                      </a:r>
                      <a:endParaRPr lang="en-US" sz="1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3213" marR="33213" marT="0" marB="0" anchor="ctr"/>
                </a:tc>
                <a:tc>
                  <a:txBody>
                    <a:bodyPr/>
                    <a:lstStyle/>
                    <a:p>
                      <a:pPr>
                        <a:lnSpc>
                          <a:spcPct val="115000"/>
                        </a:lnSpc>
                        <a:spcAft>
                          <a:spcPts val="800"/>
                        </a:spcAft>
                      </a:pPr>
                      <a:r>
                        <a:rPr lang="fr-FR" sz="1200" dirty="0" smtClean="0">
                          <a:effectLst/>
                          <a:latin typeface="Times New Roman" panose="02020603050405020304" pitchFamily="18" charset="0"/>
                          <a:cs typeface="Times New Roman" panose="02020603050405020304" pitchFamily="18" charset="0"/>
                        </a:rPr>
                        <a:t>Le</a:t>
                      </a:r>
                      <a:r>
                        <a:rPr lang="fr-FR" sz="1200" baseline="0" dirty="0" smtClean="0">
                          <a:effectLst/>
                          <a:latin typeface="Times New Roman" panose="02020603050405020304" pitchFamily="18" charset="0"/>
                          <a:cs typeface="Times New Roman" panose="02020603050405020304" pitchFamily="18" charset="0"/>
                        </a:rPr>
                        <a:t> matériel est reconnu comme multiprocesseur</a:t>
                      </a:r>
                      <a:endParaRPr lang="en-US" sz="1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3213" marR="33213" marT="0" marB="0" anchor="ctr"/>
                </a:tc>
                <a:extLst>
                  <a:ext uri="{0D108BD9-81ED-4DB2-BD59-A6C34878D82A}">
                    <a16:rowId xmlns:a16="http://schemas.microsoft.com/office/drawing/2014/main" val="591348739"/>
                  </a:ext>
                </a:extLst>
              </a:tr>
              <a:tr h="1821542">
                <a:tc>
                  <a:txBody>
                    <a:bodyPr/>
                    <a:lstStyle/>
                    <a:p>
                      <a:pPr>
                        <a:lnSpc>
                          <a:spcPct val="107000"/>
                        </a:lnSpc>
                        <a:spcAft>
                          <a:spcPts val="800"/>
                        </a:spcAft>
                      </a:pPr>
                      <a:r>
                        <a:rPr lang="en-US" sz="1200" dirty="0" err="1">
                          <a:effectLst/>
                          <a:latin typeface="Times New Roman" panose="02020603050405020304" pitchFamily="18" charset="0"/>
                          <a:cs typeface="Times New Roman" panose="02020603050405020304" pitchFamily="18" charset="0"/>
                        </a:rPr>
                        <a:t>Scénario</a:t>
                      </a:r>
                      <a:r>
                        <a:rPr lang="en-US" sz="1200" dirty="0">
                          <a:effectLst/>
                          <a:latin typeface="Times New Roman" panose="02020603050405020304" pitchFamily="18" charset="0"/>
                          <a:cs typeface="Times New Roman" panose="02020603050405020304" pitchFamily="18" charset="0"/>
                        </a:rPr>
                        <a:t> Nominal</a:t>
                      </a:r>
                      <a:endParaRPr lang="en-US" sz="1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3213" marR="33213" marT="0" marB="0" anchor="ctr"/>
                </a:tc>
                <a:tc>
                  <a:txBody>
                    <a:bodyPr/>
                    <a:lstStyle/>
                    <a:p>
                      <a:pPr>
                        <a:lnSpc>
                          <a:spcPct val="115000"/>
                        </a:lnSpc>
                        <a:spcAft>
                          <a:spcPts val="800"/>
                        </a:spcAft>
                      </a:pPr>
                      <a:r>
                        <a:rPr lang="fr-FR" sz="1200" dirty="0" smtClean="0">
                          <a:effectLst/>
                          <a:latin typeface="Times New Roman" panose="02020603050405020304" pitchFamily="18" charset="0"/>
                          <a:cs typeface="Times New Roman" panose="02020603050405020304" pitchFamily="18" charset="0"/>
                        </a:rPr>
                        <a:t>1. L’administrateur</a:t>
                      </a:r>
                      <a:r>
                        <a:rPr lang="fr-FR" sz="1200" baseline="0" dirty="0" smtClean="0">
                          <a:effectLst/>
                          <a:latin typeface="Times New Roman" panose="02020603050405020304" pitchFamily="18" charset="0"/>
                          <a:cs typeface="Times New Roman" panose="02020603050405020304" pitchFamily="18" charset="0"/>
                        </a:rPr>
                        <a:t> sélectionne le mode « vue Temps Réels</a:t>
                      </a:r>
                      <a:r>
                        <a:rPr lang="fr-FR" sz="1200" dirty="0">
                          <a:effectLst/>
                          <a:latin typeface="Times New Roman" panose="02020603050405020304" pitchFamily="18" charset="0"/>
                          <a:cs typeface="Times New Roman" panose="02020603050405020304" pitchFamily="18" charset="0"/>
                        </a:rPr>
                        <a:t/>
                      </a:r>
                      <a:br>
                        <a:rPr lang="fr-FR" sz="1200" dirty="0">
                          <a:effectLst/>
                          <a:latin typeface="Times New Roman" panose="02020603050405020304" pitchFamily="18" charset="0"/>
                          <a:cs typeface="Times New Roman" panose="02020603050405020304" pitchFamily="18" charset="0"/>
                        </a:rPr>
                      </a:br>
                      <a:r>
                        <a:rPr lang="fr-FR" sz="1200" dirty="0">
                          <a:effectLst/>
                          <a:latin typeface="Times New Roman" panose="02020603050405020304" pitchFamily="18" charset="0"/>
                          <a:cs typeface="Times New Roman" panose="02020603050405020304" pitchFamily="18" charset="0"/>
                        </a:rPr>
                        <a:t>2. </a:t>
                      </a:r>
                      <a:r>
                        <a:rPr lang="fr-FR" sz="1200" dirty="0" smtClean="0">
                          <a:effectLst/>
                          <a:latin typeface="Times New Roman" panose="02020603050405020304" pitchFamily="18" charset="0"/>
                          <a:cs typeface="Times New Roman" panose="02020603050405020304" pitchFamily="18" charset="0"/>
                        </a:rPr>
                        <a:t>L’affichage est rafraichi</a:t>
                      </a:r>
                      <a:r>
                        <a:rPr lang="fr-FR" sz="1200" baseline="0" dirty="0" smtClean="0">
                          <a:effectLst/>
                          <a:latin typeface="Times New Roman" panose="02020603050405020304" pitchFamily="18" charset="0"/>
                          <a:cs typeface="Times New Roman" panose="02020603050405020304" pitchFamily="18" charset="0"/>
                        </a:rPr>
                        <a:t> selon l’intervalle</a:t>
                      </a:r>
                      <a:r>
                        <a:rPr lang="fr-FR" sz="1200" dirty="0" smtClean="0">
                          <a:effectLst/>
                          <a:latin typeface="Times New Roman" panose="02020603050405020304" pitchFamily="18" charset="0"/>
                          <a:cs typeface="Times New Roman" panose="02020603050405020304" pitchFamily="18" charset="0"/>
                        </a:rPr>
                        <a:t/>
                      </a:r>
                      <a:br>
                        <a:rPr lang="fr-FR" sz="1200" dirty="0" smtClean="0">
                          <a:effectLst/>
                          <a:latin typeface="Times New Roman" panose="02020603050405020304" pitchFamily="18" charset="0"/>
                          <a:cs typeface="Times New Roman" panose="02020603050405020304" pitchFamily="18" charset="0"/>
                        </a:rPr>
                      </a:br>
                      <a:r>
                        <a:rPr lang="fr-FR" sz="1200" dirty="0" smtClean="0">
                          <a:effectLst/>
                          <a:latin typeface="Times New Roman" panose="02020603050405020304" pitchFamily="18" charset="0"/>
                          <a:cs typeface="Times New Roman" panose="02020603050405020304" pitchFamily="18" charset="0"/>
                        </a:rPr>
                        <a:t>3</a:t>
                      </a:r>
                      <a:r>
                        <a:rPr lang="fr-FR" sz="1200" dirty="0">
                          <a:effectLst/>
                          <a:latin typeface="Times New Roman" panose="02020603050405020304" pitchFamily="18" charset="0"/>
                          <a:cs typeface="Times New Roman" panose="02020603050405020304" pitchFamily="18" charset="0"/>
                        </a:rPr>
                        <a:t>. </a:t>
                      </a:r>
                      <a:r>
                        <a:rPr lang="fr-FR" sz="1200" dirty="0" smtClean="0">
                          <a:effectLst/>
                          <a:latin typeface="Times New Roman" panose="02020603050405020304" pitchFamily="18" charset="0"/>
                          <a:cs typeface="Times New Roman" panose="02020603050405020304" pitchFamily="18" charset="0"/>
                        </a:rPr>
                        <a:t>Le</a:t>
                      </a:r>
                      <a:r>
                        <a:rPr lang="fr-FR" sz="1200" baseline="0" dirty="0" smtClean="0">
                          <a:effectLst/>
                          <a:latin typeface="Times New Roman" panose="02020603050405020304" pitchFamily="18" charset="0"/>
                          <a:cs typeface="Times New Roman" panose="02020603050405020304" pitchFamily="18" charset="0"/>
                        </a:rPr>
                        <a:t> système identifie le nombre de cœurs logiques présents sur la machine</a:t>
                      </a:r>
                      <a:r>
                        <a:rPr lang="fr-FR" sz="1200" dirty="0">
                          <a:effectLst/>
                          <a:latin typeface="Times New Roman" panose="02020603050405020304" pitchFamily="18" charset="0"/>
                          <a:cs typeface="Times New Roman" panose="02020603050405020304" pitchFamily="18" charset="0"/>
                        </a:rPr>
                        <a:t/>
                      </a:r>
                      <a:br>
                        <a:rPr lang="fr-FR" sz="1200" dirty="0">
                          <a:effectLst/>
                          <a:latin typeface="Times New Roman" panose="02020603050405020304" pitchFamily="18" charset="0"/>
                          <a:cs typeface="Times New Roman" panose="02020603050405020304" pitchFamily="18" charset="0"/>
                        </a:rPr>
                      </a:br>
                      <a:r>
                        <a:rPr lang="fr-FR" sz="1200" dirty="0">
                          <a:effectLst/>
                          <a:latin typeface="Times New Roman" panose="02020603050405020304" pitchFamily="18" charset="0"/>
                          <a:cs typeface="Times New Roman" panose="02020603050405020304" pitchFamily="18" charset="0"/>
                        </a:rPr>
                        <a:t>4. </a:t>
                      </a:r>
                      <a:r>
                        <a:rPr lang="fr-FR" sz="1200" dirty="0" smtClean="0">
                          <a:effectLst/>
                          <a:latin typeface="Times New Roman" panose="02020603050405020304" pitchFamily="18" charset="0"/>
                          <a:cs typeface="Times New Roman" panose="02020603050405020304" pitchFamily="18" charset="0"/>
                        </a:rPr>
                        <a:t>Le</a:t>
                      </a:r>
                      <a:r>
                        <a:rPr lang="fr-FR" sz="1200" baseline="0" dirty="0" smtClean="0">
                          <a:effectLst/>
                          <a:latin typeface="Times New Roman" panose="02020603050405020304" pitchFamily="18" charset="0"/>
                          <a:cs typeface="Times New Roman" panose="02020603050405020304" pitchFamily="18" charset="0"/>
                        </a:rPr>
                        <a:t> système extrait simultanément les données suivantes pour chaque cœur (l’utilisation ,la vitesse et la température)</a:t>
                      </a:r>
                      <a:r>
                        <a:rPr lang="fr-FR" sz="1200" dirty="0">
                          <a:effectLst/>
                          <a:latin typeface="Times New Roman" panose="02020603050405020304" pitchFamily="18" charset="0"/>
                          <a:cs typeface="Times New Roman" panose="02020603050405020304" pitchFamily="18" charset="0"/>
                        </a:rPr>
                        <a:t/>
                      </a:r>
                      <a:br>
                        <a:rPr lang="fr-FR" sz="1200" dirty="0">
                          <a:effectLst/>
                          <a:latin typeface="Times New Roman" panose="02020603050405020304" pitchFamily="18" charset="0"/>
                          <a:cs typeface="Times New Roman" panose="02020603050405020304" pitchFamily="18" charset="0"/>
                        </a:rPr>
                      </a:br>
                      <a:r>
                        <a:rPr lang="fr-FR" sz="1200" dirty="0">
                          <a:effectLst/>
                          <a:latin typeface="Times New Roman" panose="02020603050405020304" pitchFamily="18" charset="0"/>
                          <a:cs typeface="Times New Roman" panose="02020603050405020304" pitchFamily="18" charset="0"/>
                        </a:rPr>
                        <a:t>5. L'interface rafraîchit l'affichage pour l'utilisateur.</a:t>
                      </a:r>
                      <a:endParaRPr lang="en-US" sz="1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3213" marR="33213" marT="0" marB="0" anchor="ctr"/>
                </a:tc>
                <a:extLst>
                  <a:ext uri="{0D108BD9-81ED-4DB2-BD59-A6C34878D82A}">
                    <a16:rowId xmlns:a16="http://schemas.microsoft.com/office/drawing/2014/main" val="3307939033"/>
                  </a:ext>
                </a:extLst>
              </a:tr>
              <a:tr h="1617648">
                <a:tc>
                  <a:txBody>
                    <a:bodyPr/>
                    <a:lstStyle/>
                    <a:p>
                      <a:pPr>
                        <a:lnSpc>
                          <a:spcPct val="107000"/>
                        </a:lnSpc>
                        <a:spcAft>
                          <a:spcPts val="800"/>
                        </a:spcAft>
                      </a:pPr>
                      <a:r>
                        <a:rPr lang="en-US" sz="1200" dirty="0" smtClean="0">
                          <a:effectLst/>
                          <a:latin typeface="Times New Roman" panose="02020603050405020304" pitchFamily="18" charset="0"/>
                          <a:cs typeface="Times New Roman" panose="02020603050405020304" pitchFamily="18" charset="0"/>
                        </a:rPr>
                        <a:t>Scenario </a:t>
                      </a:r>
                      <a:r>
                        <a:rPr lang="en-US" sz="1200" dirty="0" err="1">
                          <a:effectLst/>
                          <a:latin typeface="Times New Roman" panose="02020603050405020304" pitchFamily="18" charset="0"/>
                          <a:cs typeface="Times New Roman" panose="02020603050405020304" pitchFamily="18" charset="0"/>
                        </a:rPr>
                        <a:t>Alternatif</a:t>
                      </a:r>
                      <a:r>
                        <a:rPr lang="en-US" sz="1200" dirty="0">
                          <a:effectLst/>
                          <a:latin typeface="Times New Roman" panose="02020603050405020304" pitchFamily="18" charset="0"/>
                          <a:cs typeface="Times New Roman" panose="02020603050405020304" pitchFamily="18" charset="0"/>
                        </a:rPr>
                        <a:t> / Exception</a:t>
                      </a:r>
                      <a:endParaRPr lang="en-US" sz="1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3213" marR="33213" marT="0" marB="0" anchor="ctr"/>
                </a:tc>
                <a:tc>
                  <a:txBody>
                    <a:bodyPr/>
                    <a:lstStyle/>
                    <a:p>
                      <a:pPr>
                        <a:lnSpc>
                          <a:spcPct val="115000"/>
                        </a:lnSpc>
                        <a:spcAft>
                          <a:spcPts val="800"/>
                        </a:spcAft>
                      </a:pPr>
                      <a:r>
                        <a:rPr lang="fr-FR" sz="1200" b="1" dirty="0" smtClean="0">
                          <a:effectLst/>
                          <a:latin typeface="Times New Roman" panose="02020603050405020304" pitchFamily="18" charset="0"/>
                          <a:cs typeface="Times New Roman" panose="02020603050405020304" pitchFamily="18" charset="0"/>
                        </a:rPr>
                        <a:t>S1</a:t>
                      </a:r>
                      <a:r>
                        <a:rPr lang="fr-FR" sz="1200" b="1" dirty="0">
                          <a:effectLst/>
                          <a:latin typeface="Times New Roman" panose="02020603050405020304" pitchFamily="18" charset="0"/>
                          <a:cs typeface="Times New Roman" panose="02020603050405020304" pitchFamily="18" charset="0"/>
                        </a:rPr>
                        <a:t>. </a:t>
                      </a:r>
                      <a:r>
                        <a:rPr lang="fr-FR" sz="1200" dirty="0">
                          <a:effectLst/>
                          <a:latin typeface="Times New Roman" panose="02020603050405020304" pitchFamily="18" charset="0"/>
                          <a:cs typeface="Times New Roman" panose="02020603050405020304" pitchFamily="18" charset="0"/>
                        </a:rPr>
                        <a:t>Données corrompues : Si une ligne </a:t>
                      </a:r>
                      <a:r>
                        <a:rPr lang="fr-FR" sz="1200" dirty="0" smtClean="0">
                          <a:effectLst/>
                          <a:latin typeface="Times New Roman" panose="02020603050405020304" pitchFamily="18" charset="0"/>
                          <a:cs typeface="Times New Roman" panose="02020603050405020304" pitchFamily="18" charset="0"/>
                        </a:rPr>
                        <a:t>lue</a:t>
                      </a:r>
                      <a:r>
                        <a:rPr lang="fr-FR" sz="1200" baseline="0" dirty="0" smtClean="0">
                          <a:effectLst/>
                          <a:latin typeface="Times New Roman" panose="02020603050405020304" pitchFamily="18" charset="0"/>
                          <a:cs typeface="Times New Roman" panose="02020603050405020304" pitchFamily="18" charset="0"/>
                        </a:rPr>
                        <a:t> par EBPF </a:t>
                      </a:r>
                      <a:r>
                        <a:rPr lang="fr-FR" sz="1200" dirty="0" smtClean="0">
                          <a:effectLst/>
                          <a:latin typeface="Times New Roman" panose="02020603050405020304" pitchFamily="18" charset="0"/>
                          <a:cs typeface="Times New Roman" panose="02020603050405020304" pitchFamily="18" charset="0"/>
                        </a:rPr>
                        <a:t>est </a:t>
                      </a:r>
                      <a:r>
                        <a:rPr lang="fr-FR" sz="1200" dirty="0">
                          <a:effectLst/>
                          <a:latin typeface="Times New Roman" panose="02020603050405020304" pitchFamily="18" charset="0"/>
                          <a:cs typeface="Times New Roman" panose="02020603050405020304" pitchFamily="18" charset="0"/>
                        </a:rPr>
                        <a:t>illisible, le système ignore le cycle actuel et conserve la dernière valeur connue.</a:t>
                      </a:r>
                      <a:br>
                        <a:rPr lang="fr-FR" sz="1200" dirty="0">
                          <a:effectLst/>
                          <a:latin typeface="Times New Roman" panose="02020603050405020304" pitchFamily="18" charset="0"/>
                          <a:cs typeface="Times New Roman" panose="02020603050405020304" pitchFamily="18" charset="0"/>
                        </a:rPr>
                      </a:br>
                      <a:r>
                        <a:rPr lang="fr-FR" sz="1200" b="1" dirty="0" smtClean="0">
                          <a:effectLst/>
                          <a:latin typeface="Times New Roman" panose="02020603050405020304" pitchFamily="18" charset="0"/>
                          <a:cs typeface="Times New Roman" panose="02020603050405020304" pitchFamily="18" charset="0"/>
                        </a:rPr>
                        <a:t>S2</a:t>
                      </a:r>
                      <a:r>
                        <a:rPr lang="fr-FR" sz="1200" dirty="0" smtClean="0">
                          <a:effectLst/>
                          <a:latin typeface="Times New Roman" panose="02020603050405020304" pitchFamily="18" charset="0"/>
                          <a:cs typeface="Times New Roman" panose="02020603050405020304" pitchFamily="18" charset="0"/>
                        </a:rPr>
                        <a:t>. </a:t>
                      </a:r>
                      <a:r>
                        <a:rPr lang="fr-FR" sz="1200" dirty="0">
                          <a:effectLst/>
                          <a:latin typeface="Times New Roman" panose="02020603050405020304" pitchFamily="18" charset="0"/>
                          <a:cs typeface="Times New Roman" panose="02020603050405020304" pitchFamily="18" charset="0"/>
                        </a:rPr>
                        <a:t>Permission refusée : Si l'accès aux sondes ACPI est bloqué, le système affiche "N/A" pour la température tout en continuant d'afficher la charge CPU.</a:t>
                      </a:r>
                      <a:endParaRPr lang="en-US" sz="1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3213" marR="33213" marT="0" marB="0" anchor="ctr"/>
                </a:tc>
                <a:extLst>
                  <a:ext uri="{0D108BD9-81ED-4DB2-BD59-A6C34878D82A}">
                    <a16:rowId xmlns:a16="http://schemas.microsoft.com/office/drawing/2014/main" val="3144424908"/>
                  </a:ext>
                </a:extLst>
              </a:tr>
              <a:tr h="449304">
                <a:tc>
                  <a:txBody>
                    <a:bodyPr/>
                    <a:lstStyle/>
                    <a:p>
                      <a:pPr>
                        <a:lnSpc>
                          <a:spcPct val="107000"/>
                        </a:lnSpc>
                        <a:spcAft>
                          <a:spcPts val="800"/>
                        </a:spcAft>
                      </a:pPr>
                      <a:r>
                        <a:rPr lang="en-US" sz="1200" dirty="0">
                          <a:effectLst/>
                          <a:latin typeface="Times New Roman" panose="02020603050405020304" pitchFamily="18" charset="0"/>
                          <a:cs typeface="Times New Roman" panose="02020603050405020304" pitchFamily="18" charset="0"/>
                        </a:rPr>
                        <a:t>Post-condition</a:t>
                      </a:r>
                      <a:endParaRPr lang="en-US" sz="1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3213" marR="33213" marT="0" marB="0" anchor="ctr"/>
                </a:tc>
                <a:tc>
                  <a:txBody>
                    <a:bodyPr/>
                    <a:lstStyle/>
                    <a:p>
                      <a:pPr>
                        <a:lnSpc>
                          <a:spcPct val="115000"/>
                        </a:lnSpc>
                        <a:spcAft>
                          <a:spcPts val="800"/>
                        </a:spcAft>
                      </a:pPr>
                      <a:r>
                        <a:rPr lang="fr-FR" sz="1200" dirty="0">
                          <a:effectLst/>
                          <a:latin typeface="Times New Roman" panose="02020603050405020304" pitchFamily="18" charset="0"/>
                          <a:cs typeface="Times New Roman" panose="02020603050405020304" pitchFamily="18" charset="0"/>
                        </a:rPr>
                        <a:t>Le tableau de bord affiche les données les plus récentes et le tampon d'historique (cache) est mis à jour pour le prochain tracé graphique.</a:t>
                      </a:r>
                      <a:endParaRPr lang="en-US" sz="1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33213" marR="33213" marT="0" marB="0" anchor="ctr"/>
                </a:tc>
                <a:extLst>
                  <a:ext uri="{0D108BD9-81ED-4DB2-BD59-A6C34878D82A}">
                    <a16:rowId xmlns:a16="http://schemas.microsoft.com/office/drawing/2014/main" val="783449344"/>
                  </a:ext>
                </a:extLst>
              </a:tr>
            </a:tbl>
          </a:graphicData>
        </a:graphic>
      </p:graphicFrame>
    </p:spTree>
    <p:extLst>
      <p:ext uri="{BB962C8B-B14F-4D97-AF65-F5344CB8AC3E}">
        <p14:creationId xmlns:p14="http://schemas.microsoft.com/office/powerpoint/2010/main" val="2052765297"/>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au 3"/>
          <p:cNvGraphicFramePr>
            <a:graphicFrameLocks noGrp="1"/>
          </p:cNvGraphicFramePr>
          <p:nvPr>
            <p:extLst>
              <p:ext uri="{D42A27DB-BD31-4B8C-83A1-F6EECF244321}">
                <p14:modId xmlns:p14="http://schemas.microsoft.com/office/powerpoint/2010/main" val="3687171983"/>
              </p:ext>
            </p:extLst>
          </p:nvPr>
        </p:nvGraphicFramePr>
        <p:xfrm>
          <a:off x="397162" y="586395"/>
          <a:ext cx="11249892" cy="5756532"/>
        </p:xfrm>
        <a:graphic>
          <a:graphicData uri="http://schemas.openxmlformats.org/drawingml/2006/table">
            <a:tbl>
              <a:tblPr firstRow="1" firstCol="1" bandRow="1">
                <a:tableStyleId>{5C22544A-7EE6-4342-B048-85BDC9FD1C3A}</a:tableStyleId>
              </a:tblPr>
              <a:tblGrid>
                <a:gridCol w="5624946">
                  <a:extLst>
                    <a:ext uri="{9D8B030D-6E8A-4147-A177-3AD203B41FA5}">
                      <a16:colId xmlns:a16="http://schemas.microsoft.com/office/drawing/2014/main" val="4195045906"/>
                    </a:ext>
                  </a:extLst>
                </a:gridCol>
                <a:gridCol w="5624946">
                  <a:extLst>
                    <a:ext uri="{9D8B030D-6E8A-4147-A177-3AD203B41FA5}">
                      <a16:colId xmlns:a16="http://schemas.microsoft.com/office/drawing/2014/main" val="4005337868"/>
                    </a:ext>
                  </a:extLst>
                </a:gridCol>
              </a:tblGrid>
              <a:tr h="236598">
                <a:tc>
                  <a:txBody>
                    <a:bodyPr/>
                    <a:lstStyle/>
                    <a:p>
                      <a:pPr>
                        <a:lnSpc>
                          <a:spcPct val="107000"/>
                        </a:lnSpc>
                        <a:spcAft>
                          <a:spcPts val="2400"/>
                        </a:spcAft>
                      </a:pPr>
                      <a:r>
                        <a:rPr lang="fr-FR" sz="1200" dirty="0">
                          <a:effectLst/>
                          <a:latin typeface="Times New Roman" panose="02020603050405020304" pitchFamily="18" charset="0"/>
                          <a:cs typeface="Times New Roman" panose="02020603050405020304" pitchFamily="18" charset="0"/>
                        </a:rPr>
                        <a:t>Nom du Cas</a:t>
                      </a:r>
                      <a:endParaRPr lang="en-US" sz="1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7543" marR="47543" marT="0" marB="0" anchor="ctr"/>
                </a:tc>
                <a:tc>
                  <a:txBody>
                    <a:bodyPr/>
                    <a:lstStyle/>
                    <a:p>
                      <a:pPr>
                        <a:lnSpc>
                          <a:spcPct val="107000"/>
                        </a:lnSpc>
                        <a:spcAft>
                          <a:spcPts val="2400"/>
                        </a:spcAft>
                      </a:pPr>
                      <a:r>
                        <a:rPr lang="fr-FR" sz="1200" dirty="0">
                          <a:effectLst/>
                          <a:latin typeface="Times New Roman" panose="02020603050405020304" pitchFamily="18" charset="0"/>
                          <a:cs typeface="Times New Roman" panose="02020603050405020304" pitchFamily="18" charset="0"/>
                        </a:rPr>
                        <a:t>Fournir les données système (Métriques CPU).</a:t>
                      </a:r>
                      <a:endParaRPr lang="en-US" sz="1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7543" marR="47543" marT="0" marB="0" anchor="ctr"/>
                </a:tc>
                <a:extLst>
                  <a:ext uri="{0D108BD9-81ED-4DB2-BD59-A6C34878D82A}">
                    <a16:rowId xmlns:a16="http://schemas.microsoft.com/office/drawing/2014/main" val="232456907"/>
                  </a:ext>
                </a:extLst>
              </a:tr>
              <a:tr h="473195">
                <a:tc>
                  <a:txBody>
                    <a:bodyPr/>
                    <a:lstStyle/>
                    <a:p>
                      <a:pPr>
                        <a:lnSpc>
                          <a:spcPct val="107000"/>
                        </a:lnSpc>
                        <a:spcAft>
                          <a:spcPts val="2400"/>
                        </a:spcAft>
                      </a:pPr>
                      <a:r>
                        <a:rPr lang="fr-FR" sz="1200" dirty="0">
                          <a:effectLst/>
                          <a:latin typeface="Times New Roman" panose="02020603050405020304" pitchFamily="18" charset="0"/>
                          <a:cs typeface="Times New Roman" panose="02020603050405020304" pitchFamily="18" charset="0"/>
                        </a:rPr>
                        <a:t>Objectif du Cas</a:t>
                      </a:r>
                      <a:endParaRPr lang="en-US" sz="1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7543" marR="47543" marT="0" marB="0" anchor="ctr"/>
                </a:tc>
                <a:tc>
                  <a:txBody>
                    <a:bodyPr/>
                    <a:lstStyle/>
                    <a:p>
                      <a:pPr>
                        <a:lnSpc>
                          <a:spcPct val="107000"/>
                        </a:lnSpc>
                        <a:spcAft>
                          <a:spcPts val="2400"/>
                        </a:spcAft>
                      </a:pPr>
                      <a:r>
                        <a:rPr lang="fr-FR" sz="1200">
                          <a:effectLst/>
                          <a:latin typeface="Times New Roman" panose="02020603050405020304" pitchFamily="18" charset="0"/>
                          <a:cs typeface="Times New Roman" panose="02020603050405020304" pitchFamily="18" charset="0"/>
                        </a:rPr>
                        <a:t>Extraire de manière brute et fiable les statistiques de performance du matériel pour les mettre à disposition du module d'analyse de l'application.</a:t>
                      </a:r>
                      <a:endParaRPr lang="en-US" sz="1200">
                        <a:effectLst/>
                        <a:latin typeface="Times New Roman" panose="02020603050405020304" pitchFamily="18" charset="0"/>
                        <a:ea typeface="Calibri" panose="020F0502020204030204" pitchFamily="34" charset="0"/>
                        <a:cs typeface="Times New Roman" panose="02020603050405020304" pitchFamily="18" charset="0"/>
                      </a:endParaRPr>
                    </a:p>
                  </a:txBody>
                  <a:tcPr marL="47543" marR="47543" marT="0" marB="0" anchor="ctr"/>
                </a:tc>
                <a:extLst>
                  <a:ext uri="{0D108BD9-81ED-4DB2-BD59-A6C34878D82A}">
                    <a16:rowId xmlns:a16="http://schemas.microsoft.com/office/drawing/2014/main" val="616312273"/>
                  </a:ext>
                </a:extLst>
              </a:tr>
              <a:tr h="236598">
                <a:tc>
                  <a:txBody>
                    <a:bodyPr/>
                    <a:lstStyle/>
                    <a:p>
                      <a:pPr>
                        <a:lnSpc>
                          <a:spcPct val="107000"/>
                        </a:lnSpc>
                        <a:spcAft>
                          <a:spcPts val="2400"/>
                        </a:spcAft>
                      </a:pPr>
                      <a:r>
                        <a:rPr lang="fr-FR" sz="1200">
                          <a:effectLst/>
                          <a:latin typeface="Times New Roman" panose="02020603050405020304" pitchFamily="18" charset="0"/>
                          <a:cs typeface="Times New Roman" panose="02020603050405020304" pitchFamily="18" charset="0"/>
                        </a:rPr>
                        <a:t>Acteurs</a:t>
                      </a:r>
                      <a:endParaRPr lang="en-US" sz="1200">
                        <a:effectLst/>
                        <a:latin typeface="Times New Roman" panose="02020603050405020304" pitchFamily="18" charset="0"/>
                        <a:ea typeface="Calibri" panose="020F0502020204030204" pitchFamily="34" charset="0"/>
                        <a:cs typeface="Times New Roman" panose="02020603050405020304" pitchFamily="18" charset="0"/>
                      </a:endParaRPr>
                    </a:p>
                  </a:txBody>
                  <a:tcPr marL="47543" marR="47543" marT="0" marB="0" anchor="ctr"/>
                </a:tc>
                <a:tc>
                  <a:txBody>
                    <a:bodyPr/>
                    <a:lstStyle/>
                    <a:p>
                      <a:r>
                        <a:rPr lang="fr-CM" sz="1200" dirty="0" smtClean="0">
                          <a:effectLst/>
                          <a:latin typeface="Times New Roman" panose="02020603050405020304" pitchFamily="18" charset="0"/>
                          <a:cs typeface="Times New Roman" panose="02020603050405020304" pitchFamily="18" charset="0"/>
                        </a:rPr>
                        <a:t>Secondaire</a:t>
                      </a:r>
                      <a:r>
                        <a:rPr lang="fr-CM" sz="1200" baseline="0" dirty="0" smtClean="0">
                          <a:effectLst/>
                          <a:latin typeface="Times New Roman" panose="02020603050405020304" pitchFamily="18" charset="0"/>
                          <a:cs typeface="Times New Roman" panose="02020603050405020304" pitchFamily="18" charset="0"/>
                        </a:rPr>
                        <a:t> </a:t>
                      </a:r>
                      <a:r>
                        <a:rPr lang="fr-CM" sz="1200" dirty="0" smtClean="0">
                          <a:effectLst/>
                          <a:latin typeface="Times New Roman" panose="02020603050405020304" pitchFamily="18" charset="0"/>
                          <a:cs typeface="Times New Roman" panose="02020603050405020304" pitchFamily="18" charset="0"/>
                        </a:rPr>
                        <a:t>: </a:t>
                      </a:r>
                      <a:r>
                        <a:rPr lang="fr-CM" sz="1200" dirty="0">
                          <a:effectLst/>
                          <a:latin typeface="Times New Roman" panose="02020603050405020304" pitchFamily="18" charset="0"/>
                          <a:cs typeface="Times New Roman" panose="02020603050405020304" pitchFamily="18" charset="0"/>
                        </a:rPr>
                        <a:t>Noyau Linux </a:t>
                      </a:r>
                      <a:endParaRPr lang="en-US" sz="12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47543" marR="47543" marT="0" marB="0" anchor="ctr"/>
                </a:tc>
                <a:extLst>
                  <a:ext uri="{0D108BD9-81ED-4DB2-BD59-A6C34878D82A}">
                    <a16:rowId xmlns:a16="http://schemas.microsoft.com/office/drawing/2014/main" val="88365349"/>
                  </a:ext>
                </a:extLst>
              </a:tr>
              <a:tr h="586814">
                <a:tc>
                  <a:txBody>
                    <a:bodyPr/>
                    <a:lstStyle/>
                    <a:p>
                      <a:pPr>
                        <a:lnSpc>
                          <a:spcPct val="107000"/>
                        </a:lnSpc>
                        <a:spcAft>
                          <a:spcPts val="0"/>
                        </a:spcAft>
                      </a:pPr>
                      <a:r>
                        <a:rPr lang="fr-FR" sz="1200" dirty="0" err="1">
                          <a:effectLst/>
                          <a:latin typeface="Times New Roman" panose="02020603050405020304" pitchFamily="18" charset="0"/>
                          <a:cs typeface="Times New Roman" panose="02020603050405020304" pitchFamily="18" charset="0"/>
                        </a:rPr>
                        <a:t>Pré-supposés</a:t>
                      </a:r>
                      <a:endParaRPr lang="en-US" sz="1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7543" marR="47543" marT="0" marB="0" anchor="ctr"/>
                </a:tc>
                <a:tc>
                  <a:txBody>
                    <a:bodyPr/>
                    <a:lstStyle/>
                    <a:p>
                      <a:r>
                        <a:rPr lang="fr-CM" sz="1200" dirty="0">
                          <a:effectLst/>
                          <a:latin typeface="Times New Roman" panose="02020603050405020304" pitchFamily="18" charset="0"/>
                          <a:cs typeface="Times New Roman" panose="02020603050405020304" pitchFamily="18" charset="0"/>
                        </a:rPr>
                        <a:t>1. Le processeur est actif et génère des compteurs de cycles.</a:t>
                      </a:r>
                      <a:endParaRPr lang="en-US" sz="1200" dirty="0">
                        <a:effectLst/>
                        <a:latin typeface="Times New Roman" panose="02020603050405020304" pitchFamily="18" charset="0"/>
                        <a:cs typeface="Times New Roman" panose="02020603050405020304" pitchFamily="18" charset="0"/>
                      </a:endParaRPr>
                    </a:p>
                    <a:p>
                      <a:r>
                        <a:rPr lang="fr-CM" sz="1200" dirty="0">
                          <a:effectLst/>
                          <a:latin typeface="Times New Roman" panose="02020603050405020304" pitchFamily="18" charset="0"/>
                          <a:cs typeface="Times New Roman" panose="02020603050405020304" pitchFamily="18" charset="0"/>
                        </a:rPr>
                        <a:t>2. Les drivers ACPI et thermiques sont chargés dans le noyau </a:t>
                      </a:r>
                      <a:r>
                        <a:rPr lang="fr-CM" sz="1200" dirty="0" err="1">
                          <a:effectLst/>
                          <a:latin typeface="Times New Roman" panose="02020603050405020304" pitchFamily="18" charset="0"/>
                          <a:cs typeface="Times New Roman" panose="02020603050405020304" pitchFamily="18" charset="0"/>
                        </a:rPr>
                        <a:t>openSUSE</a:t>
                      </a:r>
                      <a:r>
                        <a:rPr lang="fr-CM" sz="1200" dirty="0">
                          <a:effectLst/>
                          <a:latin typeface="Times New Roman" panose="02020603050405020304" pitchFamily="18" charset="0"/>
                          <a:cs typeface="Times New Roman" panose="02020603050405020304" pitchFamily="18" charset="0"/>
                        </a:rPr>
                        <a:t>.</a:t>
                      </a:r>
                      <a:endParaRPr lang="en-US" sz="12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47543" marR="47543" marT="0" marB="0" anchor="ctr"/>
                </a:tc>
                <a:extLst>
                  <a:ext uri="{0D108BD9-81ED-4DB2-BD59-A6C34878D82A}">
                    <a16:rowId xmlns:a16="http://schemas.microsoft.com/office/drawing/2014/main" val="1530710558"/>
                  </a:ext>
                </a:extLst>
              </a:tr>
              <a:tr h="473195">
                <a:tc>
                  <a:txBody>
                    <a:bodyPr/>
                    <a:lstStyle/>
                    <a:p>
                      <a:pPr>
                        <a:lnSpc>
                          <a:spcPct val="107000"/>
                        </a:lnSpc>
                        <a:spcAft>
                          <a:spcPts val="0"/>
                        </a:spcAft>
                      </a:pPr>
                      <a:r>
                        <a:rPr lang="fr-FR" sz="1200" dirty="0" err="1">
                          <a:effectLst/>
                          <a:latin typeface="Times New Roman" panose="02020603050405020304" pitchFamily="18" charset="0"/>
                          <a:cs typeface="Times New Roman" panose="02020603050405020304" pitchFamily="18" charset="0"/>
                        </a:rPr>
                        <a:t>Pré-condition</a:t>
                      </a:r>
                      <a:endParaRPr lang="en-US" sz="1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7543" marR="47543" marT="0" marB="0" anchor="ctr"/>
                </a:tc>
                <a:tc>
                  <a:txBody>
                    <a:bodyPr/>
                    <a:lstStyle/>
                    <a:p>
                      <a:pPr>
                        <a:lnSpc>
                          <a:spcPct val="107000"/>
                        </a:lnSpc>
                        <a:spcAft>
                          <a:spcPts val="0"/>
                        </a:spcAft>
                      </a:pPr>
                      <a:r>
                        <a:rPr lang="fr-FR" sz="1200" dirty="0">
                          <a:effectLst/>
                          <a:latin typeface="Times New Roman" panose="02020603050405020304" pitchFamily="18" charset="0"/>
                          <a:cs typeface="Times New Roman" panose="02020603050405020304" pitchFamily="18" charset="0"/>
                        </a:rPr>
                        <a:t>L'application a sollicité une requête de lecture ou le </a:t>
                      </a:r>
                      <a:r>
                        <a:rPr lang="fr-FR" sz="1200" dirty="0" err="1">
                          <a:effectLst/>
                          <a:latin typeface="Times New Roman" panose="02020603050405020304" pitchFamily="18" charset="0"/>
                          <a:cs typeface="Times New Roman" panose="02020603050405020304" pitchFamily="18" charset="0"/>
                        </a:rPr>
                        <a:t>timer</a:t>
                      </a:r>
                      <a:r>
                        <a:rPr lang="fr-FR" sz="1200" dirty="0">
                          <a:effectLst/>
                          <a:latin typeface="Times New Roman" panose="02020603050405020304" pitchFamily="18" charset="0"/>
                          <a:cs typeface="Times New Roman" panose="02020603050405020304" pitchFamily="18" charset="0"/>
                        </a:rPr>
                        <a:t> de rafraîchissement a expiré.</a:t>
                      </a:r>
                      <a:endParaRPr lang="en-US" sz="1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7543" marR="47543" marT="0" marB="0" anchor="ctr"/>
                </a:tc>
                <a:extLst>
                  <a:ext uri="{0D108BD9-81ED-4DB2-BD59-A6C34878D82A}">
                    <a16:rowId xmlns:a16="http://schemas.microsoft.com/office/drawing/2014/main" val="4232906683"/>
                  </a:ext>
                </a:extLst>
              </a:tr>
              <a:tr h="1768827">
                <a:tc>
                  <a:txBody>
                    <a:bodyPr/>
                    <a:lstStyle/>
                    <a:p>
                      <a:pPr>
                        <a:lnSpc>
                          <a:spcPct val="107000"/>
                        </a:lnSpc>
                        <a:spcAft>
                          <a:spcPts val="0"/>
                        </a:spcAft>
                      </a:pPr>
                      <a:r>
                        <a:rPr lang="fr-FR" sz="1200" dirty="0">
                          <a:effectLst/>
                          <a:latin typeface="Times New Roman" panose="02020603050405020304" pitchFamily="18" charset="0"/>
                          <a:cs typeface="Times New Roman" panose="02020603050405020304" pitchFamily="18" charset="0"/>
                        </a:rPr>
                        <a:t>Scénario Nominal</a:t>
                      </a:r>
                      <a:endParaRPr lang="en-US" sz="1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7543" marR="47543" marT="0" marB="0" anchor="ctr"/>
                </a:tc>
                <a:tc>
                  <a:txBody>
                    <a:bodyPr/>
                    <a:lstStyle/>
                    <a:p>
                      <a:r>
                        <a:rPr lang="fr-CM" sz="1200" dirty="0">
                          <a:effectLst/>
                          <a:latin typeface="Times New Roman" panose="02020603050405020304" pitchFamily="18" charset="0"/>
                          <a:cs typeface="Times New Roman" panose="02020603050405020304" pitchFamily="18" charset="0"/>
                        </a:rPr>
                        <a:t>1. Le Noyau Linux met à jour les fichiers virtuels en mémoire RAM.</a:t>
                      </a:r>
                      <a:endParaRPr lang="en-US" sz="1200" dirty="0">
                        <a:effectLst/>
                        <a:latin typeface="Times New Roman" panose="02020603050405020304" pitchFamily="18" charset="0"/>
                        <a:cs typeface="Times New Roman" panose="02020603050405020304" pitchFamily="18" charset="0"/>
                      </a:endParaRPr>
                    </a:p>
                    <a:p>
                      <a:r>
                        <a:rPr lang="fr-CM" sz="1200" dirty="0">
                          <a:effectLst/>
                          <a:latin typeface="Times New Roman" panose="02020603050405020304" pitchFamily="18" charset="0"/>
                          <a:cs typeface="Times New Roman" panose="02020603050405020304" pitchFamily="18" charset="0"/>
                        </a:rPr>
                        <a:t>2. Le module de collecte </a:t>
                      </a:r>
                      <a:r>
                        <a:rPr lang="fr-CM" sz="1200" dirty="0" smtClean="0">
                          <a:effectLst/>
                          <a:latin typeface="Times New Roman" panose="02020603050405020304" pitchFamily="18" charset="0"/>
                          <a:cs typeface="Times New Roman" panose="02020603050405020304" pitchFamily="18" charset="0"/>
                        </a:rPr>
                        <a:t>EBPF</a:t>
                      </a:r>
                      <a:r>
                        <a:rPr lang="fr-CM" sz="1200" baseline="0" dirty="0" smtClean="0">
                          <a:effectLst/>
                          <a:latin typeface="Times New Roman" panose="02020603050405020304" pitchFamily="18" charset="0"/>
                          <a:cs typeface="Times New Roman" panose="02020603050405020304" pitchFamily="18" charset="0"/>
                        </a:rPr>
                        <a:t> capture les performances du CPU</a:t>
                      </a:r>
                      <a:r>
                        <a:rPr lang="fr-CM" sz="1200" dirty="0" smtClean="0">
                          <a:effectLst/>
                          <a:latin typeface="Times New Roman" panose="02020603050405020304" pitchFamily="18" charset="0"/>
                          <a:cs typeface="Times New Roman" panose="02020603050405020304" pitchFamily="18" charset="0"/>
                        </a:rPr>
                        <a:t>.</a:t>
                      </a:r>
                      <a:endParaRPr lang="en-US" sz="1200" dirty="0">
                        <a:effectLst/>
                        <a:latin typeface="Times New Roman" panose="02020603050405020304" pitchFamily="18" charset="0"/>
                        <a:cs typeface="Times New Roman" panose="02020603050405020304" pitchFamily="18" charset="0"/>
                      </a:endParaRPr>
                    </a:p>
                    <a:p>
                      <a:r>
                        <a:rPr lang="fr-CM" sz="1200" dirty="0" smtClean="0">
                          <a:effectLst/>
                          <a:latin typeface="Times New Roman" panose="02020603050405020304" pitchFamily="18" charset="0"/>
                          <a:cs typeface="Times New Roman" panose="02020603050405020304" pitchFamily="18" charset="0"/>
                        </a:rPr>
                        <a:t>4</a:t>
                      </a:r>
                      <a:r>
                        <a:rPr lang="fr-CM" sz="1200" dirty="0">
                          <a:effectLst/>
                          <a:latin typeface="Times New Roman" panose="02020603050405020304" pitchFamily="18" charset="0"/>
                          <a:cs typeface="Times New Roman" panose="02020603050405020304" pitchFamily="18" charset="0"/>
                        </a:rPr>
                        <a:t>. Le </a:t>
                      </a:r>
                      <a:r>
                        <a:rPr lang="fr-CM" sz="1200" dirty="0" smtClean="0">
                          <a:effectLst/>
                          <a:latin typeface="Times New Roman" panose="02020603050405020304" pitchFamily="18" charset="0"/>
                          <a:cs typeface="Times New Roman" panose="02020603050405020304" pitchFamily="18" charset="0"/>
                        </a:rPr>
                        <a:t>module</a:t>
                      </a:r>
                      <a:r>
                        <a:rPr lang="fr-CM" sz="1200" baseline="0" dirty="0" smtClean="0">
                          <a:effectLst/>
                          <a:latin typeface="Times New Roman" panose="02020603050405020304" pitchFamily="18" charset="0"/>
                          <a:cs typeface="Times New Roman" panose="02020603050405020304" pitchFamily="18" charset="0"/>
                        </a:rPr>
                        <a:t> de collecte EBPF </a:t>
                      </a:r>
                      <a:r>
                        <a:rPr lang="fr-CM" sz="1200" dirty="0" smtClean="0">
                          <a:effectLst/>
                          <a:latin typeface="Times New Roman" panose="02020603050405020304" pitchFamily="18" charset="0"/>
                          <a:cs typeface="Times New Roman" panose="02020603050405020304" pitchFamily="18" charset="0"/>
                        </a:rPr>
                        <a:t> </a:t>
                      </a:r>
                      <a:r>
                        <a:rPr lang="fr-CM" sz="1200" dirty="0">
                          <a:effectLst/>
                          <a:latin typeface="Times New Roman" panose="02020603050405020304" pitchFamily="18" charset="0"/>
                          <a:cs typeface="Times New Roman" panose="02020603050405020304" pitchFamily="18" charset="0"/>
                        </a:rPr>
                        <a:t>extrait </a:t>
                      </a:r>
                      <a:r>
                        <a:rPr lang="fr-CM" sz="1200" dirty="0" smtClean="0">
                          <a:effectLst/>
                          <a:latin typeface="Times New Roman" panose="02020603050405020304" pitchFamily="18" charset="0"/>
                          <a:cs typeface="Times New Roman" panose="02020603050405020304" pitchFamily="18" charset="0"/>
                        </a:rPr>
                        <a:t> (capture) les </a:t>
                      </a:r>
                      <a:r>
                        <a:rPr lang="fr-CM" sz="1200" dirty="0">
                          <a:effectLst/>
                          <a:latin typeface="Times New Roman" panose="02020603050405020304" pitchFamily="18" charset="0"/>
                          <a:cs typeface="Times New Roman" panose="02020603050405020304" pitchFamily="18" charset="0"/>
                        </a:rPr>
                        <a:t>fréquences </a:t>
                      </a:r>
                      <a:r>
                        <a:rPr lang="fr-CM" sz="1200" dirty="0" smtClean="0">
                          <a:effectLst/>
                          <a:latin typeface="Times New Roman" panose="02020603050405020304" pitchFamily="18" charset="0"/>
                          <a:cs typeface="Times New Roman" panose="02020603050405020304" pitchFamily="18" charset="0"/>
                        </a:rPr>
                        <a:t>actuelles depuis en</a:t>
                      </a:r>
                      <a:r>
                        <a:rPr lang="fr-CM" sz="1200" baseline="0" dirty="0" smtClean="0">
                          <a:effectLst/>
                          <a:latin typeface="Times New Roman" panose="02020603050405020304" pitchFamily="18" charset="0"/>
                          <a:cs typeface="Times New Roman" panose="02020603050405020304" pitchFamily="18" charset="0"/>
                        </a:rPr>
                        <a:t> interagissant avec le noyau</a:t>
                      </a:r>
                      <a:endParaRPr lang="en-US" sz="1200" dirty="0">
                        <a:effectLst/>
                        <a:latin typeface="Times New Roman" panose="02020603050405020304" pitchFamily="18" charset="0"/>
                        <a:cs typeface="Times New Roman" panose="02020603050405020304" pitchFamily="18" charset="0"/>
                      </a:endParaRPr>
                    </a:p>
                    <a:p>
                      <a:r>
                        <a:rPr lang="fr-CM" sz="1200" dirty="0">
                          <a:effectLst/>
                          <a:latin typeface="Times New Roman" panose="02020603050405020304" pitchFamily="18" charset="0"/>
                          <a:cs typeface="Times New Roman" panose="02020603050405020304" pitchFamily="18" charset="0"/>
                        </a:rPr>
                        <a:t>5. Le Noyau transmet ce flux de données brutes vers le tampon (buffer) de l'application.</a:t>
                      </a:r>
                      <a:endParaRPr lang="en-US" sz="12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47543" marR="47543" marT="0" marB="0" anchor="ctr"/>
                </a:tc>
                <a:extLst>
                  <a:ext uri="{0D108BD9-81ED-4DB2-BD59-A6C34878D82A}">
                    <a16:rowId xmlns:a16="http://schemas.microsoft.com/office/drawing/2014/main" val="4286477545"/>
                  </a:ext>
                </a:extLst>
              </a:tr>
              <a:tr h="1508110">
                <a:tc>
                  <a:txBody>
                    <a:bodyPr/>
                    <a:lstStyle/>
                    <a:p>
                      <a:pPr>
                        <a:lnSpc>
                          <a:spcPct val="107000"/>
                        </a:lnSpc>
                        <a:spcAft>
                          <a:spcPts val="0"/>
                        </a:spcAft>
                      </a:pPr>
                      <a:r>
                        <a:rPr lang="fr-FR" sz="1200">
                          <a:effectLst/>
                          <a:latin typeface="Times New Roman" panose="02020603050405020304" pitchFamily="18" charset="0"/>
                          <a:cs typeface="Times New Roman" panose="02020603050405020304" pitchFamily="18" charset="0"/>
                        </a:rPr>
                        <a:t>Scénario Alternatif / Exception</a:t>
                      </a:r>
                      <a:endParaRPr lang="en-US" sz="1200">
                        <a:effectLst/>
                        <a:latin typeface="Times New Roman" panose="02020603050405020304" pitchFamily="18" charset="0"/>
                        <a:ea typeface="Calibri" panose="020F0502020204030204" pitchFamily="34" charset="0"/>
                        <a:cs typeface="Times New Roman" panose="02020603050405020304" pitchFamily="18" charset="0"/>
                      </a:endParaRPr>
                    </a:p>
                  </a:txBody>
                  <a:tcPr marL="47543" marR="47543" marT="0" marB="0" anchor="ctr"/>
                </a:tc>
                <a:tc>
                  <a:txBody>
                    <a:bodyPr/>
                    <a:lstStyle/>
                    <a:p>
                      <a:r>
                        <a:rPr lang="fr-CM" sz="1200" b="1" dirty="0" smtClean="0">
                          <a:effectLst/>
                          <a:latin typeface="Times New Roman" panose="02020603050405020304" pitchFamily="18" charset="0"/>
                          <a:cs typeface="Times New Roman" panose="02020603050405020304" pitchFamily="18" charset="0"/>
                        </a:rPr>
                        <a:t>S1</a:t>
                      </a:r>
                      <a:r>
                        <a:rPr lang="fr-CM" sz="1200" b="1" dirty="0">
                          <a:effectLst/>
                          <a:latin typeface="Times New Roman" panose="02020603050405020304" pitchFamily="18" charset="0"/>
                          <a:cs typeface="Times New Roman" panose="02020603050405020304" pitchFamily="18" charset="0"/>
                        </a:rPr>
                        <a:t>. </a:t>
                      </a:r>
                      <a:r>
                        <a:rPr lang="fr-CM" sz="1200" dirty="0">
                          <a:effectLst/>
                          <a:latin typeface="Times New Roman" panose="02020603050405020304" pitchFamily="18" charset="0"/>
                          <a:cs typeface="Times New Roman" panose="02020603050405020304" pitchFamily="18" charset="0"/>
                        </a:rPr>
                        <a:t>Fichier verrouillé ou absent : Si une ressource système est temporairement indisponible, le Noyau renvoie une erreur d'E/S (Input/Output </a:t>
                      </a:r>
                      <a:r>
                        <a:rPr lang="fr-CM" sz="1200" dirty="0" err="1">
                          <a:effectLst/>
                          <a:latin typeface="Times New Roman" panose="02020603050405020304" pitchFamily="18" charset="0"/>
                          <a:cs typeface="Times New Roman" panose="02020603050405020304" pitchFamily="18" charset="0"/>
                        </a:rPr>
                        <a:t>error</a:t>
                      </a:r>
                      <a:r>
                        <a:rPr lang="fr-CM" sz="1200" dirty="0">
                          <a:effectLst/>
                          <a:latin typeface="Times New Roman" panose="02020603050405020304" pitchFamily="18" charset="0"/>
                          <a:cs typeface="Times New Roman" panose="02020603050405020304" pitchFamily="18" charset="0"/>
                        </a:rPr>
                        <a:t>).</a:t>
                      </a:r>
                      <a:endParaRPr lang="en-US" sz="1200" dirty="0">
                        <a:effectLst/>
                        <a:latin typeface="Times New Roman" panose="02020603050405020304" pitchFamily="18" charset="0"/>
                        <a:cs typeface="Times New Roman" panose="02020603050405020304" pitchFamily="18" charset="0"/>
                      </a:endParaRPr>
                    </a:p>
                    <a:p>
                      <a:pPr>
                        <a:lnSpc>
                          <a:spcPct val="107000"/>
                        </a:lnSpc>
                        <a:spcAft>
                          <a:spcPts val="0"/>
                        </a:spcAft>
                      </a:pPr>
                      <a:r>
                        <a:rPr lang="fr-CM" sz="1200" b="1" dirty="0" smtClean="0">
                          <a:effectLst/>
                          <a:latin typeface="Times New Roman" panose="02020603050405020304" pitchFamily="18" charset="0"/>
                          <a:cs typeface="Times New Roman" panose="02020603050405020304" pitchFamily="18" charset="0"/>
                        </a:rPr>
                        <a:t>S2</a:t>
                      </a:r>
                      <a:r>
                        <a:rPr lang="fr-CM" sz="1200" dirty="0">
                          <a:effectLst/>
                          <a:latin typeface="Times New Roman" panose="02020603050405020304" pitchFamily="18" charset="0"/>
                          <a:cs typeface="Times New Roman" panose="02020603050405020304" pitchFamily="18" charset="0"/>
                        </a:rPr>
                        <a:t>. Données </a:t>
                      </a:r>
                      <a:r>
                        <a:rPr lang="fr-CM" sz="1200" dirty="0" err="1">
                          <a:effectLst/>
                          <a:latin typeface="Times New Roman" panose="02020603050405020304" pitchFamily="18" charset="0"/>
                          <a:cs typeface="Times New Roman" panose="02020603050405020304" pitchFamily="18" charset="0"/>
                        </a:rPr>
                        <a:t>non-mises</a:t>
                      </a:r>
                      <a:r>
                        <a:rPr lang="fr-CM" sz="1200" dirty="0">
                          <a:effectLst/>
                          <a:latin typeface="Times New Roman" panose="02020603050405020304" pitchFamily="18" charset="0"/>
                          <a:cs typeface="Times New Roman" panose="02020603050405020304" pitchFamily="18" charset="0"/>
                        </a:rPr>
                        <a:t> à jour : Si le processeur est dans un état de sommeil profond (C-State), le Noyau peut renvoyer des valeurs identiques au cycle précédent</a:t>
                      </a:r>
                      <a:r>
                        <a:rPr lang="fr-CM" sz="1200" dirty="0" smtClean="0">
                          <a:effectLst/>
                          <a:latin typeface="Times New Roman" panose="02020603050405020304" pitchFamily="18" charset="0"/>
                          <a:cs typeface="Times New Roman" panose="02020603050405020304" pitchFamily="18" charset="0"/>
                        </a:rPr>
                        <a:t>.</a:t>
                      </a:r>
                      <a:endParaRPr lang="en-US" sz="1200" dirty="0">
                        <a:effectLst/>
                        <a:latin typeface="Times New Roman" panose="02020603050405020304" pitchFamily="18" charset="0"/>
                        <a:cs typeface="Times New Roman" panose="02020603050405020304" pitchFamily="18" charset="0"/>
                      </a:endParaRPr>
                    </a:p>
                  </a:txBody>
                  <a:tcPr marL="47543" marR="47543" marT="0" marB="0" anchor="ctr"/>
                </a:tc>
                <a:extLst>
                  <a:ext uri="{0D108BD9-81ED-4DB2-BD59-A6C34878D82A}">
                    <a16:rowId xmlns:a16="http://schemas.microsoft.com/office/drawing/2014/main" val="2678277636"/>
                  </a:ext>
                </a:extLst>
              </a:tr>
              <a:tr h="473195">
                <a:tc>
                  <a:txBody>
                    <a:bodyPr/>
                    <a:lstStyle/>
                    <a:p>
                      <a:pPr>
                        <a:lnSpc>
                          <a:spcPct val="107000"/>
                        </a:lnSpc>
                        <a:spcAft>
                          <a:spcPts val="0"/>
                        </a:spcAft>
                      </a:pPr>
                      <a:r>
                        <a:rPr lang="fr-FR" sz="1200">
                          <a:effectLst/>
                          <a:latin typeface="Times New Roman" panose="02020603050405020304" pitchFamily="18" charset="0"/>
                          <a:cs typeface="Times New Roman" panose="02020603050405020304" pitchFamily="18" charset="0"/>
                        </a:rPr>
                        <a:t>Post-condition</a:t>
                      </a:r>
                      <a:endParaRPr lang="en-US" sz="1200">
                        <a:effectLst/>
                        <a:latin typeface="Times New Roman" panose="02020603050405020304" pitchFamily="18" charset="0"/>
                        <a:ea typeface="Calibri" panose="020F0502020204030204" pitchFamily="34" charset="0"/>
                        <a:cs typeface="Times New Roman" panose="02020603050405020304" pitchFamily="18" charset="0"/>
                      </a:endParaRPr>
                    </a:p>
                  </a:txBody>
                  <a:tcPr marL="47543" marR="47543" marT="0" marB="0" anchor="ctr"/>
                </a:tc>
                <a:tc>
                  <a:txBody>
                    <a:bodyPr/>
                    <a:lstStyle/>
                    <a:p>
                      <a:pPr>
                        <a:lnSpc>
                          <a:spcPct val="107000"/>
                        </a:lnSpc>
                        <a:spcAft>
                          <a:spcPts val="0"/>
                        </a:spcAft>
                      </a:pPr>
                      <a:r>
                        <a:rPr lang="fr-FR" sz="1200" dirty="0">
                          <a:effectLst/>
                          <a:latin typeface="Times New Roman" panose="02020603050405020304" pitchFamily="18" charset="0"/>
                          <a:cs typeface="Times New Roman" panose="02020603050405020304" pitchFamily="18" charset="0"/>
                        </a:rPr>
                        <a:t>Une structure de données brutes est chargée en mémoire, prête à être traitée par les algorithmes de calcul de l'application.</a:t>
                      </a:r>
                      <a:endParaRPr lang="en-US" sz="1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7543" marR="47543" marT="0" marB="0" anchor="ctr"/>
                </a:tc>
                <a:extLst>
                  <a:ext uri="{0D108BD9-81ED-4DB2-BD59-A6C34878D82A}">
                    <a16:rowId xmlns:a16="http://schemas.microsoft.com/office/drawing/2014/main" val="618110150"/>
                  </a:ext>
                </a:extLst>
              </a:tr>
            </a:tbl>
          </a:graphicData>
        </a:graphic>
      </p:graphicFrame>
    </p:spTree>
    <p:extLst>
      <p:ext uri="{BB962C8B-B14F-4D97-AF65-F5344CB8AC3E}">
        <p14:creationId xmlns:p14="http://schemas.microsoft.com/office/powerpoint/2010/main" val="4060791946"/>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au 3"/>
          <p:cNvGraphicFramePr>
            <a:graphicFrameLocks noGrp="1"/>
          </p:cNvGraphicFramePr>
          <p:nvPr>
            <p:extLst>
              <p:ext uri="{D42A27DB-BD31-4B8C-83A1-F6EECF244321}">
                <p14:modId xmlns:p14="http://schemas.microsoft.com/office/powerpoint/2010/main" val="687895630"/>
              </p:ext>
            </p:extLst>
          </p:nvPr>
        </p:nvGraphicFramePr>
        <p:xfrm>
          <a:off x="286327" y="590229"/>
          <a:ext cx="11748654" cy="5995766"/>
        </p:xfrm>
        <a:graphic>
          <a:graphicData uri="http://schemas.openxmlformats.org/drawingml/2006/table">
            <a:tbl>
              <a:tblPr firstRow="1" firstCol="1" bandRow="1">
                <a:tableStyleId>{5C22544A-7EE6-4342-B048-85BDC9FD1C3A}</a:tableStyleId>
              </a:tblPr>
              <a:tblGrid>
                <a:gridCol w="5874327">
                  <a:extLst>
                    <a:ext uri="{9D8B030D-6E8A-4147-A177-3AD203B41FA5}">
                      <a16:colId xmlns:a16="http://schemas.microsoft.com/office/drawing/2014/main" val="1466816440"/>
                    </a:ext>
                  </a:extLst>
                </a:gridCol>
                <a:gridCol w="5874327">
                  <a:extLst>
                    <a:ext uri="{9D8B030D-6E8A-4147-A177-3AD203B41FA5}">
                      <a16:colId xmlns:a16="http://schemas.microsoft.com/office/drawing/2014/main" val="681099190"/>
                    </a:ext>
                  </a:extLst>
                </a:gridCol>
              </a:tblGrid>
              <a:tr h="216461">
                <a:tc>
                  <a:txBody>
                    <a:bodyPr/>
                    <a:lstStyle/>
                    <a:p>
                      <a:pPr>
                        <a:lnSpc>
                          <a:spcPct val="107000"/>
                        </a:lnSpc>
                        <a:spcAft>
                          <a:spcPts val="0"/>
                        </a:spcAft>
                      </a:pPr>
                      <a:r>
                        <a:rPr lang="fr-FR" sz="1200">
                          <a:effectLst/>
                          <a:latin typeface="Times New Roman" panose="02020603050405020304" pitchFamily="18" charset="0"/>
                          <a:cs typeface="Times New Roman" panose="02020603050405020304" pitchFamily="18" charset="0"/>
                        </a:rPr>
                        <a:t>Nom du Cas</a:t>
                      </a:r>
                      <a:endParaRPr lang="en-US" sz="1200">
                        <a:effectLst/>
                        <a:latin typeface="Times New Roman" panose="02020603050405020304" pitchFamily="18" charset="0"/>
                        <a:ea typeface="Calibri" panose="020F0502020204030204" pitchFamily="34" charset="0"/>
                        <a:cs typeface="Times New Roman" panose="02020603050405020304" pitchFamily="18" charset="0"/>
                      </a:endParaRPr>
                    </a:p>
                  </a:txBody>
                  <a:tcPr marL="42745" marR="42745" marT="0" marB="0"/>
                </a:tc>
                <a:tc>
                  <a:txBody>
                    <a:bodyPr/>
                    <a:lstStyle/>
                    <a:p>
                      <a:pPr>
                        <a:lnSpc>
                          <a:spcPct val="107000"/>
                        </a:lnSpc>
                        <a:spcAft>
                          <a:spcPts val="0"/>
                        </a:spcAft>
                      </a:pPr>
                      <a:r>
                        <a:rPr lang="fr-FR" sz="1200">
                          <a:effectLst/>
                          <a:latin typeface="Times New Roman" panose="02020603050405020304" pitchFamily="18" charset="0"/>
                          <a:cs typeface="Times New Roman" panose="02020603050405020304" pitchFamily="18" charset="0"/>
                        </a:rPr>
                        <a:t>Exporter les rapports de performance.</a:t>
                      </a:r>
                      <a:endParaRPr lang="en-US" sz="1200">
                        <a:effectLst/>
                        <a:latin typeface="Times New Roman" panose="02020603050405020304" pitchFamily="18" charset="0"/>
                        <a:ea typeface="Calibri" panose="020F0502020204030204" pitchFamily="34" charset="0"/>
                        <a:cs typeface="Times New Roman" panose="02020603050405020304" pitchFamily="18" charset="0"/>
                      </a:endParaRPr>
                    </a:p>
                  </a:txBody>
                  <a:tcPr marL="42745" marR="42745" marT="0" marB="0"/>
                </a:tc>
                <a:extLst>
                  <a:ext uri="{0D108BD9-81ED-4DB2-BD59-A6C34878D82A}">
                    <a16:rowId xmlns:a16="http://schemas.microsoft.com/office/drawing/2014/main" val="3843057987"/>
                  </a:ext>
                </a:extLst>
              </a:tr>
              <a:tr h="436707">
                <a:tc>
                  <a:txBody>
                    <a:bodyPr/>
                    <a:lstStyle/>
                    <a:p>
                      <a:pPr>
                        <a:lnSpc>
                          <a:spcPct val="107000"/>
                        </a:lnSpc>
                        <a:spcAft>
                          <a:spcPts val="2400"/>
                        </a:spcAft>
                      </a:pPr>
                      <a:r>
                        <a:rPr lang="fr-FR" sz="1200">
                          <a:effectLst/>
                          <a:latin typeface="Times New Roman" panose="02020603050405020304" pitchFamily="18" charset="0"/>
                          <a:cs typeface="Times New Roman" panose="02020603050405020304" pitchFamily="18" charset="0"/>
                        </a:rPr>
                        <a:t>Objectif du Cas</a:t>
                      </a:r>
                      <a:endParaRPr lang="en-US" sz="1200">
                        <a:effectLst/>
                        <a:latin typeface="Times New Roman" panose="02020603050405020304" pitchFamily="18" charset="0"/>
                        <a:ea typeface="Calibri" panose="020F0502020204030204" pitchFamily="34" charset="0"/>
                        <a:cs typeface="Times New Roman" panose="02020603050405020304" pitchFamily="18" charset="0"/>
                      </a:endParaRPr>
                    </a:p>
                  </a:txBody>
                  <a:tcPr marL="42745" marR="42745" marT="0" marB="0" anchor="ctr"/>
                </a:tc>
                <a:tc>
                  <a:txBody>
                    <a:bodyPr/>
                    <a:lstStyle/>
                    <a:p>
                      <a:pPr>
                        <a:lnSpc>
                          <a:spcPct val="107000"/>
                        </a:lnSpc>
                        <a:spcAft>
                          <a:spcPts val="2400"/>
                        </a:spcAft>
                      </a:pPr>
                      <a:r>
                        <a:rPr lang="fr-FR" sz="1200">
                          <a:effectLst/>
                          <a:latin typeface="Times New Roman" panose="02020603050405020304" pitchFamily="18" charset="0"/>
                          <a:cs typeface="Times New Roman" panose="02020603050405020304" pitchFamily="18" charset="0"/>
                        </a:rPr>
                        <a:t>Permettre à l'utilisateur de sauvegarder les données de monitoring accumulées dans un fichier permanent pour analyse ou archivage.</a:t>
                      </a:r>
                      <a:endParaRPr lang="en-US" sz="1200">
                        <a:effectLst/>
                        <a:latin typeface="Times New Roman" panose="02020603050405020304" pitchFamily="18" charset="0"/>
                        <a:ea typeface="Calibri" panose="020F0502020204030204" pitchFamily="34" charset="0"/>
                        <a:cs typeface="Times New Roman" panose="02020603050405020304" pitchFamily="18" charset="0"/>
                      </a:endParaRPr>
                    </a:p>
                  </a:txBody>
                  <a:tcPr marL="42745" marR="42745" marT="0" marB="0" anchor="ctr"/>
                </a:tc>
                <a:extLst>
                  <a:ext uri="{0D108BD9-81ED-4DB2-BD59-A6C34878D82A}">
                    <a16:rowId xmlns:a16="http://schemas.microsoft.com/office/drawing/2014/main" val="515455928"/>
                  </a:ext>
                </a:extLst>
              </a:tr>
              <a:tr h="555518">
                <a:tc>
                  <a:txBody>
                    <a:bodyPr/>
                    <a:lstStyle/>
                    <a:p>
                      <a:pPr>
                        <a:lnSpc>
                          <a:spcPct val="107000"/>
                        </a:lnSpc>
                        <a:spcAft>
                          <a:spcPts val="2400"/>
                        </a:spcAft>
                      </a:pPr>
                      <a:r>
                        <a:rPr lang="fr-FR" sz="1200">
                          <a:effectLst/>
                          <a:latin typeface="Times New Roman" panose="02020603050405020304" pitchFamily="18" charset="0"/>
                          <a:cs typeface="Times New Roman" panose="02020603050405020304" pitchFamily="18" charset="0"/>
                        </a:rPr>
                        <a:t>Acteurs</a:t>
                      </a:r>
                      <a:endParaRPr lang="en-US" sz="1200">
                        <a:effectLst/>
                        <a:latin typeface="Times New Roman" panose="02020603050405020304" pitchFamily="18" charset="0"/>
                        <a:ea typeface="Calibri" panose="020F0502020204030204" pitchFamily="34" charset="0"/>
                        <a:cs typeface="Times New Roman" panose="02020603050405020304" pitchFamily="18" charset="0"/>
                      </a:endParaRPr>
                    </a:p>
                  </a:txBody>
                  <a:tcPr marL="42745" marR="42745" marT="0" marB="0" anchor="ctr"/>
                </a:tc>
                <a:tc>
                  <a:txBody>
                    <a:bodyPr/>
                    <a:lstStyle/>
                    <a:p>
                      <a:pPr>
                        <a:lnSpc>
                          <a:spcPct val="107000"/>
                        </a:lnSpc>
                        <a:spcAft>
                          <a:spcPts val="800"/>
                        </a:spcAft>
                      </a:pPr>
                      <a:r>
                        <a:rPr lang="fr-CM" sz="1200">
                          <a:effectLst/>
                          <a:latin typeface="Times New Roman" panose="02020603050405020304" pitchFamily="18" charset="0"/>
                          <a:cs typeface="Times New Roman" panose="02020603050405020304" pitchFamily="18" charset="0"/>
                        </a:rPr>
                        <a:t>Principal : Utilisateur Standard ou Administrateur. </a:t>
                      </a:r>
                      <a:endParaRPr lang="en-US" sz="1200">
                        <a:effectLst/>
                        <a:latin typeface="Times New Roman" panose="02020603050405020304" pitchFamily="18" charset="0"/>
                        <a:cs typeface="Times New Roman" panose="02020603050405020304" pitchFamily="18" charset="0"/>
                      </a:endParaRPr>
                    </a:p>
                    <a:p>
                      <a:pPr>
                        <a:lnSpc>
                          <a:spcPct val="107000"/>
                        </a:lnSpc>
                        <a:spcAft>
                          <a:spcPts val="800"/>
                        </a:spcAft>
                      </a:pPr>
                      <a:r>
                        <a:rPr lang="fr-CM" sz="1200">
                          <a:effectLst/>
                          <a:latin typeface="Times New Roman" panose="02020603050405020304" pitchFamily="18" charset="0"/>
                          <a:cs typeface="Times New Roman" panose="02020603050405020304" pitchFamily="18" charset="0"/>
                        </a:rPr>
                        <a:t>Secondaire : Système de fichiers (Stockage local).</a:t>
                      </a:r>
                      <a:endParaRPr lang="en-US" sz="1200">
                        <a:effectLst/>
                        <a:latin typeface="Times New Roman" panose="02020603050405020304" pitchFamily="18" charset="0"/>
                        <a:ea typeface="Calibri" panose="020F0502020204030204" pitchFamily="34" charset="0"/>
                        <a:cs typeface="Times New Roman" panose="02020603050405020304" pitchFamily="18" charset="0"/>
                      </a:endParaRPr>
                    </a:p>
                  </a:txBody>
                  <a:tcPr marL="42745" marR="42745" marT="0" marB="0" anchor="ctr"/>
                </a:tc>
                <a:extLst>
                  <a:ext uri="{0D108BD9-81ED-4DB2-BD59-A6C34878D82A}">
                    <a16:rowId xmlns:a16="http://schemas.microsoft.com/office/drawing/2014/main" val="1828920483"/>
                  </a:ext>
                </a:extLst>
              </a:tr>
              <a:tr h="574963">
                <a:tc>
                  <a:txBody>
                    <a:bodyPr/>
                    <a:lstStyle/>
                    <a:p>
                      <a:pPr>
                        <a:lnSpc>
                          <a:spcPct val="107000"/>
                        </a:lnSpc>
                        <a:spcAft>
                          <a:spcPts val="0"/>
                        </a:spcAft>
                      </a:pPr>
                      <a:r>
                        <a:rPr lang="fr-FR" sz="1200" dirty="0" err="1">
                          <a:effectLst/>
                          <a:latin typeface="Times New Roman" panose="02020603050405020304" pitchFamily="18" charset="0"/>
                          <a:cs typeface="Times New Roman" panose="02020603050405020304" pitchFamily="18" charset="0"/>
                        </a:rPr>
                        <a:t>Pré-supposés</a:t>
                      </a:r>
                      <a:endParaRPr lang="en-US" sz="1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2745" marR="42745" marT="0" marB="0" anchor="ctr"/>
                </a:tc>
                <a:tc>
                  <a:txBody>
                    <a:bodyPr/>
                    <a:lstStyle/>
                    <a:p>
                      <a:pPr>
                        <a:lnSpc>
                          <a:spcPct val="107000"/>
                        </a:lnSpc>
                        <a:spcAft>
                          <a:spcPts val="800"/>
                        </a:spcAft>
                      </a:pPr>
                      <a:r>
                        <a:rPr lang="fr-CM" sz="1200">
                          <a:effectLst/>
                          <a:latin typeface="Times New Roman" panose="02020603050405020304" pitchFamily="18" charset="0"/>
                          <a:cs typeface="Times New Roman" panose="02020603050405020304" pitchFamily="18" charset="0"/>
                        </a:rPr>
                        <a:t>1. L'application est active et a collecté des données en mémoire vive (RAM). </a:t>
                      </a:r>
                      <a:endParaRPr lang="en-US" sz="1200">
                        <a:effectLst/>
                        <a:latin typeface="Times New Roman" panose="02020603050405020304" pitchFamily="18" charset="0"/>
                        <a:cs typeface="Times New Roman" panose="02020603050405020304" pitchFamily="18" charset="0"/>
                      </a:endParaRPr>
                    </a:p>
                    <a:p>
                      <a:pPr>
                        <a:lnSpc>
                          <a:spcPct val="107000"/>
                        </a:lnSpc>
                        <a:spcAft>
                          <a:spcPts val="800"/>
                        </a:spcAft>
                      </a:pPr>
                      <a:r>
                        <a:rPr lang="fr-CM" sz="1200">
                          <a:effectLst/>
                          <a:latin typeface="Times New Roman" panose="02020603050405020304" pitchFamily="18" charset="0"/>
                          <a:cs typeface="Times New Roman" panose="02020603050405020304" pitchFamily="18" charset="0"/>
                        </a:rPr>
                        <a:t>2. Le support de stockage est monté et accessible sous openSUSE.</a:t>
                      </a:r>
                      <a:endParaRPr lang="en-US" sz="1200">
                        <a:effectLst/>
                        <a:latin typeface="Times New Roman" panose="02020603050405020304" pitchFamily="18" charset="0"/>
                        <a:ea typeface="Calibri" panose="020F0502020204030204" pitchFamily="34" charset="0"/>
                        <a:cs typeface="Times New Roman" panose="02020603050405020304" pitchFamily="18" charset="0"/>
                      </a:endParaRPr>
                    </a:p>
                  </a:txBody>
                  <a:tcPr marL="42745" marR="42745" marT="0" marB="0" anchor="ctr"/>
                </a:tc>
                <a:extLst>
                  <a:ext uri="{0D108BD9-81ED-4DB2-BD59-A6C34878D82A}">
                    <a16:rowId xmlns:a16="http://schemas.microsoft.com/office/drawing/2014/main" val="54097809"/>
                  </a:ext>
                </a:extLst>
              </a:tr>
              <a:tr h="348440">
                <a:tc>
                  <a:txBody>
                    <a:bodyPr/>
                    <a:lstStyle/>
                    <a:p>
                      <a:pPr>
                        <a:lnSpc>
                          <a:spcPct val="107000"/>
                        </a:lnSpc>
                        <a:spcAft>
                          <a:spcPts val="0"/>
                        </a:spcAft>
                      </a:pPr>
                      <a:r>
                        <a:rPr lang="fr-FR" sz="1200">
                          <a:effectLst/>
                          <a:latin typeface="Times New Roman" panose="02020603050405020304" pitchFamily="18" charset="0"/>
                          <a:cs typeface="Times New Roman" panose="02020603050405020304" pitchFamily="18" charset="0"/>
                        </a:rPr>
                        <a:t>Pré-condition</a:t>
                      </a:r>
                      <a:endParaRPr lang="en-US" sz="1200">
                        <a:effectLst/>
                        <a:latin typeface="Times New Roman" panose="02020603050405020304" pitchFamily="18" charset="0"/>
                        <a:ea typeface="Calibri" panose="020F0502020204030204" pitchFamily="34" charset="0"/>
                        <a:cs typeface="Times New Roman" panose="02020603050405020304" pitchFamily="18" charset="0"/>
                      </a:endParaRPr>
                    </a:p>
                  </a:txBody>
                  <a:tcPr marL="42745" marR="42745" marT="0" marB="0" anchor="ctr"/>
                </a:tc>
                <a:tc>
                  <a:txBody>
                    <a:bodyPr/>
                    <a:lstStyle/>
                    <a:p>
                      <a:pPr>
                        <a:lnSpc>
                          <a:spcPct val="107000"/>
                        </a:lnSpc>
                        <a:spcAft>
                          <a:spcPts val="0"/>
                        </a:spcAft>
                      </a:pPr>
                      <a:r>
                        <a:rPr lang="fr-FR" sz="1200">
                          <a:effectLst/>
                          <a:latin typeface="Times New Roman" panose="02020603050405020304" pitchFamily="18" charset="0"/>
                          <a:cs typeface="Times New Roman" panose="02020603050405020304" pitchFamily="18" charset="0"/>
                        </a:rPr>
                        <a:t>L'utilisateur a accédé à la section "Historique" ou "Rapports" de l'interface graphique.</a:t>
                      </a:r>
                      <a:endParaRPr lang="en-US" sz="1200">
                        <a:effectLst/>
                        <a:latin typeface="Times New Roman" panose="02020603050405020304" pitchFamily="18" charset="0"/>
                        <a:ea typeface="Calibri" panose="020F0502020204030204" pitchFamily="34" charset="0"/>
                        <a:cs typeface="Times New Roman" panose="02020603050405020304" pitchFamily="18" charset="0"/>
                      </a:endParaRPr>
                    </a:p>
                  </a:txBody>
                  <a:tcPr marL="42745" marR="42745" marT="0" marB="0" anchor="ctr"/>
                </a:tc>
                <a:extLst>
                  <a:ext uri="{0D108BD9-81ED-4DB2-BD59-A6C34878D82A}">
                    <a16:rowId xmlns:a16="http://schemas.microsoft.com/office/drawing/2014/main" val="2389240192"/>
                  </a:ext>
                </a:extLst>
              </a:tr>
              <a:tr h="1883014">
                <a:tc>
                  <a:txBody>
                    <a:bodyPr/>
                    <a:lstStyle/>
                    <a:p>
                      <a:pPr>
                        <a:lnSpc>
                          <a:spcPct val="107000"/>
                        </a:lnSpc>
                        <a:spcAft>
                          <a:spcPts val="0"/>
                        </a:spcAft>
                      </a:pPr>
                      <a:r>
                        <a:rPr lang="fr-FR" sz="1200" dirty="0">
                          <a:effectLst/>
                          <a:latin typeface="Times New Roman" panose="02020603050405020304" pitchFamily="18" charset="0"/>
                          <a:cs typeface="Times New Roman" panose="02020603050405020304" pitchFamily="18" charset="0"/>
                        </a:rPr>
                        <a:t>Scénario Nominal</a:t>
                      </a:r>
                      <a:endParaRPr lang="en-US" sz="1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2745" marR="42745" marT="0" marB="0" anchor="ctr"/>
                </a:tc>
                <a:tc>
                  <a:txBody>
                    <a:bodyPr/>
                    <a:lstStyle/>
                    <a:p>
                      <a:pPr>
                        <a:lnSpc>
                          <a:spcPct val="107000"/>
                        </a:lnSpc>
                        <a:spcAft>
                          <a:spcPts val="800"/>
                        </a:spcAft>
                      </a:pPr>
                      <a:r>
                        <a:rPr lang="fr-CM" sz="1200" dirty="0">
                          <a:effectLst/>
                          <a:latin typeface="Times New Roman" panose="02020603050405020304" pitchFamily="18" charset="0"/>
                          <a:cs typeface="Times New Roman" panose="02020603050405020304" pitchFamily="18" charset="0"/>
                        </a:rPr>
                        <a:t>1. L'utilisateur clique sur le bouton "Exporter". </a:t>
                      </a:r>
                      <a:endParaRPr lang="en-US" sz="1200" dirty="0">
                        <a:effectLst/>
                        <a:latin typeface="Times New Roman" panose="02020603050405020304" pitchFamily="18" charset="0"/>
                        <a:cs typeface="Times New Roman" panose="02020603050405020304" pitchFamily="18" charset="0"/>
                      </a:endParaRPr>
                    </a:p>
                    <a:p>
                      <a:pPr>
                        <a:lnSpc>
                          <a:spcPct val="107000"/>
                        </a:lnSpc>
                        <a:spcAft>
                          <a:spcPts val="800"/>
                        </a:spcAft>
                      </a:pPr>
                      <a:r>
                        <a:rPr lang="fr-CM" sz="1200" dirty="0">
                          <a:effectLst/>
                          <a:latin typeface="Times New Roman" panose="02020603050405020304" pitchFamily="18" charset="0"/>
                          <a:cs typeface="Times New Roman" panose="02020603050405020304" pitchFamily="18" charset="0"/>
                        </a:rPr>
                        <a:t>2. Le système affiche une boîte de dialogue pour choisir le format (CSV ou LOG). </a:t>
                      </a:r>
                      <a:endParaRPr lang="en-US" sz="1200" dirty="0">
                        <a:effectLst/>
                        <a:latin typeface="Times New Roman" panose="02020603050405020304" pitchFamily="18" charset="0"/>
                        <a:cs typeface="Times New Roman" panose="02020603050405020304" pitchFamily="18" charset="0"/>
                      </a:endParaRPr>
                    </a:p>
                    <a:p>
                      <a:pPr>
                        <a:lnSpc>
                          <a:spcPct val="107000"/>
                        </a:lnSpc>
                        <a:spcAft>
                          <a:spcPts val="0"/>
                        </a:spcAft>
                      </a:pPr>
                      <a:r>
                        <a:rPr lang="fr-CM" sz="1200" dirty="0">
                          <a:effectLst/>
                          <a:latin typeface="Times New Roman" panose="02020603050405020304" pitchFamily="18" charset="0"/>
                          <a:cs typeface="Times New Roman" panose="02020603050405020304" pitchFamily="18" charset="0"/>
                        </a:rPr>
                        <a:t>3. L'utilisateur sélectionne le répertoire de destination. </a:t>
                      </a:r>
                      <a:endParaRPr lang="en-US" sz="1200" dirty="0">
                        <a:effectLst/>
                        <a:latin typeface="Times New Roman" panose="02020603050405020304" pitchFamily="18" charset="0"/>
                        <a:cs typeface="Times New Roman" panose="02020603050405020304" pitchFamily="18" charset="0"/>
                      </a:endParaRPr>
                    </a:p>
                    <a:p>
                      <a:pPr>
                        <a:lnSpc>
                          <a:spcPct val="107000"/>
                        </a:lnSpc>
                        <a:spcAft>
                          <a:spcPts val="0"/>
                        </a:spcAft>
                      </a:pPr>
                      <a:r>
                        <a:rPr lang="fr-CM" sz="1200" dirty="0">
                          <a:effectLst/>
                          <a:latin typeface="Times New Roman" panose="02020603050405020304" pitchFamily="18" charset="0"/>
                          <a:cs typeface="Times New Roman" panose="02020603050405020304" pitchFamily="18" charset="0"/>
                        </a:rPr>
                        <a:t> </a:t>
                      </a:r>
                      <a:endParaRPr lang="en-US" sz="1200" dirty="0">
                        <a:effectLst/>
                        <a:latin typeface="Times New Roman" panose="02020603050405020304" pitchFamily="18" charset="0"/>
                        <a:cs typeface="Times New Roman" panose="02020603050405020304" pitchFamily="18" charset="0"/>
                      </a:endParaRPr>
                    </a:p>
                    <a:p>
                      <a:pPr>
                        <a:lnSpc>
                          <a:spcPct val="107000"/>
                        </a:lnSpc>
                        <a:spcAft>
                          <a:spcPts val="0"/>
                        </a:spcAft>
                      </a:pPr>
                      <a:r>
                        <a:rPr lang="fr-CM" sz="1200" dirty="0">
                          <a:effectLst/>
                          <a:latin typeface="Times New Roman" panose="02020603050405020304" pitchFamily="18" charset="0"/>
                          <a:cs typeface="Times New Roman" panose="02020603050405020304" pitchFamily="18" charset="0"/>
                        </a:rPr>
                        <a:t>4. Le système convertit les données du tampon mémoire au format choisi. </a:t>
                      </a:r>
                      <a:endParaRPr lang="en-US" sz="1200" dirty="0">
                        <a:effectLst/>
                        <a:latin typeface="Times New Roman" panose="02020603050405020304" pitchFamily="18" charset="0"/>
                        <a:cs typeface="Times New Roman" panose="02020603050405020304" pitchFamily="18" charset="0"/>
                      </a:endParaRPr>
                    </a:p>
                    <a:p>
                      <a:pPr>
                        <a:lnSpc>
                          <a:spcPct val="107000"/>
                        </a:lnSpc>
                        <a:spcAft>
                          <a:spcPts val="800"/>
                        </a:spcAft>
                      </a:pPr>
                      <a:r>
                        <a:rPr lang="fr-CM" sz="1200" dirty="0">
                          <a:effectLst/>
                          <a:latin typeface="Times New Roman" panose="02020603050405020304" pitchFamily="18" charset="0"/>
                          <a:cs typeface="Times New Roman" panose="02020603050405020304" pitchFamily="18" charset="0"/>
                        </a:rPr>
                        <a:t>5. Le système écrit le fichier sur le disque. </a:t>
                      </a:r>
                      <a:endParaRPr lang="en-US" sz="1200" dirty="0">
                        <a:effectLst/>
                        <a:latin typeface="Times New Roman" panose="02020603050405020304" pitchFamily="18" charset="0"/>
                        <a:cs typeface="Times New Roman" panose="02020603050405020304" pitchFamily="18" charset="0"/>
                      </a:endParaRPr>
                    </a:p>
                    <a:p>
                      <a:pPr>
                        <a:lnSpc>
                          <a:spcPct val="107000"/>
                        </a:lnSpc>
                        <a:spcAft>
                          <a:spcPts val="800"/>
                        </a:spcAft>
                      </a:pPr>
                      <a:r>
                        <a:rPr lang="fr-CM" sz="1200" dirty="0">
                          <a:effectLst/>
                          <a:latin typeface="Times New Roman" panose="02020603050405020304" pitchFamily="18" charset="0"/>
                          <a:cs typeface="Times New Roman" panose="02020603050405020304" pitchFamily="18" charset="0"/>
                        </a:rPr>
                        <a:t>6. Une notification confirme le succès de l'opération.</a:t>
                      </a:r>
                      <a:endParaRPr lang="en-US" sz="1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2745" marR="42745" marT="0" marB="0" anchor="ctr"/>
                </a:tc>
                <a:extLst>
                  <a:ext uri="{0D108BD9-81ED-4DB2-BD59-A6C34878D82A}">
                    <a16:rowId xmlns:a16="http://schemas.microsoft.com/office/drawing/2014/main" val="3399657840"/>
                  </a:ext>
                </a:extLst>
              </a:tr>
              <a:tr h="1543956">
                <a:tc>
                  <a:txBody>
                    <a:bodyPr/>
                    <a:lstStyle/>
                    <a:p>
                      <a:pPr>
                        <a:lnSpc>
                          <a:spcPct val="107000"/>
                        </a:lnSpc>
                        <a:spcAft>
                          <a:spcPts val="0"/>
                        </a:spcAft>
                      </a:pPr>
                      <a:r>
                        <a:rPr lang="fr-FR" sz="1200">
                          <a:effectLst/>
                          <a:latin typeface="Times New Roman" panose="02020603050405020304" pitchFamily="18" charset="0"/>
                          <a:cs typeface="Times New Roman" panose="02020603050405020304" pitchFamily="18" charset="0"/>
                        </a:rPr>
                        <a:t>Scénario Alternatif / Exception</a:t>
                      </a:r>
                      <a:endParaRPr lang="en-US" sz="1200">
                        <a:effectLst/>
                        <a:latin typeface="Times New Roman" panose="02020603050405020304" pitchFamily="18" charset="0"/>
                        <a:ea typeface="Calibri" panose="020F0502020204030204" pitchFamily="34" charset="0"/>
                        <a:cs typeface="Times New Roman" panose="02020603050405020304" pitchFamily="18" charset="0"/>
                      </a:endParaRPr>
                    </a:p>
                  </a:txBody>
                  <a:tcPr marL="42745" marR="42745" marT="0" marB="0" anchor="ctr"/>
                </a:tc>
                <a:tc>
                  <a:txBody>
                    <a:bodyPr/>
                    <a:lstStyle/>
                    <a:p>
                      <a:pPr>
                        <a:lnSpc>
                          <a:spcPct val="107000"/>
                        </a:lnSpc>
                        <a:spcAft>
                          <a:spcPts val="800"/>
                        </a:spcAft>
                      </a:pPr>
                      <a:r>
                        <a:rPr lang="fr-CM" sz="1200" b="1" dirty="0" smtClean="0">
                          <a:effectLst/>
                          <a:latin typeface="Times New Roman" panose="02020603050405020304" pitchFamily="18" charset="0"/>
                          <a:cs typeface="Times New Roman" panose="02020603050405020304" pitchFamily="18" charset="0"/>
                        </a:rPr>
                        <a:t>S1</a:t>
                      </a:r>
                      <a:r>
                        <a:rPr lang="fr-CM" sz="1200" b="1" dirty="0">
                          <a:effectLst/>
                          <a:latin typeface="Times New Roman" panose="02020603050405020304" pitchFamily="18" charset="0"/>
                          <a:cs typeface="Times New Roman" panose="02020603050405020304" pitchFamily="18" charset="0"/>
                        </a:rPr>
                        <a:t>. </a:t>
                      </a:r>
                      <a:r>
                        <a:rPr lang="fr-CM" sz="1200" dirty="0">
                          <a:effectLst/>
                          <a:latin typeface="Times New Roman" panose="02020603050405020304" pitchFamily="18" charset="0"/>
                          <a:cs typeface="Times New Roman" panose="02020603050405020304" pitchFamily="18" charset="0"/>
                        </a:rPr>
                        <a:t>Espace saturé : Si le disque est plein, le système affiche une erreur et annule l'exportation. </a:t>
                      </a:r>
                      <a:endParaRPr lang="en-US" sz="1200" dirty="0">
                        <a:effectLst/>
                        <a:latin typeface="Times New Roman" panose="02020603050405020304" pitchFamily="18" charset="0"/>
                        <a:cs typeface="Times New Roman" panose="02020603050405020304" pitchFamily="18" charset="0"/>
                      </a:endParaRPr>
                    </a:p>
                    <a:p>
                      <a:pPr>
                        <a:lnSpc>
                          <a:spcPct val="107000"/>
                        </a:lnSpc>
                        <a:spcAft>
                          <a:spcPts val="800"/>
                        </a:spcAft>
                      </a:pPr>
                      <a:r>
                        <a:rPr lang="fr-CM" sz="1200" b="1" dirty="0" smtClean="0">
                          <a:effectLst/>
                          <a:latin typeface="Times New Roman" panose="02020603050405020304" pitchFamily="18" charset="0"/>
                          <a:cs typeface="Times New Roman" panose="02020603050405020304" pitchFamily="18" charset="0"/>
                        </a:rPr>
                        <a:t>S2. </a:t>
                      </a:r>
                      <a:r>
                        <a:rPr lang="fr-CM" sz="1200" dirty="0" smtClean="0">
                          <a:effectLst/>
                          <a:latin typeface="Times New Roman" panose="02020603050405020304" pitchFamily="18" charset="0"/>
                          <a:cs typeface="Times New Roman" panose="02020603050405020304" pitchFamily="18" charset="0"/>
                        </a:rPr>
                        <a:t>Format </a:t>
                      </a:r>
                      <a:r>
                        <a:rPr lang="fr-CM" sz="1200" dirty="0">
                          <a:effectLst/>
                          <a:latin typeface="Times New Roman" panose="02020603050405020304" pitchFamily="18" charset="0"/>
                          <a:cs typeface="Times New Roman" panose="02020603050405020304" pitchFamily="18" charset="0"/>
                        </a:rPr>
                        <a:t>non supporté : Si l'extension de fichier est invalide, le système impose l'extension .csv par défaut.</a:t>
                      </a:r>
                      <a:endParaRPr lang="en-US" sz="1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2745" marR="42745" marT="0" marB="0" anchor="ctr"/>
                </a:tc>
                <a:extLst>
                  <a:ext uri="{0D108BD9-81ED-4DB2-BD59-A6C34878D82A}">
                    <a16:rowId xmlns:a16="http://schemas.microsoft.com/office/drawing/2014/main" val="2011724886"/>
                  </a:ext>
                </a:extLst>
              </a:tr>
              <a:tr h="436707">
                <a:tc>
                  <a:txBody>
                    <a:bodyPr/>
                    <a:lstStyle/>
                    <a:p>
                      <a:pPr>
                        <a:lnSpc>
                          <a:spcPct val="107000"/>
                        </a:lnSpc>
                        <a:spcAft>
                          <a:spcPts val="0"/>
                        </a:spcAft>
                      </a:pPr>
                      <a:r>
                        <a:rPr lang="fr-FR" sz="1200">
                          <a:effectLst/>
                          <a:latin typeface="Times New Roman" panose="02020603050405020304" pitchFamily="18" charset="0"/>
                          <a:cs typeface="Times New Roman" panose="02020603050405020304" pitchFamily="18" charset="0"/>
                        </a:rPr>
                        <a:t>Post-condition</a:t>
                      </a:r>
                      <a:endParaRPr lang="en-US" sz="1200">
                        <a:effectLst/>
                        <a:latin typeface="Times New Roman" panose="02020603050405020304" pitchFamily="18" charset="0"/>
                        <a:ea typeface="Calibri" panose="020F0502020204030204" pitchFamily="34" charset="0"/>
                        <a:cs typeface="Times New Roman" panose="02020603050405020304" pitchFamily="18" charset="0"/>
                      </a:endParaRPr>
                    </a:p>
                  </a:txBody>
                  <a:tcPr marL="42745" marR="42745" marT="0" marB="0" anchor="ctr"/>
                </a:tc>
                <a:tc>
                  <a:txBody>
                    <a:bodyPr/>
                    <a:lstStyle/>
                    <a:p>
                      <a:pPr>
                        <a:lnSpc>
                          <a:spcPct val="107000"/>
                        </a:lnSpc>
                        <a:spcAft>
                          <a:spcPts val="0"/>
                        </a:spcAft>
                      </a:pPr>
                      <a:r>
                        <a:rPr lang="fr-FR" sz="1200" dirty="0">
                          <a:effectLst/>
                          <a:latin typeface="Times New Roman" panose="02020603050405020304" pitchFamily="18" charset="0"/>
                          <a:cs typeface="Times New Roman" panose="02020603050405020304" pitchFamily="18" charset="0"/>
                        </a:rPr>
                        <a:t>Un fichier de données structuré est créé et disponible pour être ouvert par des outils tiers (ex: </a:t>
                      </a:r>
                      <a:r>
                        <a:rPr lang="fr-FR" sz="1200" dirty="0" err="1">
                          <a:effectLst/>
                          <a:latin typeface="Times New Roman" panose="02020603050405020304" pitchFamily="18" charset="0"/>
                          <a:cs typeface="Times New Roman" panose="02020603050405020304" pitchFamily="18" charset="0"/>
                        </a:rPr>
                        <a:t>LibreOffice</a:t>
                      </a:r>
                      <a:r>
                        <a:rPr lang="fr-FR" sz="1200" dirty="0">
                          <a:effectLst/>
                          <a:latin typeface="Times New Roman" panose="02020603050405020304" pitchFamily="18" charset="0"/>
                          <a:cs typeface="Times New Roman" panose="02020603050405020304" pitchFamily="18" charset="0"/>
                        </a:rPr>
                        <a:t> </a:t>
                      </a:r>
                      <a:r>
                        <a:rPr lang="fr-FR" sz="1200" dirty="0" err="1">
                          <a:effectLst/>
                          <a:latin typeface="Times New Roman" panose="02020603050405020304" pitchFamily="18" charset="0"/>
                          <a:cs typeface="Times New Roman" panose="02020603050405020304" pitchFamily="18" charset="0"/>
                        </a:rPr>
                        <a:t>Calc</a:t>
                      </a:r>
                      <a:r>
                        <a:rPr lang="fr-FR" sz="1200" dirty="0">
                          <a:effectLst/>
                          <a:latin typeface="Times New Roman" panose="02020603050405020304" pitchFamily="18" charset="0"/>
                          <a:cs typeface="Times New Roman" panose="02020603050405020304" pitchFamily="18" charset="0"/>
                        </a:rPr>
                        <a:t>).</a:t>
                      </a:r>
                      <a:endParaRPr lang="en-US" sz="1200" dirty="0">
                        <a:effectLst/>
                        <a:latin typeface="Times New Roman" panose="02020603050405020304" pitchFamily="18" charset="0"/>
                        <a:ea typeface="Calibri" panose="020F0502020204030204" pitchFamily="34" charset="0"/>
                        <a:cs typeface="Times New Roman" panose="02020603050405020304" pitchFamily="18" charset="0"/>
                      </a:endParaRPr>
                    </a:p>
                  </a:txBody>
                  <a:tcPr marL="42745" marR="42745" marT="0" marB="0" anchor="ctr"/>
                </a:tc>
                <a:extLst>
                  <a:ext uri="{0D108BD9-81ED-4DB2-BD59-A6C34878D82A}">
                    <a16:rowId xmlns:a16="http://schemas.microsoft.com/office/drawing/2014/main" val="323574958"/>
                  </a:ext>
                </a:extLst>
              </a:tr>
            </a:tbl>
          </a:graphicData>
        </a:graphic>
      </p:graphicFrame>
    </p:spTree>
    <p:extLst>
      <p:ext uri="{BB962C8B-B14F-4D97-AF65-F5344CB8AC3E}">
        <p14:creationId xmlns:p14="http://schemas.microsoft.com/office/powerpoint/2010/main" val="56047159"/>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1"/>
          <p:cNvSpPr txBox="1">
            <a:spLocks/>
          </p:cNvSpPr>
          <p:nvPr/>
        </p:nvSpPr>
        <p:spPr>
          <a:xfrm>
            <a:off x="1465620" y="2460972"/>
            <a:ext cx="9087168" cy="800100"/>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3400" b="1" i="0" kern="1200" cap="all">
                <a:solidFill>
                  <a:schemeClr val="tx1"/>
                </a:solidFill>
                <a:effectLst>
                  <a:outerShdw blurRad="50800" dist="63500" dir="2700000" algn="tl" rotWithShape="0">
                    <a:srgbClr val="000000">
                      <a:alpha val="48000"/>
                    </a:srgbClr>
                  </a:outerShdw>
                </a:effectLst>
                <a:latin typeface="+mj-lt"/>
                <a:ea typeface="+mj-ea"/>
                <a:cs typeface="+mj-cs"/>
              </a:defRPr>
            </a:lvl1pPr>
          </a:lstStyle>
          <a:p>
            <a:pPr>
              <a:lnSpc>
                <a:spcPct val="150000"/>
              </a:lnSpc>
            </a:pPr>
            <a:r>
              <a:rPr lang="en-US" sz="4400" dirty="0" smtClean="0">
                <a:effectLst/>
                <a:latin typeface="Times New Roman" panose="02020603050405020304" pitchFamily="18" charset="0"/>
                <a:cs typeface="Times New Roman" panose="02020603050405020304" pitchFamily="18" charset="0"/>
              </a:rPr>
              <a:t>v. MODELISATION UML </a:t>
            </a:r>
            <a:endParaRPr lang="fr-FR" sz="4400" dirty="0">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0633440"/>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oneTexte 1"/>
          <p:cNvSpPr txBox="1"/>
          <p:nvPr/>
        </p:nvSpPr>
        <p:spPr>
          <a:xfrm>
            <a:off x="2944553" y="0"/>
            <a:ext cx="6553200" cy="523220"/>
          </a:xfrm>
          <a:prstGeom prst="rect">
            <a:avLst/>
          </a:prstGeom>
          <a:noFill/>
        </p:spPr>
        <p:txBody>
          <a:bodyPr wrap="square" rtlCol="0">
            <a:spAutoFit/>
          </a:bodyPr>
          <a:lstStyle/>
          <a:p>
            <a:pPr algn="ctr"/>
            <a:r>
              <a:rPr lang="fr-CM" sz="2800" b="1" dirty="0" smtClean="0">
                <a:latin typeface="Times New Roman" panose="02020603050405020304" pitchFamily="18" charset="0"/>
                <a:cs typeface="Times New Roman" panose="02020603050405020304" pitchFamily="18" charset="0"/>
              </a:rPr>
              <a:t>1. Use case global</a:t>
            </a:r>
            <a:endParaRPr lang="fr-CM" sz="2800" b="1" dirty="0">
              <a:latin typeface="Times New Roman" panose="02020603050405020304" pitchFamily="18" charset="0"/>
              <a:cs typeface="Times New Roman" panose="02020603050405020304" pitchFamily="18" charset="0"/>
            </a:endParaRPr>
          </a:p>
        </p:txBody>
      </p:sp>
      <p:sp>
        <p:nvSpPr>
          <p:cNvPr id="5" name="ZoneTexte 4"/>
          <p:cNvSpPr txBox="1"/>
          <p:nvPr/>
        </p:nvSpPr>
        <p:spPr>
          <a:xfrm>
            <a:off x="-548640" y="776177"/>
            <a:ext cx="12166482" cy="5092995"/>
          </a:xfrm>
          <a:prstGeom prst="rect">
            <a:avLst/>
          </a:prstGeom>
          <a:noFill/>
        </p:spPr>
        <p:txBody>
          <a:bodyPr wrap="square" rtlCol="0">
            <a:spAutoFit/>
          </a:bodyPr>
          <a:lstStyle/>
          <a:p>
            <a:endParaRPr lang="fr-CM" dirty="0"/>
          </a:p>
        </p:txBody>
      </p:sp>
      <p:pic>
        <p:nvPicPr>
          <p:cNvPr id="4" name="Image 3"/>
          <p:cNvPicPr>
            <a:picLocks noChangeAspect="1"/>
          </p:cNvPicPr>
          <p:nvPr/>
        </p:nvPicPr>
        <p:blipFill>
          <a:blip r:embed="rId3"/>
          <a:stretch>
            <a:fillRect/>
          </a:stretch>
        </p:blipFill>
        <p:spPr>
          <a:xfrm>
            <a:off x="944880" y="523220"/>
            <a:ext cx="15087601" cy="9248002"/>
          </a:xfrm>
          <a:prstGeom prst="rect">
            <a:avLst/>
          </a:prstGeom>
        </p:spPr>
      </p:pic>
    </p:spTree>
    <p:extLst>
      <p:ext uri="{BB962C8B-B14F-4D97-AF65-F5344CB8AC3E}">
        <p14:creationId xmlns:p14="http://schemas.microsoft.com/office/powerpoint/2010/main" val="201437026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txBox="1">
            <a:spLocks/>
          </p:cNvSpPr>
          <p:nvPr/>
        </p:nvSpPr>
        <p:spPr>
          <a:xfrm>
            <a:off x="1692130" y="131618"/>
            <a:ext cx="8689976" cy="800100"/>
          </a:xfrm>
          <a:prstGeom prst="rect">
            <a:avLst/>
          </a:prstGeom>
        </p:spPr>
        <p:txBody>
          <a:bodyPr>
            <a:normAutofit/>
          </a:bodyPr>
          <a:lstStyle>
            <a:lvl1pPr algn="ctr" defTabSz="914400" rtl="0" eaLnBrk="1" latinLnBrk="0" hangingPunct="1">
              <a:lnSpc>
                <a:spcPct val="90000"/>
              </a:lnSpc>
              <a:spcBef>
                <a:spcPct val="0"/>
              </a:spcBef>
              <a:buNone/>
              <a:defRPr sz="3400" b="1" i="0" kern="1200" cap="all">
                <a:solidFill>
                  <a:schemeClr val="tx1"/>
                </a:solidFill>
                <a:effectLst>
                  <a:outerShdw blurRad="50800" dist="63500" dir="2700000" algn="tl" rotWithShape="0">
                    <a:srgbClr val="000000">
                      <a:alpha val="48000"/>
                    </a:srgbClr>
                  </a:outerShdw>
                </a:effectLst>
                <a:latin typeface="+mj-lt"/>
                <a:ea typeface="+mj-ea"/>
                <a:cs typeface="+mj-cs"/>
              </a:defRPr>
            </a:lvl1pPr>
          </a:lstStyle>
          <a:p>
            <a:r>
              <a:rPr lang="fr-FR" sz="3200" dirty="0" smtClean="0">
                <a:effectLst/>
                <a:latin typeface="Times New Roman" panose="02020603050405020304" pitchFamily="18" charset="0"/>
                <a:cs typeface="Times New Roman" panose="02020603050405020304" pitchFamily="18" charset="0"/>
              </a:rPr>
              <a:t>CONCLUSION</a:t>
            </a:r>
            <a:endParaRPr lang="fr-FR" sz="3200" dirty="0">
              <a:effectLst/>
              <a:latin typeface="Times New Roman" panose="02020603050405020304" pitchFamily="18" charset="0"/>
              <a:cs typeface="Times New Roman" panose="02020603050405020304" pitchFamily="18" charset="0"/>
            </a:endParaRPr>
          </a:p>
        </p:txBody>
      </p:sp>
      <p:sp>
        <p:nvSpPr>
          <p:cNvPr id="3" name="Rectangle 2"/>
          <p:cNvSpPr/>
          <p:nvPr/>
        </p:nvSpPr>
        <p:spPr>
          <a:xfrm>
            <a:off x="489527" y="1009640"/>
            <a:ext cx="10668000" cy="2585323"/>
          </a:xfrm>
          <a:prstGeom prst="rect">
            <a:avLst/>
          </a:prstGeom>
        </p:spPr>
        <p:txBody>
          <a:bodyPr wrap="square">
            <a:spAutoFit/>
          </a:bodyPr>
          <a:lstStyle/>
          <a:p>
            <a:pPr algn="just">
              <a:lnSpc>
                <a:spcPct val="150000"/>
              </a:lnSpc>
            </a:pPr>
            <a:r>
              <a:rPr lang="fr-FR" dirty="0" smtClean="0">
                <a:latin typeface="Times New Roman" panose="02020603050405020304" pitchFamily="18" charset="0"/>
                <a:cs typeface="Times New Roman" panose="02020603050405020304" pitchFamily="18" charset="0"/>
              </a:rPr>
              <a:t>	Cette </a:t>
            </a:r>
            <a:r>
              <a:rPr lang="fr-FR" dirty="0">
                <a:latin typeface="Times New Roman" panose="02020603050405020304" pitchFamily="18" charset="0"/>
                <a:cs typeface="Times New Roman" panose="02020603050405020304" pitchFamily="18" charset="0"/>
              </a:rPr>
              <a:t>étude détaillée des cas d'utilisation finalise la phase d'analyse fonctionnelle en structurant les interactions entre l'utilisateur, le système </a:t>
            </a:r>
            <a:r>
              <a:rPr lang="fr-FR" dirty="0" err="1">
                <a:latin typeface="Times New Roman" panose="02020603050405020304" pitchFamily="18" charset="0"/>
                <a:cs typeface="Times New Roman" panose="02020603050405020304" pitchFamily="18" charset="0"/>
              </a:rPr>
              <a:t>openSUSE</a:t>
            </a:r>
            <a:r>
              <a:rPr lang="fr-FR" dirty="0">
                <a:latin typeface="Times New Roman" panose="02020603050405020304" pitchFamily="18" charset="0"/>
                <a:cs typeface="Times New Roman" panose="02020603050405020304" pitchFamily="18" charset="0"/>
              </a:rPr>
              <a:t> et le matériel. En définissant précisément les scénarios nominaux et alternatifs pour chaque acteur </a:t>
            </a:r>
            <a:r>
              <a:rPr lang="fr-FR" dirty="0" smtClean="0">
                <a:latin typeface="Times New Roman" panose="02020603050405020304" pitchFamily="18" charset="0"/>
                <a:cs typeface="Times New Roman" panose="02020603050405020304" pitchFamily="18" charset="0"/>
              </a:rPr>
              <a:t>du </a:t>
            </a:r>
            <a:r>
              <a:rPr lang="fr-FR" dirty="0">
                <a:latin typeface="Times New Roman" panose="02020603050405020304" pitchFamily="18" charset="0"/>
                <a:cs typeface="Times New Roman" panose="02020603050405020304" pitchFamily="18" charset="0"/>
              </a:rPr>
              <a:t>simple utilisateur à l'administrateur </a:t>
            </a:r>
            <a:r>
              <a:rPr lang="fr-FR" dirty="0" smtClean="0">
                <a:latin typeface="Times New Roman" panose="02020603050405020304" pitchFamily="18" charset="0"/>
                <a:cs typeface="Times New Roman" panose="02020603050405020304" pitchFamily="18" charset="0"/>
              </a:rPr>
              <a:t>nous </a:t>
            </a:r>
            <a:r>
              <a:rPr lang="fr-FR" dirty="0">
                <a:latin typeface="Times New Roman" panose="02020603050405020304" pitchFamily="18" charset="0"/>
                <a:cs typeface="Times New Roman" panose="02020603050405020304" pitchFamily="18" charset="0"/>
              </a:rPr>
              <a:t>avons posé les jalons d'une architecture robuste, sécurisée et capable de gérer efficacement les données critiques issues de l'ACPI et du noyau. Ce travail garantit que le futur développement du </a:t>
            </a:r>
            <a:r>
              <a:rPr lang="fr-FR" b="1" dirty="0" err="1">
                <a:latin typeface="Times New Roman" panose="02020603050405020304" pitchFamily="18" charset="0"/>
                <a:cs typeface="Times New Roman" panose="02020603050405020304" pitchFamily="18" charset="0"/>
              </a:rPr>
              <a:t>Multicore</a:t>
            </a:r>
            <a:r>
              <a:rPr lang="fr-FR" b="1" dirty="0">
                <a:latin typeface="Times New Roman" panose="02020603050405020304" pitchFamily="18" charset="0"/>
                <a:cs typeface="Times New Roman" panose="02020603050405020304" pitchFamily="18" charset="0"/>
              </a:rPr>
              <a:t> Monitor</a:t>
            </a:r>
            <a:r>
              <a:rPr lang="fr-FR" dirty="0">
                <a:latin typeface="Times New Roman" panose="02020603050405020304" pitchFamily="18" charset="0"/>
                <a:cs typeface="Times New Roman" panose="02020603050405020304" pitchFamily="18" charset="0"/>
              </a:rPr>
              <a:t> répondra aux exigences de fiabilité et de performance nécessaires à une surveillance multiprocesseur en temps réel.</a:t>
            </a:r>
            <a:endParaRPr lang="fr-CM"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729228"/>
      </p:ext>
    </p:extLst>
  </p:cSld>
  <p:clrMapOvr>
    <a:masterClrMapping/>
  </p:clrMapOvr>
  <mc:AlternateContent xmlns:mc="http://schemas.openxmlformats.org/markup-compatibility/2006" xmlns:p14="http://schemas.microsoft.com/office/powerpoint/2010/main">
    <mc:Choice Requires="p14">
      <p:transition spd="slow" p14:dur="3000">
        <p14:shred/>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80">
                                          <p:stCondLst>
                                            <p:cond delay="0"/>
                                          </p:stCondLst>
                                        </p:cTn>
                                        <p:tgtEl>
                                          <p:spTgt spid="2"/>
                                        </p:tgtEl>
                                      </p:cBhvr>
                                    </p:animEffect>
                                    <p:anim calcmode="lin" valueType="num">
                                      <p:cBhvr>
                                        <p:cTn id="8" dur="1822" tmFilter="0,0; 0.14,0.36; 0.43,0.73; 0.71,0.91; 1.0,1.0">
                                          <p:stCondLst>
                                            <p:cond delay="0"/>
                                          </p:stCondLst>
                                        </p:cTn>
                                        <p:tgtEl>
                                          <p:spTgt spid="2"/>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2"/>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2"/>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2"/>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2"/>
                                        </p:tgtEl>
                                        <p:attrNameLst>
                                          <p:attrName>ppt_y</p:attrName>
                                        </p:attrNameLst>
                                      </p:cBhvr>
                                      <p:tavLst>
                                        <p:tav tm="0" fmla="#ppt_y-sin(pi*$)/81">
                                          <p:val>
                                            <p:fltVal val="0"/>
                                          </p:val>
                                        </p:tav>
                                        <p:tav tm="100000">
                                          <p:val>
                                            <p:fltVal val="1"/>
                                          </p:val>
                                        </p:tav>
                                      </p:tavLst>
                                    </p:anim>
                                    <p:animScale>
                                      <p:cBhvr>
                                        <p:cTn id="13" dur="26">
                                          <p:stCondLst>
                                            <p:cond delay="650"/>
                                          </p:stCondLst>
                                        </p:cTn>
                                        <p:tgtEl>
                                          <p:spTgt spid="2"/>
                                        </p:tgtEl>
                                      </p:cBhvr>
                                      <p:to x="100000" y="60000"/>
                                    </p:animScale>
                                    <p:animScale>
                                      <p:cBhvr>
                                        <p:cTn id="14" dur="166" decel="50000">
                                          <p:stCondLst>
                                            <p:cond delay="676"/>
                                          </p:stCondLst>
                                        </p:cTn>
                                        <p:tgtEl>
                                          <p:spTgt spid="2"/>
                                        </p:tgtEl>
                                      </p:cBhvr>
                                      <p:to x="100000" y="100000"/>
                                    </p:animScale>
                                    <p:animScale>
                                      <p:cBhvr>
                                        <p:cTn id="15" dur="26">
                                          <p:stCondLst>
                                            <p:cond delay="1312"/>
                                          </p:stCondLst>
                                        </p:cTn>
                                        <p:tgtEl>
                                          <p:spTgt spid="2"/>
                                        </p:tgtEl>
                                      </p:cBhvr>
                                      <p:to x="100000" y="80000"/>
                                    </p:animScale>
                                    <p:animScale>
                                      <p:cBhvr>
                                        <p:cTn id="16" dur="166" decel="50000">
                                          <p:stCondLst>
                                            <p:cond delay="1338"/>
                                          </p:stCondLst>
                                        </p:cTn>
                                        <p:tgtEl>
                                          <p:spTgt spid="2"/>
                                        </p:tgtEl>
                                      </p:cBhvr>
                                      <p:to x="100000" y="100000"/>
                                    </p:animScale>
                                    <p:animScale>
                                      <p:cBhvr>
                                        <p:cTn id="17" dur="26">
                                          <p:stCondLst>
                                            <p:cond delay="1642"/>
                                          </p:stCondLst>
                                        </p:cTn>
                                        <p:tgtEl>
                                          <p:spTgt spid="2"/>
                                        </p:tgtEl>
                                      </p:cBhvr>
                                      <p:to x="100000" y="90000"/>
                                    </p:animScale>
                                    <p:animScale>
                                      <p:cBhvr>
                                        <p:cTn id="18" dur="166" decel="50000">
                                          <p:stCondLst>
                                            <p:cond delay="1668"/>
                                          </p:stCondLst>
                                        </p:cTn>
                                        <p:tgtEl>
                                          <p:spTgt spid="2"/>
                                        </p:tgtEl>
                                      </p:cBhvr>
                                      <p:to x="100000" y="100000"/>
                                    </p:animScale>
                                    <p:animScale>
                                      <p:cBhvr>
                                        <p:cTn id="19" dur="26">
                                          <p:stCondLst>
                                            <p:cond delay="1808"/>
                                          </p:stCondLst>
                                        </p:cTn>
                                        <p:tgtEl>
                                          <p:spTgt spid="2"/>
                                        </p:tgtEl>
                                      </p:cBhvr>
                                      <p:to x="100000" y="95000"/>
                                    </p:animScale>
                                    <p:animScale>
                                      <p:cBhvr>
                                        <p:cTn id="20" dur="166" decel="50000">
                                          <p:stCondLst>
                                            <p:cond delay="1834"/>
                                          </p:stCondLst>
                                        </p:cTn>
                                        <p:tgtEl>
                                          <p:spTgt spid="2"/>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Ronds dans l’eau">
  <a:themeElements>
    <a:clrScheme name="Ronds dans l’eau">
      <a:dk1>
        <a:sysClr val="windowText" lastClr="000000"/>
      </a:dk1>
      <a:lt1>
        <a:sysClr val="window" lastClr="FFFFFF"/>
      </a:lt1>
      <a:dk2>
        <a:srgbClr val="355071"/>
      </a:dk2>
      <a:lt2>
        <a:srgbClr val="AABED7"/>
      </a:lt2>
      <a:accent1>
        <a:srgbClr val="2FA3EE"/>
      </a:accent1>
      <a:accent2>
        <a:srgbClr val="4BCAAD"/>
      </a:accent2>
      <a:accent3>
        <a:srgbClr val="86C157"/>
      </a:accent3>
      <a:accent4>
        <a:srgbClr val="D99C3F"/>
      </a:accent4>
      <a:accent5>
        <a:srgbClr val="CE6633"/>
      </a:accent5>
      <a:accent6>
        <a:srgbClr val="A35DD1"/>
      </a:accent6>
      <a:hlink>
        <a:srgbClr val="56BCFE"/>
      </a:hlink>
      <a:folHlink>
        <a:srgbClr val="97C5E3"/>
      </a:folHlink>
    </a:clrScheme>
    <a:fontScheme name="Ronds dans l’eau">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onds dans l’eau">
      <a:fillStyleLst>
        <a:solidFill>
          <a:schemeClr val="phClr"/>
        </a:solidFill>
        <a:solidFill>
          <a:schemeClr val="phClr">
            <a:tint val="69000"/>
            <a:satMod val="105000"/>
            <a:lumMod val="110000"/>
          </a:schemeClr>
        </a:solidFill>
        <a:gradFill rotWithShape="1">
          <a:gsLst>
            <a:gs pos="0">
              <a:schemeClr val="phClr">
                <a:tint val="94000"/>
                <a:satMod val="100000"/>
                <a:lumMod val="108000"/>
              </a:schemeClr>
            </a:gs>
            <a:gs pos="50000">
              <a:schemeClr val="phClr">
                <a:tint val="98000"/>
                <a:shade val="100000"/>
                <a:satMod val="100000"/>
                <a:lumMod val="100000"/>
              </a:schemeClr>
            </a:gs>
            <a:gs pos="100000">
              <a:schemeClr val="phClr">
                <a:shade val="72000"/>
                <a:satMod val="120000"/>
                <a:lumMod val="100000"/>
              </a:schemeClr>
            </a:gs>
          </a:gsLst>
          <a:lin ang="5400000" scaled="0"/>
        </a:gradFill>
      </a:fillStyleLst>
      <a:lnStyleLst>
        <a:ln w="9525" cap="flat" cmpd="sng" algn="ctr">
          <a:solidFill>
            <a:schemeClr val="phClr">
              <a:shade val="60000"/>
            </a:scheme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outerShdw blurRad="50800" dist="25400" dir="5400000" rotWithShape="0">
              <a:srgbClr val="000000">
                <a:alpha val="28000"/>
              </a:srgbClr>
            </a:outerShdw>
          </a:effectLst>
        </a:effectStyle>
        <a:effectStyle>
          <a:effectLst>
            <a:outerShdw blurRad="63500" dist="25400" dir="5400000" algn="ctr" rotWithShape="0">
              <a:srgbClr val="000000">
                <a:alpha val="69000"/>
              </a:srgbClr>
            </a:outerShdw>
          </a:effectLst>
          <a:scene3d>
            <a:camera prst="orthographicFront">
              <a:rot lat="0" lon="0" rev="0"/>
            </a:camera>
            <a:lightRig rig="balanced" dir="t">
              <a:rot lat="0" lon="0" rev="1200000"/>
            </a:lightRig>
          </a:scene3d>
          <a:sp3d prstMaterial="plastic">
            <a:bevelT w="25400" h="25400"/>
          </a:sp3d>
        </a:effectStyle>
      </a:effectStyleLst>
      <a:bgFillStyleLst>
        <a:solidFill>
          <a:schemeClr val="phClr"/>
        </a:solidFill>
        <a:gradFill rotWithShape="1">
          <a:gsLst>
            <a:gs pos="0">
              <a:schemeClr val="phClr">
                <a:tint val="90000"/>
                <a:lumMod val="110000"/>
              </a:schemeClr>
            </a:gs>
            <a:gs pos="100000">
              <a:schemeClr val="phClr">
                <a:shade val="64000"/>
                <a:lumMod val="88000"/>
              </a:schemeClr>
            </a:gs>
          </a:gsLst>
          <a:lin ang="5400000" scaled="0"/>
        </a:gradFill>
        <a:gradFill rotWithShape="1">
          <a:gsLst>
            <a:gs pos="0">
              <a:schemeClr val="phClr">
                <a:tint val="84000"/>
                <a:shade val="100000"/>
                <a:hueMod val="130000"/>
                <a:satMod val="150000"/>
                <a:lumMod val="112000"/>
              </a:schemeClr>
            </a:gs>
            <a:gs pos="100000">
              <a:schemeClr val="phClr">
                <a:shade val="92000"/>
                <a:satMod val="140000"/>
                <a:lumMod val="110000"/>
              </a:schemeClr>
            </a:gs>
          </a:gsLst>
          <a:lin ang="5400000" scaled="0"/>
        </a:gradFill>
      </a:bgFillStyleLst>
    </a:fmtScheme>
  </a:themeElements>
  <a:objectDefaults/>
  <a:extraClrSchemeLst/>
  <a:extLst>
    <a:ext uri="{05A4C25C-085E-4340-85A3-A5531E510DB2}">
      <thm15:themeFamily xmlns:thm15="http://schemas.microsoft.com/office/thememl/2012/main" name="Droplet" id="{8984A317-299A-4E50-B45D-BFC9EDE2337A}" vid="{A633B6A3-9E7F-4C10-9C98-2517A3134361}"/>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Ronds dans l’eau</Template>
  <TotalTime>9278</TotalTime>
  <Words>1471</Words>
  <Application>Microsoft Office PowerPoint</Application>
  <PresentationFormat>Grand écran</PresentationFormat>
  <Paragraphs>175</Paragraphs>
  <Slides>21</Slides>
  <Notes>2</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21</vt:i4>
      </vt:variant>
    </vt:vector>
  </HeadingPairs>
  <TitlesOfParts>
    <vt:vector size="27" baseType="lpstr">
      <vt:lpstr>Arial</vt:lpstr>
      <vt:lpstr>Calibri</vt:lpstr>
      <vt:lpstr>Times New Roman</vt:lpstr>
      <vt:lpstr>Tw Cen MT</vt:lpstr>
      <vt:lpstr>Wingdings</vt:lpstr>
      <vt:lpstr>Ronds dans l’eau</vt:lpstr>
      <vt:lpstr>Présentation PowerPoint</vt:lpstr>
      <vt:lpstr>Dossier d’analyse</vt:lpstr>
      <vt:lpstr>SOMMAIRE </vt:lpstr>
      <vt:lpstr>INTRODUCTION</vt:lpstr>
      <vt:lpstr>I. Contexte ET OBJECTIFS</vt:lpstr>
      <vt:lpstr>Présentation PowerPoint</vt:lpstr>
      <vt:lpstr>II. PERIMETRE FONCTIONNEL</vt:lpstr>
      <vt:lpstr>Présentation PowerPoint</vt:lpstr>
      <vt:lpstr>III. ACTEURS ET CAS D’UTILISATION</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CAHIER DES CHARGES</dc:title>
  <dc:creator>LENOVO USERS</dc:creator>
  <cp:lastModifiedBy>Jason BARDE</cp:lastModifiedBy>
  <cp:revision>85</cp:revision>
  <dcterms:created xsi:type="dcterms:W3CDTF">2025-11-27T05:12:06Z</dcterms:created>
  <dcterms:modified xsi:type="dcterms:W3CDTF">2026-01-24T09:42:20Z</dcterms:modified>
</cp:coreProperties>
</file>