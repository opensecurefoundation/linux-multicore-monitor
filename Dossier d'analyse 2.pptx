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0" r:id="rId1"/>
  </p:sldMasterIdLst>
  <p:notesMasterIdLst>
    <p:notesMasterId r:id="rId23"/>
  </p:notesMasterIdLst>
  <p:sldIdLst>
    <p:sldId id="268" r:id="rId2"/>
    <p:sldId id="256" r:id="rId3"/>
    <p:sldId id="257" r:id="rId4"/>
    <p:sldId id="263" r:id="rId5"/>
    <p:sldId id="265" r:id="rId6"/>
    <p:sldId id="259" r:id="rId7"/>
    <p:sldId id="260" r:id="rId8"/>
    <p:sldId id="261" r:id="rId9"/>
    <p:sldId id="267" r:id="rId10"/>
    <p:sldId id="262" r:id="rId11"/>
    <p:sldId id="270" r:id="rId12"/>
    <p:sldId id="266" r:id="rId13"/>
    <p:sldId id="277" r:id="rId14"/>
    <p:sldId id="278" r:id="rId15"/>
    <p:sldId id="279" r:id="rId16"/>
    <p:sldId id="280" r:id="rId17"/>
    <p:sldId id="281" r:id="rId18"/>
    <p:sldId id="282" r:id="rId19"/>
    <p:sldId id="273" r:id="rId20"/>
    <p:sldId id="274" r:id="rId21"/>
    <p:sldId id="276" r:id="rId2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Style moyen 3 - Accentuation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3883" autoAdjust="0"/>
  </p:normalViewPr>
  <p:slideViewPr>
    <p:cSldViewPr snapToGrid="0">
      <p:cViewPr>
        <p:scale>
          <a:sx n="86" d="100"/>
          <a:sy n="86" d="100"/>
        </p:scale>
        <p:origin x="84" y="180"/>
      </p:cViewPr>
      <p:guideLst/>
    </p:cSldViewPr>
  </p:slideViewPr>
  <p:outlineViewPr>
    <p:cViewPr>
      <p:scale>
        <a:sx n="33" d="100"/>
        <a:sy n="33" d="100"/>
      </p:scale>
      <p:origin x="0" y="-660"/>
    </p:cViewPr>
  </p:outlineViewPr>
  <p:notesTextViewPr>
    <p:cViewPr>
      <p:scale>
        <a:sx n="1" d="1"/>
        <a:sy n="1" d="1"/>
      </p:scale>
      <p:origin x="0" y="0"/>
    </p:cViewPr>
  </p:notesTextViewPr>
  <p:sorterViewPr>
    <p:cViewPr>
      <p:scale>
        <a:sx n="100" d="100"/>
        <a:sy n="100" d="100"/>
      </p:scale>
      <p:origin x="0" y="-549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M"/>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6F517D-CE64-462C-AD75-344A9B99B847}" type="datetimeFigureOut">
              <a:rPr lang="fr-CM" smtClean="0"/>
              <a:t>17/01/2026</a:t>
            </a:fld>
            <a:endParaRPr lang="fr-CM"/>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M"/>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M"/>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M"/>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ED8D0A-D665-4C29-8104-3F88BB29AB4F}" type="slidenum">
              <a:rPr lang="fr-CM" smtClean="0"/>
              <a:t>‹N°›</a:t>
            </a:fld>
            <a:endParaRPr lang="fr-CM"/>
          </a:p>
        </p:txBody>
      </p:sp>
    </p:spTree>
    <p:extLst>
      <p:ext uri="{BB962C8B-B14F-4D97-AF65-F5344CB8AC3E}">
        <p14:creationId xmlns:p14="http://schemas.microsoft.com/office/powerpoint/2010/main" val="564437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M" dirty="0"/>
          </a:p>
        </p:txBody>
      </p:sp>
      <p:sp>
        <p:nvSpPr>
          <p:cNvPr id="4" name="Espace réservé du numéro de diapositive 3"/>
          <p:cNvSpPr>
            <a:spLocks noGrp="1"/>
          </p:cNvSpPr>
          <p:nvPr>
            <p:ph type="sldNum" sz="quarter" idx="10"/>
          </p:nvPr>
        </p:nvSpPr>
        <p:spPr/>
        <p:txBody>
          <a:bodyPr/>
          <a:lstStyle/>
          <a:p>
            <a:fld id="{93ED8D0A-D665-4C29-8104-3F88BB29AB4F}" type="slidenum">
              <a:rPr lang="fr-CM" smtClean="0"/>
              <a:t>16</a:t>
            </a:fld>
            <a:endParaRPr lang="fr-CM"/>
          </a:p>
        </p:txBody>
      </p:sp>
    </p:spTree>
    <p:extLst>
      <p:ext uri="{BB962C8B-B14F-4D97-AF65-F5344CB8AC3E}">
        <p14:creationId xmlns:p14="http://schemas.microsoft.com/office/powerpoint/2010/main" val="3821347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M" dirty="0"/>
          </a:p>
        </p:txBody>
      </p:sp>
      <p:sp>
        <p:nvSpPr>
          <p:cNvPr id="4" name="Espace réservé du numéro de diapositive 3"/>
          <p:cNvSpPr>
            <a:spLocks noGrp="1"/>
          </p:cNvSpPr>
          <p:nvPr>
            <p:ph type="sldNum" sz="quarter" idx="10"/>
          </p:nvPr>
        </p:nvSpPr>
        <p:spPr/>
        <p:txBody>
          <a:bodyPr/>
          <a:lstStyle/>
          <a:p>
            <a:fld id="{93ED8D0A-D665-4C29-8104-3F88BB29AB4F}" type="slidenum">
              <a:rPr lang="fr-CM" smtClean="0"/>
              <a:t>20</a:t>
            </a:fld>
            <a:endParaRPr lang="fr-CM"/>
          </a:p>
        </p:txBody>
      </p:sp>
    </p:spTree>
    <p:extLst>
      <p:ext uri="{BB962C8B-B14F-4D97-AF65-F5344CB8AC3E}">
        <p14:creationId xmlns:p14="http://schemas.microsoft.com/office/powerpoint/2010/main" val="3913939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fr-FR" smtClean="0"/>
              <a:t>Modifiez le style du titre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9A2ADD78-B297-491E-B195-029A9672D6CB}" type="datetimeFigureOut">
              <a:rPr lang="fr-FR" smtClean="0"/>
              <a:t>17/01/2026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3445944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smtClean="0"/>
              <a:t>Modifiez le style du titre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A2ADD78-B297-491E-B195-029A9672D6CB}" type="datetimeFigureOut">
              <a:rPr lang="fr-FR" smtClean="0"/>
              <a:t>17/01/2026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420715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fr-FR" smtClean="0"/>
              <a:t>Modifiez le style du titre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9A2ADD78-B297-491E-B195-029A9672D6CB}" type="datetimeFigureOut">
              <a:rPr lang="fr-FR" smtClean="0"/>
              <a:t>17/01/2026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1697153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fr-FR" smtClean="0"/>
              <a:t>Modifiez le style du titre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9A2ADD78-B297-491E-B195-029A9672D6CB}" type="datetimeFigureOut">
              <a:rPr lang="fr-FR" smtClean="0"/>
              <a:t>17/01/2026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219706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12" name="Content Placeholder 3"/>
          <p:cNvSpPr>
            <a:spLocks noGrp="1"/>
          </p:cNvSpPr>
          <p:nvPr>
            <p:ph sz="quarter" idx="13"/>
          </p:nvPr>
        </p:nvSpPr>
        <p:spPr>
          <a:xfrm>
            <a:off x="913774" y="3051012"/>
            <a:ext cx="5106027" cy="274018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13" name="Content Placeholder 5"/>
          <p:cNvSpPr>
            <a:spLocks noGrp="1"/>
          </p:cNvSpPr>
          <p:nvPr>
            <p:ph sz="quarter" idx="14"/>
          </p:nvPr>
        </p:nvSpPr>
        <p:spPr>
          <a:xfrm>
            <a:off x="6172200" y="3051012"/>
            <a:ext cx="5105401" cy="274018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9A2ADD78-B297-491E-B195-029A9672D6CB}" type="datetimeFigureOut">
              <a:rPr lang="fr-FR" smtClean="0"/>
              <a:t>17/01/2026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3781587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9A2ADD78-B297-491E-B195-029A9672D6CB}" type="datetimeFigureOut">
              <a:rPr lang="fr-FR" smtClean="0"/>
              <a:t>17/01/2026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859208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9A2ADD78-B297-491E-B195-029A9672D6CB}" type="datetimeFigureOut">
              <a:rPr lang="fr-FR" smtClean="0"/>
              <a:t>17/01/2026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3224653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fr-FR" smtClean="0"/>
              <a:t>Modifiez le style du titre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17/01/2026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490120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17/01/2026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708487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17/01/2026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456643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fr-FR" smtClean="0"/>
              <a:t>Modifiez le style du titre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17/01/2026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981359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fr-FR" smtClean="0"/>
              <a:t>Modifiez le style du titre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17/01/2026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452798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fr-FR" smtClean="0"/>
              <a:t>Modifiez le style du titre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9A2ADD78-B297-491E-B195-029A9672D6CB}" type="datetimeFigureOut">
              <a:rPr lang="fr-FR" smtClean="0"/>
              <a:t>17/01/2026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441104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fr-FR" smtClean="0"/>
              <a:t>Modifiez le style du titre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3" name="Date Placeholder 2"/>
          <p:cNvSpPr>
            <a:spLocks noGrp="1"/>
          </p:cNvSpPr>
          <p:nvPr>
            <p:ph type="dt" sz="half" idx="10"/>
          </p:nvPr>
        </p:nvSpPr>
        <p:spPr/>
        <p:txBody>
          <a:bodyPr/>
          <a:lstStyle/>
          <a:p>
            <a:fld id="{9A2ADD78-B297-491E-B195-029A9672D6CB}" type="datetimeFigureOut">
              <a:rPr lang="fr-FR" smtClean="0"/>
              <a:t>17/01/2026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14049271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fr-FR" smtClean="0"/>
              <a:t>Modifiez le style du titre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3" name="Date Placeholder 2"/>
          <p:cNvSpPr>
            <a:spLocks noGrp="1"/>
          </p:cNvSpPr>
          <p:nvPr>
            <p:ph type="dt" sz="half" idx="10"/>
          </p:nvPr>
        </p:nvSpPr>
        <p:spPr/>
        <p:txBody>
          <a:bodyPr/>
          <a:lstStyle/>
          <a:p>
            <a:fld id="{9A2ADD78-B297-491E-B195-029A9672D6CB}" type="datetimeFigureOut">
              <a:rPr lang="fr-FR" smtClean="0"/>
              <a:t>17/01/2026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32514388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smtClean="0"/>
              <a:t>Modifiez le style du titre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A2ADD78-B297-491E-B195-029A9672D6CB}" type="datetimeFigureOut">
              <a:rPr lang="fr-FR" smtClean="0"/>
              <a:t>17/01/2026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7439015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fr-FR" smtClean="0"/>
              <a:t>Modifiez le style du titre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A2ADD78-B297-491E-B195-029A9672D6CB}" type="datetimeFigureOut">
              <a:rPr lang="fr-FR" smtClean="0"/>
              <a:t>17/01/2026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74B4EB8-B4D5-4C7A-8C6C-6F7C354B366B}" type="slidenum">
              <a:rPr lang="fr-FR" smtClean="0"/>
              <a:t>‹N°›</a:t>
            </a:fld>
            <a:endParaRPr lang="fr-FR"/>
          </a:p>
        </p:txBody>
      </p:sp>
    </p:spTree>
    <p:extLst>
      <p:ext uri="{BB962C8B-B14F-4D97-AF65-F5344CB8AC3E}">
        <p14:creationId xmlns:p14="http://schemas.microsoft.com/office/powerpoint/2010/main" val="2578291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9A2ADD78-B297-491E-B195-029A9672D6CB}" type="datetimeFigureOut">
              <a:rPr lang="fr-FR" smtClean="0"/>
              <a:t>17/01/2026</a:t>
            </a:fld>
            <a:endParaRPr lang="fr-FR"/>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fr-FR"/>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474B4EB8-B4D5-4C7A-8C6C-6F7C354B366B}" type="slidenum">
              <a:rPr lang="fr-FR" smtClean="0"/>
              <a:t>‹N°›</a:t>
            </a:fld>
            <a:endParaRPr lang="fr-FR"/>
          </a:p>
        </p:txBody>
      </p:sp>
    </p:spTree>
    <p:extLst>
      <p:ext uri="{BB962C8B-B14F-4D97-AF65-F5344CB8AC3E}">
        <p14:creationId xmlns:p14="http://schemas.microsoft.com/office/powerpoint/2010/main" val="3576537166"/>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 id="2147483913" r:id="rId13"/>
    <p:sldLayoutId id="2147483914" r:id="rId14"/>
    <p:sldLayoutId id="2147483915" r:id="rId15"/>
    <p:sldLayoutId id="2147483916" r:id="rId16"/>
    <p:sldLayoutId id="214748391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807720" y="2426375"/>
            <a:ext cx="3540760" cy="3693319"/>
          </a:xfrm>
          <a:prstGeom prst="rect">
            <a:avLst/>
          </a:prstGeom>
          <a:noFill/>
        </p:spPr>
        <p:txBody>
          <a:bodyPr wrap="square" rtlCol="0">
            <a:spAutoFit/>
          </a:bodyPr>
          <a:lstStyle/>
          <a:p>
            <a:endParaRPr lang="fr-CM" dirty="0"/>
          </a:p>
          <a:p>
            <a:endParaRPr lang="fr-CM" dirty="0" smtClean="0"/>
          </a:p>
          <a:p>
            <a:endParaRPr lang="fr-CM" dirty="0" smtClean="0"/>
          </a:p>
          <a:p>
            <a:r>
              <a:rPr lang="fr-CM" dirty="0" smtClean="0">
                <a:latin typeface="Times New Roman" panose="02020603050405020304" pitchFamily="18" charset="0"/>
                <a:cs typeface="Times New Roman" panose="02020603050405020304" pitchFamily="18" charset="0"/>
              </a:rPr>
              <a:t>Rédigé et présenté par:</a:t>
            </a:r>
          </a:p>
          <a:p>
            <a:endParaRPr lang="fr-CM" dirty="0">
              <a:latin typeface="Times New Roman" panose="02020603050405020304" pitchFamily="18" charset="0"/>
              <a:cs typeface="Times New Roman" panose="02020603050405020304" pitchFamily="18" charset="0"/>
            </a:endParaRPr>
          </a:p>
          <a:p>
            <a:pPr>
              <a:lnSpc>
                <a:spcPct val="150000"/>
              </a:lnSpc>
            </a:pPr>
            <a:r>
              <a:rPr lang="fr-CM" b="1" dirty="0" smtClean="0">
                <a:latin typeface="Times New Roman" panose="02020603050405020304" pitchFamily="18" charset="0"/>
                <a:cs typeface="Times New Roman" panose="02020603050405020304" pitchFamily="18" charset="0"/>
              </a:rPr>
              <a:t>BALA ZAM Marc Philippe</a:t>
            </a:r>
          </a:p>
          <a:p>
            <a:pPr>
              <a:lnSpc>
                <a:spcPct val="150000"/>
              </a:lnSpc>
            </a:pPr>
            <a:r>
              <a:rPr lang="fr-CM" b="1" dirty="0" smtClean="0">
                <a:latin typeface="Times New Roman" panose="02020603050405020304" pitchFamily="18" charset="0"/>
                <a:cs typeface="Times New Roman" panose="02020603050405020304" pitchFamily="18" charset="0"/>
              </a:rPr>
              <a:t>BARDE </a:t>
            </a:r>
            <a:r>
              <a:rPr lang="fr-CM" b="1" dirty="0" err="1" smtClean="0">
                <a:latin typeface="Times New Roman" panose="02020603050405020304" pitchFamily="18" charset="0"/>
                <a:cs typeface="Times New Roman" panose="02020603050405020304" pitchFamily="18" charset="0"/>
              </a:rPr>
              <a:t>BARDE</a:t>
            </a:r>
            <a:r>
              <a:rPr lang="fr-CM" b="1" dirty="0" smtClean="0">
                <a:latin typeface="Times New Roman" panose="02020603050405020304" pitchFamily="18" charset="0"/>
                <a:cs typeface="Times New Roman" panose="02020603050405020304" pitchFamily="18" charset="0"/>
              </a:rPr>
              <a:t> </a:t>
            </a:r>
            <a:r>
              <a:rPr lang="fr-CM" b="1" dirty="0" err="1" smtClean="0">
                <a:latin typeface="Times New Roman" panose="02020603050405020304" pitchFamily="18" charset="0"/>
                <a:cs typeface="Times New Roman" panose="02020603050405020304" pitchFamily="18" charset="0"/>
              </a:rPr>
              <a:t>Bebeto</a:t>
            </a:r>
            <a:r>
              <a:rPr lang="fr-CM" b="1" dirty="0" smtClean="0">
                <a:latin typeface="Times New Roman" panose="02020603050405020304" pitchFamily="18" charset="0"/>
                <a:cs typeface="Times New Roman" panose="02020603050405020304" pitchFamily="18" charset="0"/>
              </a:rPr>
              <a:t>  Jason</a:t>
            </a:r>
          </a:p>
          <a:p>
            <a:endParaRPr lang="fr-CM" dirty="0"/>
          </a:p>
          <a:p>
            <a:endParaRPr lang="fr-CM" dirty="0" smtClean="0">
              <a:latin typeface="Times New Roman" panose="02020603050405020304" pitchFamily="18" charset="0"/>
              <a:cs typeface="Times New Roman" panose="02020603050405020304" pitchFamily="18" charset="0"/>
            </a:endParaRPr>
          </a:p>
          <a:p>
            <a:r>
              <a:rPr lang="fr-CM" dirty="0" smtClean="0">
                <a:latin typeface="Times New Roman" panose="02020603050405020304" pitchFamily="18" charset="0"/>
                <a:cs typeface="Times New Roman" panose="02020603050405020304" pitchFamily="18" charset="0"/>
              </a:rPr>
              <a:t>Étudiants en M1 SSI</a:t>
            </a:r>
          </a:p>
          <a:p>
            <a:endParaRPr lang="fr-CM" dirty="0" smtClean="0"/>
          </a:p>
          <a:p>
            <a:endParaRPr lang="fr-CM" dirty="0" smtClean="0"/>
          </a:p>
        </p:txBody>
      </p:sp>
      <p:sp>
        <p:nvSpPr>
          <p:cNvPr id="3" name="ZoneTexte 2"/>
          <p:cNvSpPr txBox="1"/>
          <p:nvPr/>
        </p:nvSpPr>
        <p:spPr>
          <a:xfrm>
            <a:off x="6776720" y="4891534"/>
            <a:ext cx="5567680" cy="369332"/>
          </a:xfrm>
          <a:prstGeom prst="rect">
            <a:avLst/>
          </a:prstGeom>
          <a:noFill/>
        </p:spPr>
        <p:txBody>
          <a:bodyPr wrap="square" rtlCol="0">
            <a:spAutoFit/>
          </a:bodyPr>
          <a:lstStyle/>
          <a:p>
            <a:r>
              <a:rPr lang="fr-FR" b="1" dirty="0">
                <a:latin typeface="Times New Roman" panose="02020603050405020304" pitchFamily="18" charset="0"/>
                <a:cs typeface="Times New Roman" panose="02020603050405020304" pitchFamily="18" charset="0"/>
              </a:rPr>
              <a:t>Sous la supervision de : </a:t>
            </a:r>
            <a:r>
              <a:rPr lang="fr-FR" b="1" dirty="0" smtClean="0">
                <a:latin typeface="Times New Roman" panose="02020603050405020304" pitchFamily="18" charset="0"/>
                <a:cs typeface="Times New Roman" panose="02020603050405020304" pitchFamily="18" charset="0"/>
              </a:rPr>
              <a:t>M. NGUIMBUS Emmanuel</a:t>
            </a:r>
            <a:endParaRPr lang="en-US" b="1" dirty="0">
              <a:latin typeface="Times New Roman" panose="02020603050405020304" pitchFamily="18" charset="0"/>
              <a:cs typeface="Times New Roman" panose="02020603050405020304" pitchFamily="18" charset="0"/>
            </a:endParaRPr>
          </a:p>
        </p:txBody>
      </p:sp>
      <p:sp>
        <p:nvSpPr>
          <p:cNvPr id="6" name="ZoneTexte 5"/>
          <p:cNvSpPr txBox="1"/>
          <p:nvPr/>
        </p:nvSpPr>
        <p:spPr>
          <a:xfrm>
            <a:off x="4257040" y="66706"/>
            <a:ext cx="3474720" cy="584775"/>
          </a:xfrm>
          <a:prstGeom prst="rect">
            <a:avLst/>
          </a:prstGeom>
          <a:noFill/>
        </p:spPr>
        <p:txBody>
          <a:bodyPr wrap="square" rtlCol="0">
            <a:spAutoFit/>
          </a:bodyPr>
          <a:lstStyle/>
          <a:p>
            <a:pPr algn="ctr"/>
            <a:r>
              <a:rPr lang="fr-CM" sz="3200" b="1" u="sng" dirty="0" smtClean="0">
                <a:latin typeface="Times New Roman" panose="02020603050405020304" pitchFamily="18" charset="0"/>
                <a:cs typeface="Times New Roman" panose="02020603050405020304" pitchFamily="18" charset="0"/>
              </a:rPr>
              <a:t>THÈME</a:t>
            </a:r>
            <a:endParaRPr lang="en-US" sz="3200" b="1" u="sng" dirty="0">
              <a:latin typeface="Times New Roman" panose="02020603050405020304" pitchFamily="18" charset="0"/>
              <a:cs typeface="Times New Roman" panose="02020603050405020304" pitchFamily="18" charset="0"/>
            </a:endParaRPr>
          </a:p>
        </p:txBody>
      </p:sp>
      <p:sp>
        <p:nvSpPr>
          <p:cNvPr id="7" name="Parchemin horizontal 6"/>
          <p:cNvSpPr/>
          <p:nvPr/>
        </p:nvSpPr>
        <p:spPr>
          <a:xfrm>
            <a:off x="1625600" y="743844"/>
            <a:ext cx="9123680" cy="2283836"/>
          </a:xfrm>
          <a:prstGeom prst="horizontalScroll">
            <a:avLst/>
          </a:prstGeom>
          <a:solidFill>
            <a:schemeClr val="accent3">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fr-CM" sz="2000" b="1" dirty="0" smtClean="0">
                <a:latin typeface="Times New Roman" panose="02020603050405020304" pitchFamily="18" charset="0"/>
                <a:cs typeface="Times New Roman" panose="02020603050405020304" pitchFamily="18" charset="0"/>
              </a:rPr>
              <a:t>CONCEPTION  </a:t>
            </a:r>
            <a:r>
              <a:rPr lang="fr-CM" sz="2000" b="1" dirty="0">
                <a:latin typeface="Times New Roman" panose="02020603050405020304" pitchFamily="18" charset="0"/>
                <a:cs typeface="Times New Roman" panose="02020603050405020304" pitchFamily="18" charset="0"/>
              </a:rPr>
              <a:t>ET MISE EN ŒUVRE MULTICORE </a:t>
            </a:r>
            <a:r>
              <a:rPr lang="fr-CM" sz="2000" b="1" dirty="0" smtClean="0">
                <a:latin typeface="Times New Roman" panose="02020603050405020304" pitchFamily="18" charset="0"/>
                <a:cs typeface="Times New Roman" panose="02020603050405020304" pitchFamily="18" charset="0"/>
              </a:rPr>
              <a:t>MONITOR </a:t>
            </a:r>
            <a:r>
              <a:rPr lang="fr-CM" sz="2000" b="1" dirty="0">
                <a:latin typeface="Times New Roman" panose="02020603050405020304" pitchFamily="18" charset="0"/>
                <a:cs typeface="Times New Roman" panose="02020603050405020304" pitchFamily="18" charset="0"/>
              </a:rPr>
              <a:t>, UN MONITEUR EN TEMPS </a:t>
            </a:r>
            <a:r>
              <a:rPr lang="fr-CM" sz="2000" b="1" dirty="0" smtClean="0">
                <a:latin typeface="Times New Roman" panose="02020603050405020304" pitchFamily="18" charset="0"/>
                <a:cs typeface="Times New Roman" panose="02020603050405020304" pitchFamily="18" charset="0"/>
              </a:rPr>
              <a:t>RÉEL  </a:t>
            </a:r>
            <a:r>
              <a:rPr lang="fr-CM" sz="2000" b="1" dirty="0">
                <a:latin typeface="Times New Roman" panose="02020603050405020304" pitchFamily="18" charset="0"/>
                <a:cs typeface="Times New Roman" panose="02020603050405020304" pitchFamily="18" charset="0"/>
              </a:rPr>
              <a:t>DE PERFORMANCE MULTIPROCESSEUR : cas de Linux </a:t>
            </a:r>
            <a:r>
              <a:rPr lang="fr-CM" sz="2000" b="1" dirty="0" err="1">
                <a:latin typeface="Times New Roman" panose="02020603050405020304" pitchFamily="18" charset="0"/>
                <a:cs typeface="Times New Roman" panose="02020603050405020304" pitchFamily="18" charset="0"/>
              </a:rPr>
              <a:t>OpenSUSE</a:t>
            </a:r>
            <a:r>
              <a:rPr lang="fr-CM" sz="2000" b="1" dirty="0">
                <a:latin typeface="Times New Roman" panose="02020603050405020304" pitchFamily="18" charset="0"/>
                <a:cs typeface="Times New Roman" panose="02020603050405020304" pitchFamily="18" charset="0"/>
              </a:rPr>
              <a:t>.</a:t>
            </a:r>
          </a:p>
        </p:txBody>
      </p:sp>
      <p:sp>
        <p:nvSpPr>
          <p:cNvPr id="9" name="Ruban courbé vers le bas 8"/>
          <p:cNvSpPr/>
          <p:nvPr/>
        </p:nvSpPr>
        <p:spPr>
          <a:xfrm>
            <a:off x="2260600" y="5841818"/>
            <a:ext cx="7853680" cy="758952"/>
          </a:xfrm>
          <a:prstGeom prst="ellipseRibbon">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ANNÉE ACADEMIQUE: 2025-2026 </a:t>
            </a:r>
          </a:p>
        </p:txBody>
      </p:sp>
    </p:spTree>
    <p:extLst>
      <p:ext uri="{BB962C8B-B14F-4D97-AF65-F5344CB8AC3E}">
        <p14:creationId xmlns:p14="http://schemas.microsoft.com/office/powerpoint/2010/main" val="7785395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839912" y="2717800"/>
            <a:ext cx="8689976" cy="800100"/>
          </a:xfrm>
        </p:spPr>
        <p:txBody>
          <a:bodyPr>
            <a:normAutofit/>
          </a:bodyPr>
          <a:lstStyle/>
          <a:p>
            <a:r>
              <a:rPr lang="fr-FR" dirty="0" smtClean="0"/>
              <a:t>Dossier d’analyse</a:t>
            </a:r>
            <a:endParaRPr lang="fr-FR" dirty="0"/>
          </a:p>
        </p:txBody>
      </p:sp>
    </p:spTree>
    <p:extLst>
      <p:ext uri="{BB962C8B-B14F-4D97-AF65-F5344CB8AC3E}">
        <p14:creationId xmlns:p14="http://schemas.microsoft.com/office/powerpoint/2010/main" val="23912083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51235" y="0"/>
            <a:ext cx="10353761" cy="711200"/>
          </a:xfrm>
        </p:spPr>
        <p:txBody>
          <a:bodyPr>
            <a:noAutofit/>
          </a:bodyPr>
          <a:lstStyle/>
          <a:p>
            <a:r>
              <a:rPr lang="en-US" sz="4800" u="sng" dirty="0" smtClean="0"/>
              <a:t>SOMMAIRE</a:t>
            </a:r>
            <a:r>
              <a:rPr lang="en-US" sz="4800" dirty="0" smtClean="0"/>
              <a:t> </a:t>
            </a:r>
            <a:endParaRPr lang="fr-FR" sz="4800" dirty="0"/>
          </a:p>
        </p:txBody>
      </p:sp>
      <p:sp>
        <p:nvSpPr>
          <p:cNvPr id="5" name="ZoneTexte 4"/>
          <p:cNvSpPr txBox="1"/>
          <p:nvPr/>
        </p:nvSpPr>
        <p:spPr>
          <a:xfrm>
            <a:off x="606416" y="1386840"/>
            <a:ext cx="10843904" cy="5539978"/>
          </a:xfrm>
          <a:prstGeom prst="rect">
            <a:avLst/>
          </a:prstGeom>
          <a:noFill/>
        </p:spPr>
        <p:txBody>
          <a:bodyPr wrap="square" rtlCol="0">
            <a:spAutoFit/>
          </a:bodyPr>
          <a:lstStyle/>
          <a:p>
            <a:pPr algn="just">
              <a:lnSpc>
                <a:spcPct val="150000"/>
              </a:lnSpc>
            </a:pPr>
            <a:r>
              <a:rPr lang="en-US" sz="2800" b="1" dirty="0" smtClean="0">
                <a:latin typeface="Times New Roman" panose="02020603050405020304" pitchFamily="18" charset="0"/>
                <a:cs typeface="Times New Roman" panose="02020603050405020304" pitchFamily="18" charset="0"/>
              </a:rPr>
              <a:t>INTRODUCTION</a:t>
            </a:r>
          </a:p>
          <a:p>
            <a:pPr algn="just">
              <a:lnSpc>
                <a:spcPct val="150000"/>
              </a:lnSpc>
            </a:pPr>
            <a:r>
              <a:rPr lang="en-US" sz="2800" b="1" dirty="0" smtClean="0">
                <a:latin typeface="Times New Roman" panose="02020603050405020304" pitchFamily="18" charset="0"/>
                <a:cs typeface="Times New Roman" panose="02020603050405020304" pitchFamily="18" charset="0"/>
              </a:rPr>
              <a:t>	I. CONTEXTE ET OBJECTIFS</a:t>
            </a:r>
          </a:p>
          <a:p>
            <a:pPr algn="just">
              <a:lnSpc>
                <a:spcPct val="150000"/>
              </a:lnSpc>
            </a:pPr>
            <a:r>
              <a:rPr lang="en-US" sz="2800" b="1" dirty="0" smtClean="0">
                <a:latin typeface="Times New Roman" panose="02020603050405020304" pitchFamily="18" charset="0"/>
                <a:cs typeface="Times New Roman" panose="02020603050405020304" pitchFamily="18" charset="0"/>
              </a:rPr>
              <a:t>	II. PERIMETRE FONCTIONNEL</a:t>
            </a:r>
          </a:p>
          <a:p>
            <a:pPr algn="just">
              <a:lnSpc>
                <a:spcPct val="150000"/>
              </a:lnSpc>
            </a:pPr>
            <a:r>
              <a:rPr lang="en-US" sz="2800" b="1" dirty="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III. ACTEURS ET CAS D’UTILISATION</a:t>
            </a:r>
          </a:p>
          <a:p>
            <a:pPr algn="just">
              <a:lnSpc>
                <a:spcPct val="150000"/>
              </a:lnSpc>
            </a:pPr>
            <a:r>
              <a:rPr lang="en-US" sz="2800" b="1" dirty="0" smtClean="0">
                <a:latin typeface="Times New Roman" panose="02020603050405020304" pitchFamily="18" charset="0"/>
                <a:cs typeface="Times New Roman" panose="02020603050405020304" pitchFamily="18" charset="0"/>
              </a:rPr>
              <a:t>	IV. DESCRIPTIONS TEXTUELLES</a:t>
            </a:r>
          </a:p>
          <a:p>
            <a:pPr algn="just">
              <a:lnSpc>
                <a:spcPct val="150000"/>
              </a:lnSpc>
            </a:pPr>
            <a:r>
              <a:rPr lang="en-US" sz="2800" b="1" dirty="0" smtClean="0">
                <a:latin typeface="Times New Roman" panose="02020603050405020304" pitchFamily="18" charset="0"/>
                <a:cs typeface="Times New Roman" panose="02020603050405020304" pitchFamily="18" charset="0"/>
              </a:rPr>
              <a:t>	V. MODELISATON UML (USE CASE)</a:t>
            </a:r>
          </a:p>
          <a:p>
            <a:pPr algn="just">
              <a:lnSpc>
                <a:spcPct val="150000"/>
              </a:lnSpc>
            </a:pPr>
            <a:r>
              <a:rPr lang="en-US" sz="2800" b="1" dirty="0" smtClean="0">
                <a:latin typeface="Times New Roman" panose="02020603050405020304" pitchFamily="18" charset="0"/>
                <a:cs typeface="Times New Roman" panose="02020603050405020304" pitchFamily="18" charset="0"/>
              </a:rPr>
              <a:t>CONCLUSION</a:t>
            </a:r>
          </a:p>
          <a:p>
            <a:pPr algn="just">
              <a:lnSpc>
                <a:spcPct val="150000"/>
              </a:lnSpc>
            </a:pPr>
            <a:endParaRPr lang="en-US" sz="2000" b="1" dirty="0">
              <a:latin typeface="Times New Roman" panose="02020603050405020304" pitchFamily="18" charset="0"/>
              <a:cs typeface="Times New Roman" panose="02020603050405020304" pitchFamily="18" charset="0"/>
            </a:endParaRPr>
          </a:p>
          <a:p>
            <a:pPr algn="just">
              <a:lnSpc>
                <a:spcPct val="150000"/>
              </a:lnSpc>
            </a:pPr>
            <a:endParaRPr lang="en-US" sz="2000"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108674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636712" y="127000"/>
            <a:ext cx="8689976" cy="472440"/>
          </a:xfrm>
        </p:spPr>
        <p:txBody>
          <a:bodyPr>
            <a:normAutofit fontScale="90000"/>
          </a:bodyPr>
          <a:lstStyle/>
          <a:p>
            <a:r>
              <a:rPr lang="en-US" sz="4400" dirty="0" smtClean="0"/>
              <a:t>INTRODUCTION</a:t>
            </a:r>
            <a:endParaRPr lang="fr-FR" sz="4400" dirty="0"/>
          </a:p>
        </p:txBody>
      </p:sp>
      <p:sp>
        <p:nvSpPr>
          <p:cNvPr id="3" name="Rectangle 2"/>
          <p:cNvSpPr/>
          <p:nvPr/>
        </p:nvSpPr>
        <p:spPr>
          <a:xfrm>
            <a:off x="629920" y="889844"/>
            <a:ext cx="10810240" cy="4193199"/>
          </a:xfrm>
          <a:prstGeom prst="rect">
            <a:avLst/>
          </a:prstGeom>
        </p:spPr>
        <p:txBody>
          <a:bodyPr wrap="square">
            <a:spAutoFit/>
          </a:bodyPr>
          <a:lstStyle/>
          <a:p>
            <a:pPr algn="just">
              <a:lnSpc>
                <a:spcPct val="150000"/>
              </a:lnSpc>
            </a:pPr>
            <a:r>
              <a:rPr lang="fr-FR" dirty="0" smtClean="0"/>
              <a:t>	Ce </a:t>
            </a:r>
            <a:r>
              <a:rPr lang="fr-FR" dirty="0"/>
              <a:t>dossier d'analyse s'inscrit dans la continuité directe du cahier des charges dont il constitue la déclinaison technique et structurelle </a:t>
            </a:r>
            <a:r>
              <a:rPr lang="fr-FR" dirty="0" smtClean="0"/>
              <a:t>pour notre projet. </a:t>
            </a:r>
            <a:r>
              <a:rPr lang="fr-FR" dirty="0"/>
              <a:t>Alors que le document précédent identifiait les besoins en surveillance de performance pour l'environnement </a:t>
            </a:r>
            <a:r>
              <a:rPr lang="fr-FR" b="1" dirty="0"/>
              <a:t>Linux </a:t>
            </a:r>
            <a:r>
              <a:rPr lang="fr-FR" b="1" dirty="0" err="1"/>
              <a:t>openSUSE</a:t>
            </a:r>
            <a:r>
              <a:rPr lang="fr-FR" dirty="0"/>
              <a:t>, le présent dossier a pour objectif de traduire ces exigences fonctionnelles en une architecture logicielle concrète. En s’appuyant sur une modélisation rigoureuse via le langage </a:t>
            </a:r>
            <a:r>
              <a:rPr lang="fr-FR" b="1" dirty="0"/>
              <a:t>UML</a:t>
            </a:r>
            <a:r>
              <a:rPr lang="fr-FR" dirty="0"/>
              <a:t>, nous détaillons ici la conception des mécanismes de capture en temps réel des métriques CPU, tout en respectant les contraintes de performance et de précision imposées par le cahier des charges. Cette phase d'analyse permet de figer la logique interne du moniteur </a:t>
            </a:r>
            <a:r>
              <a:rPr lang="fr-FR" dirty="0" smtClean="0"/>
              <a:t>de </a:t>
            </a:r>
            <a:r>
              <a:rPr lang="fr-FR" dirty="0"/>
              <a:t>l'extraction des données brutes depuis les interfaces du noyau Linux jusqu'à leur représentation visuelle </a:t>
            </a:r>
            <a:r>
              <a:rPr lang="fr-FR" dirty="0" smtClean="0"/>
              <a:t>garantissant </a:t>
            </a:r>
            <a:r>
              <a:rPr lang="fr-FR" dirty="0"/>
              <a:t>ainsi une mise en œuvre cohérente et optimisée pour les architectures multiprocesseurs.</a:t>
            </a:r>
            <a:endParaRPr lang="fr-CM" dirty="0"/>
          </a:p>
        </p:txBody>
      </p:sp>
    </p:spTree>
    <p:extLst>
      <p:ext uri="{BB962C8B-B14F-4D97-AF65-F5344CB8AC3E}">
        <p14:creationId xmlns:p14="http://schemas.microsoft.com/office/powerpoint/2010/main" val="3792547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04632" y="0"/>
            <a:ext cx="8689976" cy="800100"/>
          </a:xfrm>
        </p:spPr>
        <p:txBody>
          <a:bodyPr>
            <a:normAutofit/>
          </a:bodyPr>
          <a:lstStyle/>
          <a:p>
            <a:r>
              <a:rPr lang="en-US" sz="4000" dirty="0" smtClean="0"/>
              <a:t>I. </a:t>
            </a:r>
            <a:r>
              <a:rPr lang="en-US" sz="4000" dirty="0" err="1" smtClean="0"/>
              <a:t>Contexte</a:t>
            </a:r>
            <a:r>
              <a:rPr lang="en-US" sz="4000" dirty="0" smtClean="0"/>
              <a:t> ET OBJECTIFS</a:t>
            </a:r>
            <a:endParaRPr lang="fr-FR" sz="4000" dirty="0"/>
          </a:p>
        </p:txBody>
      </p:sp>
      <p:sp>
        <p:nvSpPr>
          <p:cNvPr id="3" name="ZoneTexte 2"/>
          <p:cNvSpPr txBox="1"/>
          <p:nvPr/>
        </p:nvSpPr>
        <p:spPr>
          <a:xfrm>
            <a:off x="969005" y="3173160"/>
            <a:ext cx="10597279" cy="579582"/>
          </a:xfrm>
          <a:prstGeom prst="rect">
            <a:avLst/>
          </a:prstGeom>
          <a:noFill/>
        </p:spPr>
        <p:txBody>
          <a:bodyPr wrap="square" rtlCol="0">
            <a:spAutoFit/>
          </a:bodyPr>
          <a:lstStyle/>
          <a:p>
            <a:pPr algn="just">
              <a:lnSpc>
                <a:spcPct val="150000"/>
              </a:lnSpc>
            </a:pPr>
            <a:r>
              <a:rPr lang="fr-FR" sz="2400" dirty="0" smtClean="0">
                <a:latin typeface="Times New Roman" panose="02020603050405020304" pitchFamily="18" charset="0"/>
                <a:cs typeface="Times New Roman" panose="02020603050405020304" pitchFamily="18" charset="0"/>
              </a:rPr>
              <a:t>	</a:t>
            </a:r>
            <a:endParaRPr lang="fr-FR" dirty="0"/>
          </a:p>
        </p:txBody>
      </p:sp>
      <p:sp>
        <p:nvSpPr>
          <p:cNvPr id="5" name="Rectangle 2"/>
          <p:cNvSpPr>
            <a:spLocks noChangeArrowheads="1"/>
          </p:cNvSpPr>
          <p:nvPr/>
        </p:nvSpPr>
        <p:spPr bwMode="auto">
          <a:xfrm>
            <a:off x="619760" y="2262622"/>
            <a:ext cx="10797853"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1600" dirty="0" smtClean="0">
                <a:latin typeface="Arial" panose="020B0604020202020204" pitchFamily="34" charset="0"/>
              </a:rPr>
              <a:t>	</a:t>
            </a:r>
            <a:r>
              <a:rPr lang="fr-FR" sz="2000" dirty="0"/>
              <a:t>Le projet </a:t>
            </a:r>
            <a:r>
              <a:rPr lang="fr-FR" sz="2000" b="1" dirty="0" err="1"/>
              <a:t>Multicore</a:t>
            </a:r>
            <a:r>
              <a:rPr lang="fr-FR" sz="2000" b="1" dirty="0"/>
              <a:t> Monitor</a:t>
            </a:r>
            <a:r>
              <a:rPr lang="fr-FR" sz="2000" dirty="0"/>
              <a:t> émerge dans un contexte technologique où la virtualisation, le calcul intensif (HPC) et la conteneurisation sollicitent les processeurs de manière hétérogène. Sous </a:t>
            </a:r>
            <a:r>
              <a:rPr lang="fr-FR" sz="2000" b="1" dirty="0"/>
              <a:t>Linux </a:t>
            </a:r>
            <a:r>
              <a:rPr lang="fr-FR" sz="2000" b="1" dirty="0" err="1"/>
              <a:t>openSUSE</a:t>
            </a:r>
            <a:r>
              <a:rPr lang="fr-FR" sz="2000" dirty="0"/>
              <a:t>, bien que des outils comme </a:t>
            </a:r>
            <a:r>
              <a:rPr lang="fr-FR" sz="2000" i="1" dirty="0"/>
              <a:t>top</a:t>
            </a:r>
            <a:r>
              <a:rPr lang="fr-FR" sz="2000" dirty="0"/>
              <a:t> ou </a:t>
            </a:r>
            <a:r>
              <a:rPr lang="fr-FR" sz="2000" i="1" dirty="0" err="1"/>
              <a:t>htop</a:t>
            </a:r>
            <a:r>
              <a:rPr lang="fr-FR" sz="2000" dirty="0"/>
              <a:t> existent, il devient nécessaire de concevoir une solution dédiée capable d'isoler finement le comportement de chaque cœur physique et logique pour optimiser le rendement système.</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ZoneTexte 3"/>
          <p:cNvSpPr txBox="1"/>
          <p:nvPr/>
        </p:nvSpPr>
        <p:spPr>
          <a:xfrm>
            <a:off x="619760" y="1352085"/>
            <a:ext cx="3434080" cy="646331"/>
          </a:xfrm>
          <a:prstGeom prst="rect">
            <a:avLst/>
          </a:prstGeom>
          <a:noFill/>
        </p:spPr>
        <p:txBody>
          <a:bodyPr wrap="square" rtlCol="0">
            <a:spAutoFit/>
          </a:bodyPr>
          <a:lstStyle/>
          <a:p>
            <a:r>
              <a:rPr lang="fr-CM" sz="3600" b="1" dirty="0" smtClean="0"/>
              <a:t>1. Contexte</a:t>
            </a:r>
            <a:endParaRPr lang="fr-CM" sz="3600" b="1" dirty="0"/>
          </a:p>
        </p:txBody>
      </p:sp>
    </p:spTree>
    <p:extLst>
      <p:ext uri="{BB962C8B-B14F-4D97-AF65-F5344CB8AC3E}">
        <p14:creationId xmlns:p14="http://schemas.microsoft.com/office/powerpoint/2010/main" val="27380466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 calcmode="lin" valueType="num">
                                      <p:cBhvr>
                                        <p:cTn id="25"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26"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27" dur="1000" fill="hold"/>
                                        <p:tgtEl>
                                          <p:spTgt spid="5">
                                            <p:txEl>
                                              <p:pRg st="0" end="0"/>
                                            </p:txEl>
                                          </p:spTgt>
                                        </p:tgtEl>
                                        <p:attrNameLst>
                                          <p:attrName>style.rotation</p:attrName>
                                        </p:attrNameLst>
                                      </p:cBhvr>
                                      <p:tavLst>
                                        <p:tav tm="0">
                                          <p:val>
                                            <p:fltVal val="90"/>
                                          </p:val>
                                        </p:tav>
                                        <p:tav tm="100000">
                                          <p:val>
                                            <p:fltVal val="0"/>
                                          </p:val>
                                        </p:tav>
                                      </p:tavLst>
                                    </p:anim>
                                    <p:animEffect transition="in" filter="fade">
                                      <p:cBhvr>
                                        <p:cTn id="28" dur="1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487680" y="295445"/>
            <a:ext cx="3434080" cy="646331"/>
          </a:xfrm>
          <a:prstGeom prst="rect">
            <a:avLst/>
          </a:prstGeom>
          <a:noFill/>
        </p:spPr>
        <p:txBody>
          <a:bodyPr wrap="square" rtlCol="0">
            <a:spAutoFit/>
          </a:bodyPr>
          <a:lstStyle/>
          <a:p>
            <a:r>
              <a:rPr lang="fr-CM" sz="3600" b="1" dirty="0"/>
              <a:t>2</a:t>
            </a:r>
            <a:r>
              <a:rPr lang="fr-CM" sz="3600" b="1" dirty="0" smtClean="0"/>
              <a:t>. Objectifs</a:t>
            </a:r>
            <a:endParaRPr lang="fr-CM" sz="3600" b="1" dirty="0"/>
          </a:p>
        </p:txBody>
      </p:sp>
      <p:sp>
        <p:nvSpPr>
          <p:cNvPr id="4" name="Rectangle 1"/>
          <p:cNvSpPr>
            <a:spLocks noChangeArrowheads="1"/>
          </p:cNvSpPr>
          <p:nvPr/>
        </p:nvSpPr>
        <p:spPr bwMode="auto">
          <a:xfrm>
            <a:off x="487680" y="1269066"/>
            <a:ext cx="11431051"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Les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objectifs</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principaux</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ce</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dossier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sont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Précision</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temporelle</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Garantir</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que les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métriques</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collectées</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reflètent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l'état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réel</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du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processeur</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à des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intervalles</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temps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extrêmement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courts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proche</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du temps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réel</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strict).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Granularité</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a:t>
            </a:r>
            <a:r>
              <a:rPr kumimoji="0" lang="en-US" alt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données</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Dépasser</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la simple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mesure</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charge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globale</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pour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analyser</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fréquences</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par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cœur</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cycles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d'attente</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(I/O wait) et la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répartition</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interruptions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matérielles</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Interopérabilité</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système</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Exploiter les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spécificités</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d'openSUSE</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notamment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sa</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gestion</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avancée</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du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noyau</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tout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en</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restant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compatible avec les standards du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noyau</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Linux (Kernel) pour assurer la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pérennité</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l'outil</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Maîtrise</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l'empreinte</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logicielle</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Concevoir</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un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moniteur</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dont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l'exécution</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n'impacte</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pas les performances des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cœurs</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qu'il</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est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censé</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surveiller</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en</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optimisant</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a:t>
            </a:r>
            <a:r>
              <a:rPr kumimoji="0" lang="en-US" altLang="en-US" sz="200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accès</a:t>
            </a: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aux systems</a:t>
            </a:r>
            <a:r>
              <a:rPr kumimoji="0" lang="en-US" altLang="en-US" sz="200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via EBPF</a:t>
            </a:r>
            <a:endParaRPr kumimoji="0" lang="en-US" altLang="en-US" sz="180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56501259"/>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80321" y="111761"/>
            <a:ext cx="10353761" cy="599439"/>
          </a:xfrm>
        </p:spPr>
        <p:txBody>
          <a:bodyPr/>
          <a:lstStyle/>
          <a:p>
            <a:r>
              <a:rPr lang="fr-FR" dirty="0" smtClean="0"/>
              <a:t>II</a:t>
            </a:r>
            <a:r>
              <a:rPr lang="en-US" dirty="0" smtClean="0"/>
              <a:t>. PERIMETRE FONCTIONNEL</a:t>
            </a:r>
            <a:endParaRPr lang="fr-FR" dirty="0"/>
          </a:p>
        </p:txBody>
      </p:sp>
      <p:sp>
        <p:nvSpPr>
          <p:cNvPr id="5" name="Rectangle 2"/>
          <p:cNvSpPr>
            <a:spLocks noChangeArrowheads="1"/>
          </p:cNvSpPr>
          <p:nvPr/>
        </p:nvSpPr>
        <p:spPr bwMode="auto">
          <a:xfrm>
            <a:off x="386080" y="1233909"/>
            <a:ext cx="4886960"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Le Module de </a:t>
            </a:r>
            <a:r>
              <a:rPr kumimoji="0" lang="en-US" alt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Collecte</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(Data Extractor):</a:t>
            </a:r>
          </a:p>
          <a:p>
            <a:pPr marR="0" lvl="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C'est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module "bas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niveau</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Son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rôle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est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communiquer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avec le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noyau</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Linux pour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récupérer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informations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brutes.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Sources : </a:t>
            </a: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Capture</a:t>
            </a:r>
            <a:r>
              <a:rPr kumimoji="0" lang="en-US" altLang="en-US"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des performance du CPU  via EBPF</a:t>
            </a:r>
            <a:endPar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Fonction</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Il parse les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chaînes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caractères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brutes du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système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et les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convertit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en</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données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numériques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exploitables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ZoneTexte 5"/>
          <p:cNvSpPr txBox="1"/>
          <p:nvPr/>
        </p:nvSpPr>
        <p:spPr>
          <a:xfrm>
            <a:off x="6969761" y="841494"/>
            <a:ext cx="4775200" cy="369332"/>
          </a:xfrm>
          <a:prstGeom prst="rect">
            <a:avLst/>
          </a:prstGeom>
          <a:noFill/>
        </p:spPr>
        <p:txBody>
          <a:bodyPr wrap="square" rtlCol="0">
            <a:spAutoFit/>
          </a:bodyPr>
          <a:lstStyle/>
          <a:p>
            <a:r>
              <a:rPr lang="fr-CM" dirty="0" smtClean="0"/>
              <a:t> </a:t>
            </a:r>
            <a:endParaRPr lang="fr-CM" dirty="0"/>
          </a:p>
        </p:txBody>
      </p:sp>
      <p:sp>
        <p:nvSpPr>
          <p:cNvPr id="8" name="Rectangle 4"/>
          <p:cNvSpPr>
            <a:spLocks noChangeArrowheads="1"/>
          </p:cNvSpPr>
          <p:nvPr/>
        </p:nvSpPr>
        <p:spPr bwMode="auto">
          <a:xfrm>
            <a:off x="6065521" y="1309578"/>
            <a:ext cx="5679440" cy="457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 Le Module de </a:t>
            </a:r>
            <a:r>
              <a:rPr kumimoji="0" lang="en-US" alt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Calcul</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et </a:t>
            </a:r>
            <a:r>
              <a:rPr kumimoji="0" lang="en-US" alt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d'Analyse</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(Logic Engine):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Les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données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lues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dans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proc</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sont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compteurs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cumulatifs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Ce module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effectue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calculs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mathématiques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pour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obtenir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pourcentages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Gestion</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cœurs</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Il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organise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données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dans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une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structure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d'objet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une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liste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d'objets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Core) pour que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chaque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cœur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soit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suivi</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individuellement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Surveillance des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seuils</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Il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vérifie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si</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une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valeur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dépasse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limites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définies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alerte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si</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Charge &gt; 90%).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91684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a:spLocks/>
          </p:cNvSpPr>
          <p:nvPr/>
        </p:nvSpPr>
        <p:spPr>
          <a:xfrm>
            <a:off x="597191" y="137160"/>
            <a:ext cx="10353761" cy="599439"/>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r>
              <a:rPr lang="fr-FR" dirty="0" smtClean="0"/>
              <a:t>II</a:t>
            </a:r>
            <a:r>
              <a:rPr lang="en-US" dirty="0" smtClean="0"/>
              <a:t>. PERIMETRE FONCTIONNEL</a:t>
            </a:r>
            <a:endParaRPr lang="fr-FR" dirty="0"/>
          </a:p>
        </p:txBody>
      </p:sp>
      <p:sp>
        <p:nvSpPr>
          <p:cNvPr id="6" name="Rectangle 1"/>
          <p:cNvSpPr>
            <a:spLocks noChangeArrowheads="1"/>
          </p:cNvSpPr>
          <p:nvPr/>
        </p:nvSpPr>
        <p:spPr bwMode="auto">
          <a:xfrm>
            <a:off x="426720" y="1297939"/>
            <a:ext cx="556768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3. Le Module </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 'Interface </a:t>
            </a:r>
            <a:r>
              <a:rPr kumimoji="0" lang="en-US" alt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Utilisateur</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(UI/Dashboard):</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Mode </a:t>
            </a:r>
            <a:r>
              <a:rPr kumimoji="0" lang="en-US" alt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Graphique</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(GUI) :</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Utilisation</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Qt</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ou</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GTK pour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afficher</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courbes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et des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jauges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colorées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2"/>
          <p:cNvSpPr>
            <a:spLocks noChangeArrowheads="1"/>
          </p:cNvSpPr>
          <p:nvPr/>
        </p:nvSpPr>
        <p:spPr bwMode="auto">
          <a:xfrm>
            <a:off x="6167120" y="1297939"/>
            <a:ext cx="6024880"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4. Le Module de </a:t>
            </a:r>
            <a:r>
              <a:rPr kumimoji="0" lang="en-US" alt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Journalisation</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et Configuration (System Manager):</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Ce module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gère</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la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persistance</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et les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réglages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l'application</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Configuration :</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Lecture d'un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fichier</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config.conf</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pour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définir</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l'intervalle</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rafraîchissement</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 500ms).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Logging :</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Enregistrement</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anomalies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ou</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historiques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performance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dans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var</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/log/multicore_monitor.log.</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96156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19760" y="2433320"/>
            <a:ext cx="10570528" cy="800100"/>
          </a:xfrm>
        </p:spPr>
        <p:txBody>
          <a:bodyPr>
            <a:normAutofit fontScale="90000"/>
          </a:bodyPr>
          <a:lstStyle/>
          <a:p>
            <a:pPr>
              <a:lnSpc>
                <a:spcPct val="150000"/>
              </a:lnSpc>
            </a:pPr>
            <a:r>
              <a:rPr lang="en-US" b="1" dirty="0" smtClean="0">
                <a:latin typeface="Times New Roman" panose="02020603050405020304" pitchFamily="18" charset="0"/>
                <a:cs typeface="Times New Roman" panose="02020603050405020304" pitchFamily="18" charset="0"/>
              </a:rPr>
              <a:t>III. ACTEURS ET CAS D’UTILISATION</a:t>
            </a:r>
            <a:endParaRPr lang="fr-FR"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6391933"/>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p:cNvSpPr txBox="1">
            <a:spLocks/>
          </p:cNvSpPr>
          <p:nvPr/>
        </p:nvSpPr>
        <p:spPr>
          <a:xfrm>
            <a:off x="1117600" y="-82712"/>
            <a:ext cx="10052368" cy="800100"/>
          </a:xfrm>
          <a:prstGeom prst="rect">
            <a:avLst/>
          </a:prstGeom>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a:lnSpc>
                <a:spcPct val="150000"/>
              </a:lnSpc>
            </a:pPr>
            <a:r>
              <a:rPr lang="en-US" dirty="0" smtClean="0"/>
              <a:t>III. ACTEURS ET CAS D’UTILISATION</a:t>
            </a:r>
            <a:endParaRPr lang="fr-FR" dirty="0"/>
          </a:p>
        </p:txBody>
      </p:sp>
      <p:sp>
        <p:nvSpPr>
          <p:cNvPr id="10" name="ZoneTexte 9"/>
          <p:cNvSpPr txBox="1"/>
          <p:nvPr/>
        </p:nvSpPr>
        <p:spPr>
          <a:xfrm>
            <a:off x="201108" y="717388"/>
            <a:ext cx="5651976" cy="4247317"/>
          </a:xfrm>
          <a:prstGeom prst="rect">
            <a:avLst/>
          </a:prstGeom>
          <a:noFill/>
        </p:spPr>
        <p:txBody>
          <a:bodyPr wrap="square" rtlCol="0">
            <a:spAutoFit/>
          </a:bodyPr>
          <a:lstStyle/>
          <a:p>
            <a:pPr marL="342900" indent="-342900">
              <a:buFont typeface="+mj-lt"/>
              <a:buAutoNum type="arabicPeriod"/>
            </a:pPr>
            <a:r>
              <a:rPr lang="fr-CM" b="1" dirty="0" smtClean="0"/>
              <a:t>Administrateur du système (acteur principal):</a:t>
            </a:r>
          </a:p>
          <a:p>
            <a:endParaRPr lang="fr-CM" dirty="0" smtClean="0"/>
          </a:p>
          <a:p>
            <a:pPr lvl="0" eaLnBrk="0" fontAlgn="base" hangingPunct="0">
              <a:lnSpc>
                <a:spcPct val="150000"/>
              </a:lnSpc>
              <a:spcBef>
                <a:spcPct val="0"/>
              </a:spcBef>
              <a:spcAft>
                <a:spcPct val="0"/>
              </a:spcAft>
              <a:buFontTx/>
              <a:buChar char="•"/>
            </a:pPr>
            <a:r>
              <a:rPr lang="fr-CM" altLang="en-US" dirty="0" smtClean="0"/>
              <a:t> </a:t>
            </a:r>
            <a:r>
              <a:rPr lang="en-US" altLang="en-US" b="1" dirty="0" err="1" smtClean="0">
                <a:latin typeface="Times New Roman" panose="02020603050405020304" pitchFamily="18" charset="0"/>
                <a:cs typeface="Times New Roman" panose="02020603050405020304" pitchFamily="18" charset="0"/>
              </a:rPr>
              <a:t>Visualiser</a:t>
            </a:r>
            <a:r>
              <a:rPr lang="en-US" altLang="en-US" b="1" dirty="0" smtClean="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les performances</a:t>
            </a:r>
            <a:r>
              <a:rPr lang="en-US" altLang="en-US" dirty="0">
                <a:latin typeface="Times New Roman" panose="02020603050405020304" pitchFamily="18" charset="0"/>
                <a:cs typeface="Times New Roman" panose="02020603050405020304" pitchFamily="18" charset="0"/>
              </a:rPr>
              <a:t> (Charge, </a:t>
            </a:r>
            <a:r>
              <a:rPr lang="en-US" altLang="en-US" dirty="0" err="1">
                <a:latin typeface="Times New Roman" panose="02020603050405020304" pitchFamily="18" charset="0"/>
                <a:cs typeface="Times New Roman" panose="02020603050405020304" pitchFamily="18" charset="0"/>
              </a:rPr>
              <a:t>Fréquence</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Température</a:t>
            </a:r>
            <a:r>
              <a:rPr lang="en-US" altLang="en-US" dirty="0">
                <a:latin typeface="Times New Roman" panose="02020603050405020304" pitchFamily="18" charset="0"/>
                <a:cs typeface="Times New Roman" panose="02020603050405020304" pitchFamily="18" charset="0"/>
              </a:rPr>
              <a:t>).</a:t>
            </a:r>
          </a:p>
          <a:p>
            <a:pPr lvl="0" eaLnBrk="0" fontAlgn="base" hangingPunct="0">
              <a:lnSpc>
                <a:spcPct val="150000"/>
              </a:lnSpc>
              <a:spcBef>
                <a:spcPct val="0"/>
              </a:spcBef>
              <a:spcAft>
                <a:spcPct val="0"/>
              </a:spcAft>
              <a:buFontTx/>
              <a:buChar char="•"/>
            </a:pPr>
            <a:r>
              <a:rPr lang="en-US" altLang="en-US" b="1" dirty="0" smtClean="0">
                <a:latin typeface="Times New Roman" panose="02020603050405020304" pitchFamily="18" charset="0"/>
                <a:cs typeface="Times New Roman" panose="02020603050405020304" pitchFamily="18" charset="0"/>
              </a:rPr>
              <a:t> </a:t>
            </a:r>
            <a:r>
              <a:rPr lang="en-US" altLang="en-US" b="1" dirty="0" err="1" smtClean="0">
                <a:latin typeface="Times New Roman" panose="02020603050405020304" pitchFamily="18" charset="0"/>
                <a:cs typeface="Times New Roman" panose="02020603050405020304" pitchFamily="18" charset="0"/>
              </a:rPr>
              <a:t>Paramétrer</a:t>
            </a:r>
            <a:r>
              <a:rPr lang="en-US" altLang="en-US" b="1" dirty="0" smtClean="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le </a:t>
            </a:r>
            <a:r>
              <a:rPr lang="en-US" altLang="en-US" b="1" dirty="0" err="1">
                <a:latin typeface="Times New Roman" panose="02020603050405020304" pitchFamily="18" charset="0"/>
                <a:cs typeface="Times New Roman" panose="02020603050405020304" pitchFamily="18" charset="0"/>
              </a:rPr>
              <a:t>moniteur</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Seuils</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d'alerte</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intervalles</a:t>
            </a:r>
            <a:r>
              <a:rPr lang="en-US" altLang="en-US" dirty="0">
                <a:latin typeface="Times New Roman" panose="02020603050405020304" pitchFamily="18" charset="0"/>
                <a:cs typeface="Times New Roman" panose="02020603050405020304" pitchFamily="18" charset="0"/>
              </a:rPr>
              <a:t> de </a:t>
            </a:r>
            <a:r>
              <a:rPr lang="en-US" altLang="en-US" dirty="0" err="1">
                <a:latin typeface="Times New Roman" panose="02020603050405020304" pitchFamily="18" charset="0"/>
                <a:cs typeface="Times New Roman" panose="02020603050405020304" pitchFamily="18" charset="0"/>
              </a:rPr>
              <a:t>rafraîchissement</a:t>
            </a:r>
            <a:r>
              <a:rPr lang="en-US" altLang="en-US" dirty="0">
                <a:latin typeface="Times New Roman" panose="02020603050405020304" pitchFamily="18" charset="0"/>
                <a:cs typeface="Times New Roman" panose="02020603050405020304" pitchFamily="18" charset="0"/>
              </a:rPr>
              <a:t>).</a:t>
            </a:r>
          </a:p>
          <a:p>
            <a:pPr lvl="0" eaLnBrk="0" fontAlgn="base" hangingPunct="0">
              <a:lnSpc>
                <a:spcPct val="150000"/>
              </a:lnSpc>
              <a:spcBef>
                <a:spcPct val="0"/>
              </a:spcBef>
              <a:spcAft>
                <a:spcPct val="0"/>
              </a:spcAft>
              <a:buFontTx/>
              <a:buChar char="•"/>
            </a:pPr>
            <a:r>
              <a:rPr lang="en-US" altLang="en-US" b="1" dirty="0" smtClean="0">
                <a:latin typeface="Times New Roman" panose="02020603050405020304" pitchFamily="18" charset="0"/>
                <a:cs typeface="Times New Roman" panose="02020603050405020304" pitchFamily="18" charset="0"/>
              </a:rPr>
              <a:t>Exporter </a:t>
            </a:r>
            <a:r>
              <a:rPr lang="en-US" altLang="en-US" b="1" dirty="0">
                <a:latin typeface="Times New Roman" panose="02020603050405020304" pitchFamily="18" charset="0"/>
                <a:cs typeface="Times New Roman" panose="02020603050405020304" pitchFamily="18" charset="0"/>
              </a:rPr>
              <a:t>les rapports</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Génération</a:t>
            </a:r>
            <a:r>
              <a:rPr lang="en-US" altLang="en-US" dirty="0">
                <a:latin typeface="Times New Roman" panose="02020603050405020304" pitchFamily="18" charset="0"/>
                <a:cs typeface="Times New Roman" panose="02020603050405020304" pitchFamily="18" charset="0"/>
              </a:rPr>
              <a:t> de </a:t>
            </a:r>
            <a:r>
              <a:rPr lang="en-US" altLang="en-US" dirty="0" err="1">
                <a:latin typeface="Times New Roman" panose="02020603050405020304" pitchFamily="18" charset="0"/>
                <a:cs typeface="Times New Roman" panose="02020603050405020304" pitchFamily="18" charset="0"/>
              </a:rPr>
              <a:t>fichiers</a:t>
            </a:r>
            <a:r>
              <a:rPr lang="en-US" altLang="en-US" dirty="0">
                <a:latin typeface="Times New Roman" panose="02020603050405020304" pitchFamily="18" charset="0"/>
                <a:cs typeface="Times New Roman" panose="02020603050405020304" pitchFamily="18" charset="0"/>
              </a:rPr>
              <a:t> logs </a:t>
            </a:r>
            <a:r>
              <a:rPr lang="en-US" altLang="en-US" dirty="0" err="1">
                <a:latin typeface="Times New Roman" panose="02020603050405020304" pitchFamily="18" charset="0"/>
                <a:cs typeface="Times New Roman" panose="02020603050405020304" pitchFamily="18" charset="0"/>
              </a:rPr>
              <a:t>ou</a:t>
            </a:r>
            <a:r>
              <a:rPr lang="en-US" altLang="en-US" dirty="0">
                <a:latin typeface="Times New Roman" panose="02020603050405020304" pitchFamily="18" charset="0"/>
                <a:cs typeface="Times New Roman" panose="02020603050405020304" pitchFamily="18" charset="0"/>
              </a:rPr>
              <a:t> CSV</a:t>
            </a:r>
            <a:r>
              <a:rPr lang="en-US" altLang="en-US" dirty="0" smtClean="0">
                <a:latin typeface="Times New Roman" panose="02020603050405020304" pitchFamily="18" charset="0"/>
                <a:cs typeface="Times New Roman" panose="02020603050405020304" pitchFamily="18" charset="0"/>
              </a:rPr>
              <a:t>)..</a:t>
            </a:r>
          </a:p>
          <a:p>
            <a:pPr lvl="0" eaLnBrk="0" fontAlgn="base" hangingPunct="0">
              <a:lnSpc>
                <a:spcPct val="150000"/>
              </a:lnSpc>
              <a:spcBef>
                <a:spcPct val="0"/>
              </a:spcBef>
              <a:spcAft>
                <a:spcPct val="0"/>
              </a:spcAft>
              <a:buFontTx/>
              <a:buChar char="•"/>
            </a:pPr>
            <a:r>
              <a:rPr lang="en-US" altLang="en-US" b="1" dirty="0" smtClean="0">
                <a:latin typeface="Times New Roman" panose="02020603050405020304" pitchFamily="18" charset="0"/>
                <a:cs typeface="Times New Roman" panose="02020603050405020304" pitchFamily="18" charset="0"/>
              </a:rPr>
              <a:t>  </a:t>
            </a:r>
            <a:r>
              <a:rPr lang="en-US" altLang="en-US" b="1" dirty="0" err="1" smtClean="0">
                <a:latin typeface="Times New Roman" panose="02020603050405020304" pitchFamily="18" charset="0"/>
                <a:cs typeface="Times New Roman" panose="02020603050405020304" pitchFamily="18" charset="0"/>
              </a:rPr>
              <a:t>Réagir</a:t>
            </a:r>
            <a:r>
              <a:rPr lang="en-US" altLang="en-US" b="1" dirty="0" smtClean="0">
                <a:latin typeface="Times New Roman" panose="02020603050405020304" pitchFamily="18" charset="0"/>
                <a:cs typeface="Times New Roman" panose="02020603050405020304" pitchFamily="18" charset="0"/>
              </a:rPr>
              <a:t> aux </a:t>
            </a:r>
            <a:r>
              <a:rPr lang="en-US" altLang="en-US" b="1" dirty="0" err="1" smtClean="0">
                <a:latin typeface="Times New Roman" panose="02020603050405020304" pitchFamily="18" charset="0"/>
                <a:cs typeface="Times New Roman" panose="02020603050405020304" pitchFamily="18" charset="0"/>
              </a:rPr>
              <a:t>alertes</a:t>
            </a:r>
            <a:r>
              <a:rPr lang="en-US" altLang="en-US" dirty="0" smtClean="0">
                <a:latin typeface="Times New Roman" panose="02020603050405020304" pitchFamily="18" charset="0"/>
                <a:cs typeface="Times New Roman" panose="02020603050405020304" pitchFamily="18" charset="0"/>
              </a:rPr>
              <a:t> (Acquitter </a:t>
            </a:r>
            <a:r>
              <a:rPr lang="en-US" altLang="en-US" dirty="0" err="1" smtClean="0">
                <a:latin typeface="Times New Roman" panose="02020603050405020304" pitchFamily="18" charset="0"/>
                <a:cs typeface="Times New Roman" panose="02020603050405020304" pitchFamily="18" charset="0"/>
              </a:rPr>
              <a:t>une</a:t>
            </a:r>
            <a:r>
              <a:rPr lang="en-US" altLang="en-US" dirty="0" smtClean="0">
                <a:latin typeface="Times New Roman" panose="02020603050405020304" pitchFamily="18" charset="0"/>
                <a:cs typeface="Times New Roman" panose="02020603050405020304" pitchFamily="18" charset="0"/>
              </a:rPr>
              <a:t> notification de </a:t>
            </a:r>
            <a:r>
              <a:rPr lang="en-US" altLang="en-US" dirty="0" err="1" smtClean="0">
                <a:latin typeface="Times New Roman" panose="02020603050405020304" pitchFamily="18" charset="0"/>
                <a:cs typeface="Times New Roman" panose="02020603050405020304" pitchFamily="18" charset="0"/>
              </a:rPr>
              <a:t>surchauffe</a:t>
            </a:r>
            <a:r>
              <a:rPr lang="en-US" altLang="en-US" dirty="0" smtClean="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q"/>
            </a:pPr>
            <a:endParaRPr lang="fr-CM" dirty="0"/>
          </a:p>
        </p:txBody>
      </p:sp>
      <p:sp>
        <p:nvSpPr>
          <p:cNvPr id="13" name="Rectangle 12"/>
          <p:cNvSpPr/>
          <p:nvPr/>
        </p:nvSpPr>
        <p:spPr>
          <a:xfrm>
            <a:off x="6143784" y="717388"/>
            <a:ext cx="6096000" cy="4385816"/>
          </a:xfrm>
          <a:prstGeom prst="rect">
            <a:avLst/>
          </a:prstGeom>
        </p:spPr>
        <p:txBody>
          <a:bodyPr>
            <a:spAutoFit/>
          </a:bodyPr>
          <a:lstStyle/>
          <a:p>
            <a:r>
              <a:rPr lang="fr-FR" b="1" dirty="0" smtClean="0"/>
              <a:t>2. Utilisateur (acteur principal):</a:t>
            </a:r>
          </a:p>
          <a:p>
            <a:endParaRPr lang="fr-FR" b="1" dirty="0" smtClean="0"/>
          </a:p>
          <a:p>
            <a:pPr>
              <a:lnSpc>
                <a:spcPct val="150000"/>
              </a:lnSpc>
            </a:pPr>
            <a:r>
              <a:rPr lang="fr-FR" b="1" dirty="0" smtClean="0"/>
              <a:t>a) Consulter </a:t>
            </a:r>
            <a:endParaRPr lang="fr-FR" b="1" dirty="0"/>
          </a:p>
          <a:p>
            <a:pPr>
              <a:lnSpc>
                <a:spcPct val="150000"/>
              </a:lnSpc>
              <a:buFont typeface="Arial" panose="020B0604020202020204" pitchFamily="34" charset="0"/>
              <a:buChar char="•"/>
            </a:pPr>
            <a:r>
              <a:rPr lang="fr-FR" b="1" dirty="0"/>
              <a:t>Visualiser le tableau de bord :</a:t>
            </a:r>
            <a:r>
              <a:rPr lang="fr-FR" dirty="0"/>
              <a:t> Consulter la charge globale et individuelle des cœurs en temps réel.</a:t>
            </a:r>
          </a:p>
          <a:p>
            <a:pPr>
              <a:lnSpc>
                <a:spcPct val="150000"/>
              </a:lnSpc>
              <a:buFont typeface="Arial" panose="020B0604020202020204" pitchFamily="34" charset="0"/>
              <a:buChar char="•"/>
            </a:pPr>
            <a:r>
              <a:rPr lang="fr-FR" b="1" dirty="0"/>
              <a:t>Surveiller les températures :</a:t>
            </a:r>
            <a:r>
              <a:rPr lang="fr-FR" dirty="0"/>
              <a:t> Vérifier que son activité n'entraîne pas une surchauffe du processeur.</a:t>
            </a:r>
          </a:p>
          <a:p>
            <a:pPr>
              <a:lnSpc>
                <a:spcPct val="150000"/>
              </a:lnSpc>
              <a:buFont typeface="Arial" panose="020B0604020202020204" pitchFamily="34" charset="0"/>
              <a:buChar char="•"/>
            </a:pPr>
            <a:r>
              <a:rPr lang="fr-FR" b="1" dirty="0"/>
              <a:t>Consulter les fréquences :</a:t>
            </a:r>
            <a:r>
              <a:rPr lang="fr-FR" dirty="0"/>
              <a:t> Vérifier si le processeur tourne à sa vitesse maximale (mode </a:t>
            </a:r>
            <a:r>
              <a:rPr lang="fr-FR" dirty="0" err="1"/>
              <a:t>Boost</a:t>
            </a:r>
            <a:r>
              <a:rPr lang="fr-FR" dirty="0"/>
              <a:t>) ou s'il est bridé</a:t>
            </a:r>
            <a:r>
              <a:rPr lang="fr-FR" dirty="0" smtClean="0"/>
              <a:t>.</a:t>
            </a:r>
          </a:p>
          <a:p>
            <a:pPr lvl="0">
              <a:lnSpc>
                <a:spcPct val="150000"/>
              </a:lnSpc>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 </a:t>
            </a:r>
            <a:r>
              <a:rPr lang="en-US" altLang="en-US" b="1" dirty="0" err="1" smtClean="0">
                <a:latin typeface="Times New Roman" panose="02020603050405020304" pitchFamily="18" charset="0"/>
                <a:cs typeface="Times New Roman" panose="02020603050405020304" pitchFamily="18" charset="0"/>
              </a:rPr>
              <a:t>Selectionner</a:t>
            </a:r>
            <a:r>
              <a:rPr lang="en-US" altLang="en-US" b="1" dirty="0" smtClean="0">
                <a:latin typeface="Times New Roman" panose="02020603050405020304" pitchFamily="18" charset="0"/>
                <a:cs typeface="Times New Roman" panose="02020603050405020304" pitchFamily="18" charset="0"/>
              </a:rPr>
              <a:t> les </a:t>
            </a:r>
            <a:r>
              <a:rPr lang="en-US" altLang="en-US" b="1" dirty="0" err="1" smtClean="0">
                <a:latin typeface="Times New Roman" panose="02020603050405020304" pitchFamily="18" charset="0"/>
                <a:cs typeface="Times New Roman" panose="02020603050405020304" pitchFamily="18" charset="0"/>
              </a:rPr>
              <a:t>coeurs</a:t>
            </a:r>
            <a:r>
              <a:rPr lang="en-US" altLang="en-US" b="1" dirty="0" smtClean="0">
                <a:latin typeface="Times New Roman" panose="02020603050405020304" pitchFamily="18" charset="0"/>
                <a:cs typeface="Times New Roman" panose="02020603050405020304" pitchFamily="18" charset="0"/>
              </a:rPr>
              <a:t> à </a:t>
            </a:r>
            <a:r>
              <a:rPr lang="en-US" altLang="en-US" b="1" dirty="0" err="1" smtClean="0">
                <a:latin typeface="Times New Roman" panose="02020603050405020304" pitchFamily="18" charset="0"/>
                <a:cs typeface="Times New Roman" panose="02020603050405020304" pitchFamily="18" charset="0"/>
              </a:rPr>
              <a:t>surveiller</a:t>
            </a:r>
            <a:endParaRPr lang="fr-FR" dirty="0"/>
          </a:p>
        </p:txBody>
      </p:sp>
    </p:spTree>
    <p:extLst>
      <p:ext uri="{BB962C8B-B14F-4D97-AF65-F5344CB8AC3E}">
        <p14:creationId xmlns:p14="http://schemas.microsoft.com/office/powerpoint/2010/main" val="41946217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1"/>
          <p:cNvSpPr txBox="1">
            <a:spLocks/>
          </p:cNvSpPr>
          <p:nvPr/>
        </p:nvSpPr>
        <p:spPr>
          <a:xfrm>
            <a:off x="1117600" y="-82712"/>
            <a:ext cx="10052368" cy="800100"/>
          </a:xfrm>
          <a:prstGeom prst="rect">
            <a:avLst/>
          </a:prstGeom>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a:lnSpc>
                <a:spcPct val="150000"/>
              </a:lnSpc>
            </a:pPr>
            <a:r>
              <a:rPr lang="en-US" dirty="0" smtClean="0"/>
              <a:t>III. ACTEURS ET CAS D’UTILISATION</a:t>
            </a:r>
            <a:endParaRPr lang="fr-FR" dirty="0"/>
          </a:p>
        </p:txBody>
      </p:sp>
      <p:sp>
        <p:nvSpPr>
          <p:cNvPr id="3" name="Rectangle 1"/>
          <p:cNvSpPr>
            <a:spLocks noChangeArrowheads="1"/>
          </p:cNvSpPr>
          <p:nvPr/>
        </p:nvSpPr>
        <p:spPr bwMode="auto">
          <a:xfrm>
            <a:off x="624086" y="1495135"/>
            <a:ext cx="1004319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b="1" dirty="0" smtClean="0">
                <a:latin typeface="Times New Roman" panose="02020603050405020304" pitchFamily="18" charset="0"/>
                <a:cs typeface="Times New Roman" panose="02020603050405020304" pitchFamily="18" charset="0"/>
              </a:rPr>
              <a:t>3. </a:t>
            </a:r>
            <a:r>
              <a:rPr lang="en-US" altLang="en-US" b="1" dirty="0" err="1" smtClean="0">
                <a:latin typeface="Times New Roman" panose="02020603050405020304" pitchFamily="18" charset="0"/>
                <a:cs typeface="Times New Roman" panose="02020603050405020304" pitchFamily="18" charset="0"/>
              </a:rPr>
              <a:t>Noyaux</a:t>
            </a:r>
            <a:r>
              <a:rPr lang="en-US" altLang="en-US" b="1" dirty="0" smtClean="0">
                <a:latin typeface="Times New Roman" panose="02020603050405020304" pitchFamily="18" charset="0"/>
                <a:cs typeface="Times New Roman" panose="02020603050405020304" pitchFamily="18" charset="0"/>
              </a:rPr>
              <a:t> </a:t>
            </a:r>
            <a:r>
              <a:rPr lang="en-US" altLang="en-US" b="1" dirty="0" err="1" smtClean="0">
                <a:latin typeface="Times New Roman" panose="02020603050405020304" pitchFamily="18" charset="0"/>
                <a:cs typeface="Times New Roman" panose="02020603050405020304" pitchFamily="18" charset="0"/>
              </a:rPr>
              <a:t>linux</a:t>
            </a:r>
            <a:r>
              <a:rPr lang="en-US" altLang="en-US" b="1" dirty="0" smtClean="0">
                <a:latin typeface="Times New Roman" panose="02020603050405020304" pitchFamily="18" charset="0"/>
                <a:cs typeface="Times New Roman" panose="02020603050405020304" pitchFamily="18" charset="0"/>
              </a:rPr>
              <a:t>/</a:t>
            </a:r>
            <a:r>
              <a:rPr lang="en-US" altLang="en-US" b="1" dirty="0" err="1" smtClean="0">
                <a:latin typeface="Times New Roman" panose="02020603050405020304" pitchFamily="18" charset="0"/>
                <a:cs typeface="Times New Roman" panose="02020603050405020304" pitchFamily="18" charset="0"/>
              </a:rPr>
              <a:t>Système</a:t>
            </a:r>
            <a:r>
              <a:rPr lang="en-US" altLang="en-US" b="1" dirty="0" smtClean="0">
                <a:latin typeface="Times New Roman" panose="02020603050405020304" pitchFamily="18" charset="0"/>
                <a:cs typeface="Times New Roman" panose="02020603050405020304" pitchFamily="18" charset="0"/>
              </a:rPr>
              <a:t> </a:t>
            </a:r>
            <a:r>
              <a:rPr lang="en-US" altLang="en-US" b="1" dirty="0" err="1" smtClean="0">
                <a:latin typeface="Times New Roman" panose="02020603050405020304" pitchFamily="18" charset="0"/>
                <a:cs typeface="Times New Roman" panose="02020603050405020304" pitchFamily="18" charset="0"/>
              </a:rPr>
              <a:t>d’Exploitation</a:t>
            </a:r>
            <a:r>
              <a:rPr lang="en-US" altLang="en-US" b="1" dirty="0" smtClean="0">
                <a:latin typeface="Times New Roman" panose="02020603050405020304" pitchFamily="18" charset="0"/>
                <a:cs typeface="Times New Roman" panose="02020603050405020304" pitchFamily="18" charset="0"/>
              </a:rPr>
              <a:t> (</a:t>
            </a:r>
            <a:r>
              <a:rPr lang="en-US" altLang="en-US" b="1" dirty="0" err="1" smtClean="0">
                <a:latin typeface="Times New Roman" panose="02020603050405020304" pitchFamily="18" charset="0"/>
                <a:cs typeface="Times New Roman" panose="02020603050405020304" pitchFamily="18" charset="0"/>
              </a:rPr>
              <a:t>Acteurs</a:t>
            </a:r>
            <a:r>
              <a:rPr lang="en-US" altLang="en-US" b="1" dirty="0" smtClean="0">
                <a:latin typeface="Times New Roman" panose="02020603050405020304" pitchFamily="18" charset="0"/>
                <a:cs typeface="Times New Roman" panose="02020603050405020304" pitchFamily="18" charset="0"/>
              </a:rPr>
              <a:t> </a:t>
            </a:r>
            <a:r>
              <a:rPr lang="en-US" altLang="en-US" b="1" dirty="0" err="1" smtClean="0">
                <a:latin typeface="Times New Roman" panose="02020603050405020304" pitchFamily="18" charset="0"/>
                <a:cs typeface="Times New Roman" panose="02020603050405020304" pitchFamily="18" charset="0"/>
              </a:rPr>
              <a:t>secondaires</a:t>
            </a:r>
            <a:r>
              <a:rPr lang="en-US" altLang="en-US" b="1" dirty="0" smtClean="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en-US" b="1" dirty="0" smtClean="0">
                <a:latin typeface="Times New Roman" panose="02020603050405020304" pitchFamily="18" charset="0"/>
                <a:cs typeface="Times New Roman" panose="02020603050405020304" pitchFamily="18" charset="0"/>
              </a:rPr>
              <a:t>a) </a:t>
            </a:r>
            <a:r>
              <a:rPr lang="en-US" altLang="en-US" b="1" dirty="0" err="1" smtClean="0">
                <a:latin typeface="Times New Roman" panose="02020603050405020304" pitchFamily="18" charset="0"/>
                <a:cs typeface="Times New Roman" panose="02020603050405020304" pitchFamily="18" charset="0"/>
              </a:rPr>
              <a:t>F</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ournir</a:t>
            </a:r>
            <a:r>
              <a:rPr kumimoji="0" lang="en-US" altLang="en-US" b="1"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les </a:t>
            </a:r>
            <a:r>
              <a:rPr kumimoji="0" lang="en-US" altLang="en-US" b="1" i="0" u="none" strike="noStrike" cap="none" normalizeH="0" dirty="0" err="1" smtClean="0">
                <a:ln>
                  <a:noFill/>
                </a:ln>
                <a:solidFill>
                  <a:schemeClr val="tx1"/>
                </a:solidFill>
                <a:effectLst/>
                <a:latin typeface="Times New Roman" panose="02020603050405020304" pitchFamily="18" charset="0"/>
                <a:cs typeface="Times New Roman" panose="02020603050405020304" pitchFamily="18" charset="0"/>
              </a:rPr>
              <a:t>données</a:t>
            </a:r>
            <a:r>
              <a:rPr kumimoji="0" lang="en-US" altLang="en-US" b="1"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Mettre</a:t>
            </a: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à jour les </a:t>
            </a:r>
            <a:r>
              <a:rPr kumimoji="0" lang="en-US" alt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fichiers</a:t>
            </a: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virtuels</a:t>
            </a: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lvl="0" eaLnBrk="0" fontAlgn="base" hangingPunct="0">
              <a:lnSpc>
                <a:spcPct val="150000"/>
              </a:lnSpc>
              <a:spcBef>
                <a:spcPct val="0"/>
              </a:spcBef>
              <a:spcAft>
                <a:spcPct val="0"/>
              </a:spcAft>
              <a:buFontTx/>
              <a:buChar char="•"/>
            </a:pPr>
            <a:r>
              <a:rPr kumimoji="0" lang="en-US" alt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Envoyer</a:t>
            </a: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a:t>
            </a:r>
            <a:r>
              <a:rPr kumimoji="0" lang="en-US" alt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signaux</a:t>
            </a: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thermiques</a:t>
            </a: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via les </a:t>
            </a:r>
            <a:r>
              <a:rPr kumimoji="0" lang="en-US" altLang="en-US"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sondes</a:t>
            </a: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ACPI (</a:t>
            </a:r>
            <a:r>
              <a:rPr lang="en-US" dirty="0"/>
              <a:t>Advanced Configuration and Power </a:t>
            </a:r>
            <a:r>
              <a:rPr lang="en-US" dirty="0" smtClean="0"/>
              <a:t>Interface)</a:t>
            </a:r>
            <a:r>
              <a:rPr kumimoji="0" lang="en-US" altLang="en-US"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29684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80">
                                          <p:stCondLst>
                                            <p:cond delay="0"/>
                                          </p:stCondLst>
                                        </p:cTn>
                                        <p:tgtEl>
                                          <p:spTgt spid="9"/>
                                        </p:tgtEl>
                                      </p:cBhvr>
                                    </p:animEffect>
                                    <p:anim calcmode="lin" valueType="num">
                                      <p:cBhvr>
                                        <p:cTn id="8"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3" dur="26">
                                          <p:stCondLst>
                                            <p:cond delay="650"/>
                                          </p:stCondLst>
                                        </p:cTn>
                                        <p:tgtEl>
                                          <p:spTgt spid="9"/>
                                        </p:tgtEl>
                                      </p:cBhvr>
                                      <p:to x="100000" y="60000"/>
                                    </p:animScale>
                                    <p:animScale>
                                      <p:cBhvr>
                                        <p:cTn id="14" dur="166" decel="50000">
                                          <p:stCondLst>
                                            <p:cond delay="676"/>
                                          </p:stCondLst>
                                        </p:cTn>
                                        <p:tgtEl>
                                          <p:spTgt spid="9"/>
                                        </p:tgtEl>
                                      </p:cBhvr>
                                      <p:to x="100000" y="100000"/>
                                    </p:animScale>
                                    <p:animScale>
                                      <p:cBhvr>
                                        <p:cTn id="15" dur="26">
                                          <p:stCondLst>
                                            <p:cond delay="1312"/>
                                          </p:stCondLst>
                                        </p:cTn>
                                        <p:tgtEl>
                                          <p:spTgt spid="9"/>
                                        </p:tgtEl>
                                      </p:cBhvr>
                                      <p:to x="100000" y="80000"/>
                                    </p:animScale>
                                    <p:animScale>
                                      <p:cBhvr>
                                        <p:cTn id="16" dur="166" decel="50000">
                                          <p:stCondLst>
                                            <p:cond delay="1338"/>
                                          </p:stCondLst>
                                        </p:cTn>
                                        <p:tgtEl>
                                          <p:spTgt spid="9"/>
                                        </p:tgtEl>
                                      </p:cBhvr>
                                      <p:to x="100000" y="100000"/>
                                    </p:animScale>
                                    <p:animScale>
                                      <p:cBhvr>
                                        <p:cTn id="17" dur="26">
                                          <p:stCondLst>
                                            <p:cond delay="1642"/>
                                          </p:stCondLst>
                                        </p:cTn>
                                        <p:tgtEl>
                                          <p:spTgt spid="9"/>
                                        </p:tgtEl>
                                      </p:cBhvr>
                                      <p:to x="100000" y="90000"/>
                                    </p:animScale>
                                    <p:animScale>
                                      <p:cBhvr>
                                        <p:cTn id="18" dur="166" decel="50000">
                                          <p:stCondLst>
                                            <p:cond delay="1668"/>
                                          </p:stCondLst>
                                        </p:cTn>
                                        <p:tgtEl>
                                          <p:spTgt spid="9"/>
                                        </p:tgtEl>
                                      </p:cBhvr>
                                      <p:to x="100000" y="100000"/>
                                    </p:animScale>
                                    <p:animScale>
                                      <p:cBhvr>
                                        <p:cTn id="19" dur="26">
                                          <p:stCondLst>
                                            <p:cond delay="1808"/>
                                          </p:stCondLst>
                                        </p:cTn>
                                        <p:tgtEl>
                                          <p:spTgt spid="9"/>
                                        </p:tgtEl>
                                      </p:cBhvr>
                                      <p:to x="100000" y="95000"/>
                                    </p:animScale>
                                    <p:animScale>
                                      <p:cBhvr>
                                        <p:cTn id="20"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1137920" y="2433320"/>
            <a:ext cx="10052368" cy="8001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8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a:lnSpc>
                <a:spcPct val="150000"/>
              </a:lnSpc>
            </a:pPr>
            <a:r>
              <a:rPr lang="en-US" sz="4400" dirty="0" smtClean="0"/>
              <a:t>IV. DESCRIPTION TEXTUELLES</a:t>
            </a:r>
            <a:endParaRPr lang="fr-FR" sz="4400" dirty="0"/>
          </a:p>
        </p:txBody>
      </p:sp>
    </p:spTree>
    <p:extLst>
      <p:ext uri="{BB962C8B-B14F-4D97-AF65-F5344CB8AC3E}">
        <p14:creationId xmlns:p14="http://schemas.microsoft.com/office/powerpoint/2010/main" val="279595062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14400" y="1328341"/>
            <a:ext cx="10617200" cy="3362202"/>
          </a:xfrm>
          <a:prstGeom prst="rect">
            <a:avLst/>
          </a:prstGeom>
        </p:spPr>
        <p:txBody>
          <a:bodyPr wrap="square">
            <a:spAutoFit/>
          </a:bodyPr>
          <a:lstStyle/>
          <a:p>
            <a:pPr algn="just">
              <a:lnSpc>
                <a:spcPct val="150000"/>
              </a:lnSpc>
            </a:pPr>
            <a:r>
              <a:rPr lang="fr-FR" dirty="0" smtClean="0"/>
              <a:t>	Afin </a:t>
            </a:r>
            <a:r>
              <a:rPr lang="fr-FR" dirty="0"/>
              <a:t>de préciser les interactions entre les acteurs et le système </a:t>
            </a:r>
            <a:r>
              <a:rPr lang="fr-FR" b="1" dirty="0" err="1"/>
              <a:t>Multicore</a:t>
            </a:r>
            <a:r>
              <a:rPr lang="fr-FR" b="1" dirty="0"/>
              <a:t> Monitor</a:t>
            </a:r>
            <a:r>
              <a:rPr lang="fr-FR" dirty="0"/>
              <a:t>, cette section détaille les descriptions textuelles des cas d'utilisation. Alors que les diagrammes UML offrent une vue synthétique des fonctionnalités, ces descriptions permettent d'approfondir le comportement dynamique du logiciel en spécifiant les scénarios nominaux, les conditions préalables et les exceptions. Cette étape est cruciale pour anticiper les flux de données entre l'utilisateur et le noyau </a:t>
            </a:r>
            <a:r>
              <a:rPr lang="fr-FR" b="1" dirty="0" err="1"/>
              <a:t>openSUSE</a:t>
            </a:r>
            <a:r>
              <a:rPr lang="fr-FR" dirty="0"/>
              <a:t>, garantissant ainsi que chaque fonction, de la surveillance thermique à l'exportation des logs, soit implémentée avec la rigueur nécessaire aux systèmes temps réel.</a:t>
            </a:r>
            <a:endParaRPr lang="fr-CM" dirty="0"/>
          </a:p>
        </p:txBody>
      </p:sp>
      <p:sp>
        <p:nvSpPr>
          <p:cNvPr id="5" name="ZoneTexte 4"/>
          <p:cNvSpPr txBox="1"/>
          <p:nvPr/>
        </p:nvSpPr>
        <p:spPr>
          <a:xfrm>
            <a:off x="2468880" y="396240"/>
            <a:ext cx="7101840" cy="584775"/>
          </a:xfrm>
          <a:prstGeom prst="rect">
            <a:avLst/>
          </a:prstGeom>
          <a:noFill/>
        </p:spPr>
        <p:txBody>
          <a:bodyPr wrap="square" rtlCol="0">
            <a:spAutoFit/>
          </a:bodyPr>
          <a:lstStyle/>
          <a:p>
            <a:pPr algn="ctr"/>
            <a:r>
              <a:rPr lang="fr-CM" sz="3200" b="1" dirty="0" smtClean="0">
                <a:latin typeface="Times New Roman" panose="02020603050405020304" pitchFamily="18" charset="0"/>
                <a:cs typeface="Times New Roman" panose="02020603050405020304" pitchFamily="18" charset="0"/>
              </a:rPr>
              <a:t>INTRODUCTION</a:t>
            </a:r>
            <a:endParaRPr lang="fr-CM"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46600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2240" y="187236"/>
            <a:ext cx="11287760" cy="738664"/>
          </a:xfrm>
          <a:prstGeom prst="rect">
            <a:avLst/>
          </a:prstGeom>
        </p:spPr>
        <p:txBody>
          <a:bodyPr wrap="square">
            <a:spAutoFit/>
          </a:bodyPr>
          <a:lstStyle/>
          <a:p>
            <a:pPr algn="ctr"/>
            <a:r>
              <a:rPr lang="fr-FR" sz="2400" b="1" dirty="0" smtClean="0">
                <a:latin typeface="Times New Roman" panose="02020603050405020304" pitchFamily="18" charset="0"/>
                <a:cs typeface="Times New Roman" panose="02020603050405020304" pitchFamily="18" charset="0"/>
              </a:rPr>
              <a:t>STRUCTURE TYPE D'UNE DESCRIPTION TEXTUELLE </a:t>
            </a:r>
          </a:p>
          <a:p>
            <a:endParaRPr lang="fr-FR" b="1" dirty="0"/>
          </a:p>
        </p:txBody>
      </p:sp>
      <p:sp>
        <p:nvSpPr>
          <p:cNvPr id="5" name="Rectangle 1"/>
          <p:cNvSpPr>
            <a:spLocks noChangeArrowheads="1"/>
          </p:cNvSpPr>
          <p:nvPr/>
        </p:nvSpPr>
        <p:spPr bwMode="auto">
          <a:xfrm>
            <a:off x="215631" y="764317"/>
            <a:ext cx="10856498"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 Nom du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Cas</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d'Utilisation</a:t>
            </a: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Il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doit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commencer par un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verbe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à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l'infinitif</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être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explicite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Exemple</a:t>
            </a:r>
            <a:r>
              <a:rPr kumimoji="0" lang="en-US" altLang="en-US"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Surveiller</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la charge des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cœurs</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en</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temps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réel</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Objectif</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du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Cas</a:t>
            </a: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Une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brève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explication du but recherché par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l'acteur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en</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lançant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cette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Exemple</a:t>
            </a:r>
            <a:r>
              <a:rPr kumimoji="0" lang="en-US" altLang="en-US"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Permettre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à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l'utilisateur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visualiser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la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répartition</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la charge de travail sur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chaque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processeur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logique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3.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Acteurs</a:t>
            </a: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Acteur</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Principal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Celui</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qui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déclenche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l'action</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Administrateur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Acteurs</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Secondaires</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Ceux</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qui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assistent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ou</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reçoivent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données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Noyau</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Linux).</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4.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Pré-supposés</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Hypothèses</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sont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éléments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qui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sont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considérés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comme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acquis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ou</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existants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avant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même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début du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cas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18875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74320" y="64329"/>
            <a:ext cx="11795760"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5.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Pré</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-conditions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L'état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spécifique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dans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lequel</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doit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trouver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système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pour que le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cas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d'utilisation</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puisse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démarrer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1"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Exemple</a:t>
            </a:r>
            <a:r>
              <a:rPr kumimoji="0" lang="en-US" altLang="en-US"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L'utilisateur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doit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posséder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droits de lecture sur les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fichiers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système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privilèges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root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ou</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membres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du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groupe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video/render pour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certaines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sondes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6.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Scénario</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Nominal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Enchaînement</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principal)</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C’est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chemin</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idéal</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où</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tout se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passe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sans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erreur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Il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décrit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les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étapes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chronologiques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p:txBody>
      </p:sp>
      <p:sp>
        <p:nvSpPr>
          <p:cNvPr id="6" name="Rectangle 2"/>
          <p:cNvSpPr>
            <a:spLocks noChangeArrowheads="1"/>
          </p:cNvSpPr>
          <p:nvPr/>
        </p:nvSpPr>
        <p:spPr bwMode="auto">
          <a:xfrm>
            <a:off x="274320" y="3381470"/>
            <a:ext cx="11308080"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7.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Scénario</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Alternatif</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Exceptionnel</a:t>
            </a: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Il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décrit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qui se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passe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en</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cas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comportement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inhabituel</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ou</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d'erreur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Erreur</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 lecture :</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Si le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fichier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proc</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est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inaccessible, le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système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affiche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un message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d'erreur</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retente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la lecture après 5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secondes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8. Post-conditions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L'état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du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système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une</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fois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que le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cas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d'utilisation</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est</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terminé</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avec </a:t>
            </a:r>
            <a:r>
              <a:rPr kumimoji="0" lang="en-US" alt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succès</a:t>
            </a: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281688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au 5"/>
          <p:cNvGraphicFramePr>
            <a:graphicFrameLocks noGrp="1"/>
          </p:cNvGraphicFramePr>
          <p:nvPr>
            <p:extLst>
              <p:ext uri="{D42A27DB-BD31-4B8C-83A1-F6EECF244321}">
                <p14:modId xmlns:p14="http://schemas.microsoft.com/office/powerpoint/2010/main" val="547955877"/>
              </p:ext>
            </p:extLst>
          </p:nvPr>
        </p:nvGraphicFramePr>
        <p:xfrm>
          <a:off x="193963" y="233678"/>
          <a:ext cx="11757892" cy="5974617"/>
        </p:xfrm>
        <a:graphic>
          <a:graphicData uri="http://schemas.openxmlformats.org/drawingml/2006/table">
            <a:tbl>
              <a:tblPr firstRow="1" firstCol="1" bandRow="1">
                <a:tableStyleId>{5C22544A-7EE6-4342-B048-85BDC9FD1C3A}</a:tableStyleId>
              </a:tblPr>
              <a:tblGrid>
                <a:gridCol w="5878946">
                  <a:extLst>
                    <a:ext uri="{9D8B030D-6E8A-4147-A177-3AD203B41FA5}">
                      <a16:colId xmlns:a16="http://schemas.microsoft.com/office/drawing/2014/main" val="3246621911"/>
                    </a:ext>
                  </a:extLst>
                </a:gridCol>
                <a:gridCol w="5878946">
                  <a:extLst>
                    <a:ext uri="{9D8B030D-6E8A-4147-A177-3AD203B41FA5}">
                      <a16:colId xmlns:a16="http://schemas.microsoft.com/office/drawing/2014/main" val="2172479193"/>
                    </a:ext>
                  </a:extLst>
                </a:gridCol>
              </a:tblGrid>
              <a:tr h="179924">
                <a:tc>
                  <a:txBody>
                    <a:bodyPr/>
                    <a:lstStyle/>
                    <a:p>
                      <a:pPr>
                        <a:lnSpc>
                          <a:spcPct val="107000"/>
                        </a:lnSpc>
                        <a:spcAft>
                          <a:spcPts val="800"/>
                        </a:spcAft>
                      </a:pPr>
                      <a:r>
                        <a:rPr lang="en-US" sz="900" dirty="0">
                          <a:effectLst/>
                        </a:rPr>
                        <a:t>Nom du </a:t>
                      </a:r>
                      <a:r>
                        <a:rPr lang="en-US" sz="900" dirty="0" err="1">
                          <a:effectLst/>
                        </a:rPr>
                        <a:t>Cas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tc>
                  <a:txBody>
                    <a:bodyPr/>
                    <a:lstStyle/>
                    <a:p>
                      <a:pPr>
                        <a:lnSpc>
                          <a:spcPct val="107000"/>
                        </a:lnSpc>
                        <a:spcAft>
                          <a:spcPts val="800"/>
                        </a:spcAft>
                      </a:pPr>
                      <a:r>
                        <a:rPr lang="fr-FR" sz="900" dirty="0">
                          <a:effectLst/>
                        </a:rPr>
                        <a:t>Visualiser les performances multiprocesseurs en temps réel.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extLst>
                  <a:ext uri="{0D108BD9-81ED-4DB2-BD59-A6C34878D82A}">
                    <a16:rowId xmlns:a16="http://schemas.microsoft.com/office/drawing/2014/main" val="3794403748"/>
                  </a:ext>
                </a:extLst>
              </a:tr>
              <a:tr h="559181">
                <a:tc>
                  <a:txBody>
                    <a:bodyPr/>
                    <a:lstStyle/>
                    <a:p>
                      <a:pPr>
                        <a:lnSpc>
                          <a:spcPct val="107000"/>
                        </a:lnSpc>
                        <a:spcAft>
                          <a:spcPts val="800"/>
                        </a:spcAft>
                      </a:pPr>
                      <a:r>
                        <a:rPr lang="en-US" sz="900" dirty="0" err="1">
                          <a:effectLst/>
                        </a:rPr>
                        <a:t>Objectif</a:t>
                      </a:r>
                      <a:r>
                        <a:rPr lang="en-US" sz="900" dirty="0">
                          <a:effectLst/>
                        </a:rPr>
                        <a:t> du </a:t>
                      </a:r>
                      <a:r>
                        <a:rPr lang="en-US" sz="900" dirty="0" err="1">
                          <a:effectLst/>
                        </a:rPr>
                        <a:t>Cas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tc>
                  <a:txBody>
                    <a:bodyPr/>
                    <a:lstStyle/>
                    <a:p>
                      <a:pPr>
                        <a:lnSpc>
                          <a:spcPct val="107000"/>
                        </a:lnSpc>
                        <a:spcAft>
                          <a:spcPts val="800"/>
                        </a:spcAft>
                      </a:pPr>
                      <a:r>
                        <a:rPr lang="fr-FR" sz="900">
                          <a:effectLst/>
                        </a:rPr>
                        <a:t>Permettre à l'utilisateur d'obtenir une représentation graphique et textuelle instantanée de l'état de santé et de la charge de travail de chaque cœur du processeur.</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extLst>
                  <a:ext uri="{0D108BD9-81ED-4DB2-BD59-A6C34878D82A}">
                    <a16:rowId xmlns:a16="http://schemas.microsoft.com/office/drawing/2014/main" val="2960048649"/>
                  </a:ext>
                </a:extLst>
              </a:tr>
              <a:tr h="598176">
                <a:tc>
                  <a:txBody>
                    <a:bodyPr/>
                    <a:lstStyle/>
                    <a:p>
                      <a:pPr>
                        <a:lnSpc>
                          <a:spcPct val="107000"/>
                        </a:lnSpc>
                        <a:spcAft>
                          <a:spcPts val="800"/>
                        </a:spcAft>
                      </a:pPr>
                      <a:r>
                        <a:rPr lang="en-US" sz="900" dirty="0" err="1">
                          <a:effectLst/>
                        </a:rPr>
                        <a:t>Acteurs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tc>
                  <a:txBody>
                    <a:bodyPr/>
                    <a:lstStyle/>
                    <a:p>
                      <a:pPr>
                        <a:lnSpc>
                          <a:spcPct val="115000"/>
                        </a:lnSpc>
                        <a:spcAft>
                          <a:spcPts val="800"/>
                        </a:spcAft>
                      </a:pPr>
                      <a:r>
                        <a:rPr lang="fr-FR" sz="900" dirty="0">
                          <a:effectLst/>
                        </a:rPr>
                        <a:t>Principal : Utilisateur Standard </a:t>
                      </a:r>
                      <a:r>
                        <a:rPr lang="fr-FR" sz="900" dirty="0" smtClean="0">
                          <a:effectLst/>
                        </a:rPr>
                        <a:t>et</a:t>
                      </a:r>
                      <a:r>
                        <a:rPr lang="fr-FR" sz="900" baseline="0" dirty="0" smtClean="0">
                          <a:effectLst/>
                        </a:rPr>
                        <a:t> </a:t>
                      </a:r>
                      <a:r>
                        <a:rPr lang="fr-FR" sz="900" dirty="0" smtClean="0">
                          <a:effectLst/>
                        </a:rPr>
                        <a:t>Administrateur</a:t>
                      </a:r>
                      <a:r>
                        <a:rPr lang="fr-FR" sz="900" dirty="0">
                          <a:effectLst/>
                        </a:rPr>
                        <a:t>.</a:t>
                      </a:r>
                      <a:br>
                        <a:rPr lang="fr-FR" sz="900" dirty="0">
                          <a:effectLst/>
                        </a:rPr>
                      </a:br>
                      <a:r>
                        <a:rPr lang="fr-FR" sz="900" dirty="0">
                          <a:effectLst/>
                        </a:rPr>
                        <a:t>Secondaires : Noyau Linux (Fournisseur de données</a:t>
                      </a:r>
                      <a:r>
                        <a:rPr lang="fr-FR" sz="900" dirty="0" smtClean="0">
                          <a:effectLst/>
                        </a:rPr>
                        <a: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extLst>
                  <a:ext uri="{0D108BD9-81ED-4DB2-BD59-A6C34878D82A}">
                    <a16:rowId xmlns:a16="http://schemas.microsoft.com/office/drawing/2014/main" val="1604047225"/>
                  </a:ext>
                </a:extLst>
              </a:tr>
              <a:tr h="449304">
                <a:tc>
                  <a:txBody>
                    <a:bodyPr/>
                    <a:lstStyle/>
                    <a:p>
                      <a:pPr>
                        <a:lnSpc>
                          <a:spcPct val="107000"/>
                        </a:lnSpc>
                        <a:spcAft>
                          <a:spcPts val="800"/>
                        </a:spcAft>
                      </a:pPr>
                      <a:r>
                        <a:rPr lang="en-US" sz="900" dirty="0" err="1">
                          <a:effectLst/>
                        </a:rPr>
                        <a:t>Pré-supposés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tc>
                  <a:txBody>
                    <a:bodyPr/>
                    <a:lstStyle/>
                    <a:p>
                      <a:pPr>
                        <a:lnSpc>
                          <a:spcPct val="115000"/>
                        </a:lnSpc>
                        <a:spcAft>
                          <a:spcPts val="800"/>
                        </a:spcAft>
                      </a:pPr>
                      <a:r>
                        <a:rPr lang="fr-FR" sz="900" dirty="0">
                          <a:effectLst/>
                        </a:rPr>
                        <a:t>1. L'application est lancée sur une distribution Linux (</a:t>
                      </a:r>
                      <a:r>
                        <a:rPr lang="fr-FR" sz="900" dirty="0" err="1">
                          <a:effectLst/>
                        </a:rPr>
                        <a:t>openSUSE</a:t>
                      </a:r>
                      <a:r>
                        <a:rPr lang="fr-FR" sz="900" dirty="0">
                          <a:effectLst/>
                        </a:rPr>
                        <a:t>).</a:t>
                      </a:r>
                      <a:br>
                        <a:rPr lang="fr-FR" sz="900" dirty="0">
                          <a:effectLst/>
                        </a:rPr>
                      </a:b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extLst>
                  <a:ext uri="{0D108BD9-81ED-4DB2-BD59-A6C34878D82A}">
                    <a16:rowId xmlns:a16="http://schemas.microsoft.com/office/drawing/2014/main" val="484514750"/>
                  </a:ext>
                </a:extLst>
              </a:tr>
              <a:tr h="299538">
                <a:tc>
                  <a:txBody>
                    <a:bodyPr/>
                    <a:lstStyle/>
                    <a:p>
                      <a:pPr>
                        <a:lnSpc>
                          <a:spcPct val="107000"/>
                        </a:lnSpc>
                        <a:spcAft>
                          <a:spcPts val="800"/>
                        </a:spcAft>
                      </a:pPr>
                      <a:r>
                        <a:rPr lang="en-US" sz="900" dirty="0" err="1">
                          <a:effectLst/>
                        </a:rPr>
                        <a:t>Pré</a:t>
                      </a:r>
                      <a:r>
                        <a:rPr lang="en-US" sz="900" dirty="0">
                          <a:effectLst/>
                        </a:rPr>
                        <a:t>-condition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tc>
                  <a:txBody>
                    <a:bodyPr/>
                    <a:lstStyle/>
                    <a:p>
                      <a:pPr>
                        <a:lnSpc>
                          <a:spcPct val="115000"/>
                        </a:lnSpc>
                        <a:spcAft>
                          <a:spcPts val="800"/>
                        </a:spcAft>
                      </a:pPr>
                      <a:r>
                        <a:rPr lang="fr-FR" sz="900" dirty="0" smtClean="0">
                          <a:effectLst/>
                        </a:rPr>
                        <a:t>Le</a:t>
                      </a:r>
                      <a:r>
                        <a:rPr lang="fr-FR" sz="900" baseline="0" dirty="0" smtClean="0">
                          <a:effectLst/>
                        </a:rPr>
                        <a:t> matériel est reconnu comme multiprocesseur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extLst>
                  <a:ext uri="{0D108BD9-81ED-4DB2-BD59-A6C34878D82A}">
                    <a16:rowId xmlns:a16="http://schemas.microsoft.com/office/drawing/2014/main" val="591348739"/>
                  </a:ext>
                </a:extLst>
              </a:tr>
              <a:tr h="1821542">
                <a:tc>
                  <a:txBody>
                    <a:bodyPr/>
                    <a:lstStyle/>
                    <a:p>
                      <a:pPr>
                        <a:lnSpc>
                          <a:spcPct val="107000"/>
                        </a:lnSpc>
                        <a:spcAft>
                          <a:spcPts val="800"/>
                        </a:spcAft>
                      </a:pPr>
                      <a:r>
                        <a:rPr lang="en-US" sz="900" dirty="0" err="1">
                          <a:effectLst/>
                        </a:rPr>
                        <a:t>Scénario</a:t>
                      </a:r>
                      <a:r>
                        <a:rPr lang="en-US" sz="900" dirty="0">
                          <a:effectLst/>
                        </a:rPr>
                        <a:t> Nominal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tc>
                  <a:txBody>
                    <a:bodyPr/>
                    <a:lstStyle/>
                    <a:p>
                      <a:pPr>
                        <a:lnSpc>
                          <a:spcPct val="115000"/>
                        </a:lnSpc>
                        <a:spcAft>
                          <a:spcPts val="800"/>
                        </a:spcAft>
                      </a:pPr>
                      <a:r>
                        <a:rPr lang="fr-FR" sz="900" dirty="0" smtClean="0">
                          <a:effectLst/>
                        </a:rPr>
                        <a:t>1. L’administrateur</a:t>
                      </a:r>
                      <a:r>
                        <a:rPr lang="fr-FR" sz="900" baseline="0" dirty="0" smtClean="0">
                          <a:effectLst/>
                        </a:rPr>
                        <a:t> sélectionne le mode « vue Temps Réels</a:t>
                      </a:r>
                      <a:r>
                        <a:rPr lang="fr-FR" sz="900" dirty="0">
                          <a:effectLst/>
                        </a:rPr>
                        <a:t/>
                      </a:r>
                      <a:br>
                        <a:rPr lang="fr-FR" sz="900" dirty="0">
                          <a:effectLst/>
                        </a:rPr>
                      </a:br>
                      <a:r>
                        <a:rPr lang="fr-FR" sz="900" dirty="0">
                          <a:effectLst/>
                        </a:rPr>
                        <a:t>2. </a:t>
                      </a:r>
                      <a:r>
                        <a:rPr lang="fr-FR" sz="900" dirty="0" smtClean="0">
                          <a:effectLst/>
                        </a:rPr>
                        <a:t>L’affichage est rafraichi</a:t>
                      </a:r>
                      <a:r>
                        <a:rPr lang="fr-FR" sz="900" baseline="0" dirty="0" smtClean="0">
                          <a:effectLst/>
                        </a:rPr>
                        <a:t> selon l’intervalle</a:t>
                      </a:r>
                      <a:r>
                        <a:rPr lang="fr-FR" sz="900" dirty="0" smtClean="0">
                          <a:effectLst/>
                        </a:rPr>
                        <a:t/>
                      </a:r>
                      <a:br>
                        <a:rPr lang="fr-FR" sz="900" dirty="0" smtClean="0">
                          <a:effectLst/>
                        </a:rPr>
                      </a:br>
                      <a:r>
                        <a:rPr lang="fr-FR" sz="900" dirty="0" smtClean="0">
                          <a:effectLst/>
                        </a:rPr>
                        <a:t>3</a:t>
                      </a:r>
                      <a:r>
                        <a:rPr lang="fr-FR" sz="900" dirty="0">
                          <a:effectLst/>
                        </a:rPr>
                        <a:t>. </a:t>
                      </a:r>
                      <a:r>
                        <a:rPr lang="fr-FR" sz="900" dirty="0" smtClean="0">
                          <a:effectLst/>
                        </a:rPr>
                        <a:t>Le</a:t>
                      </a:r>
                      <a:r>
                        <a:rPr lang="fr-FR" sz="900" baseline="0" dirty="0" smtClean="0">
                          <a:effectLst/>
                        </a:rPr>
                        <a:t> </a:t>
                      </a:r>
                      <a:r>
                        <a:rPr lang="fr-FR" sz="900" baseline="0" dirty="0" smtClean="0">
                          <a:effectLst/>
                        </a:rPr>
                        <a:t>système </a:t>
                      </a:r>
                      <a:r>
                        <a:rPr lang="fr-FR" sz="900" baseline="0" dirty="0" smtClean="0">
                          <a:effectLst/>
                        </a:rPr>
                        <a:t>identifie le nombre de cœurs logiques présents sur la machine</a:t>
                      </a:r>
                      <a:r>
                        <a:rPr lang="fr-FR" sz="900" dirty="0">
                          <a:effectLst/>
                        </a:rPr>
                        <a:t/>
                      </a:r>
                      <a:br>
                        <a:rPr lang="fr-FR" sz="900" dirty="0">
                          <a:effectLst/>
                        </a:rPr>
                      </a:br>
                      <a:r>
                        <a:rPr lang="fr-FR" sz="900" dirty="0">
                          <a:effectLst/>
                        </a:rPr>
                        <a:t>4. </a:t>
                      </a:r>
                      <a:r>
                        <a:rPr lang="fr-FR" sz="900" dirty="0" smtClean="0">
                          <a:effectLst/>
                        </a:rPr>
                        <a:t>Le</a:t>
                      </a:r>
                      <a:r>
                        <a:rPr lang="fr-FR" sz="900" baseline="0" dirty="0" smtClean="0">
                          <a:effectLst/>
                        </a:rPr>
                        <a:t> </a:t>
                      </a:r>
                      <a:r>
                        <a:rPr lang="fr-FR" sz="900" baseline="0" dirty="0" smtClean="0">
                          <a:effectLst/>
                        </a:rPr>
                        <a:t>système </a:t>
                      </a:r>
                      <a:r>
                        <a:rPr lang="fr-FR" sz="900" baseline="0" dirty="0" smtClean="0">
                          <a:effectLst/>
                        </a:rPr>
                        <a:t>extrait </a:t>
                      </a:r>
                      <a:r>
                        <a:rPr lang="fr-FR" sz="900" baseline="0" dirty="0" smtClean="0">
                          <a:effectLst/>
                        </a:rPr>
                        <a:t>simultanément </a:t>
                      </a:r>
                      <a:r>
                        <a:rPr lang="fr-FR" sz="900" baseline="0" dirty="0" smtClean="0">
                          <a:effectLst/>
                        </a:rPr>
                        <a:t>les données suivantes pour chaque cœur (</a:t>
                      </a:r>
                      <a:r>
                        <a:rPr lang="fr-FR" sz="900" baseline="0" dirty="0" smtClean="0">
                          <a:effectLst/>
                        </a:rPr>
                        <a:t>l’utilisation ,</a:t>
                      </a:r>
                      <a:r>
                        <a:rPr lang="fr-FR" sz="900" baseline="0" dirty="0" smtClean="0">
                          <a:effectLst/>
                        </a:rPr>
                        <a:t>la vitesse et la température)</a:t>
                      </a:r>
                      <a:r>
                        <a:rPr lang="fr-FR" sz="900" dirty="0">
                          <a:effectLst/>
                        </a:rPr>
                        <a:t/>
                      </a:r>
                      <a:br>
                        <a:rPr lang="fr-FR" sz="900" dirty="0">
                          <a:effectLst/>
                        </a:rPr>
                      </a:br>
                      <a:r>
                        <a:rPr lang="fr-FR" sz="900" dirty="0">
                          <a:effectLst/>
                        </a:rPr>
                        <a:t>5. L'interface rafraîchit l'affichage pour l'utilisateur.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extLst>
                  <a:ext uri="{0D108BD9-81ED-4DB2-BD59-A6C34878D82A}">
                    <a16:rowId xmlns:a16="http://schemas.microsoft.com/office/drawing/2014/main" val="3307939033"/>
                  </a:ext>
                </a:extLst>
              </a:tr>
              <a:tr h="1617648">
                <a:tc>
                  <a:txBody>
                    <a:bodyPr/>
                    <a:lstStyle/>
                    <a:p>
                      <a:pPr>
                        <a:lnSpc>
                          <a:spcPct val="107000"/>
                        </a:lnSpc>
                        <a:spcAft>
                          <a:spcPts val="800"/>
                        </a:spcAft>
                      </a:pPr>
                      <a:r>
                        <a:rPr lang="en-US" sz="900" dirty="0" smtClean="0">
                          <a:effectLst/>
                        </a:rPr>
                        <a:t>Scenario </a:t>
                      </a:r>
                      <a:r>
                        <a:rPr lang="en-US" sz="900" dirty="0" err="1">
                          <a:effectLst/>
                        </a:rPr>
                        <a:t>Alternatif</a:t>
                      </a:r>
                      <a:r>
                        <a:rPr lang="en-US" sz="900" dirty="0">
                          <a:effectLst/>
                        </a:rPr>
                        <a:t> / Exception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tc>
                  <a:txBody>
                    <a:bodyPr/>
                    <a:lstStyle/>
                    <a:p>
                      <a:pPr>
                        <a:lnSpc>
                          <a:spcPct val="115000"/>
                        </a:lnSpc>
                        <a:spcAft>
                          <a:spcPts val="800"/>
                        </a:spcAft>
                      </a:pPr>
                      <a:r>
                        <a:rPr lang="fr-FR" sz="900" b="1" dirty="0" smtClean="0">
                          <a:effectLst/>
                        </a:rPr>
                        <a:t>S1</a:t>
                      </a:r>
                      <a:r>
                        <a:rPr lang="fr-FR" sz="900" b="1" dirty="0">
                          <a:effectLst/>
                        </a:rPr>
                        <a:t>. </a:t>
                      </a:r>
                      <a:r>
                        <a:rPr lang="fr-FR" sz="900" dirty="0">
                          <a:effectLst/>
                        </a:rPr>
                        <a:t>Données corrompues : Si une ligne </a:t>
                      </a:r>
                      <a:r>
                        <a:rPr lang="fr-FR" sz="900" dirty="0" smtClean="0">
                          <a:effectLst/>
                        </a:rPr>
                        <a:t>lue</a:t>
                      </a:r>
                      <a:r>
                        <a:rPr lang="fr-FR" sz="900" baseline="0" dirty="0" smtClean="0">
                          <a:effectLst/>
                        </a:rPr>
                        <a:t> par EBPF </a:t>
                      </a:r>
                      <a:r>
                        <a:rPr lang="fr-FR" sz="900" dirty="0" smtClean="0">
                          <a:effectLst/>
                        </a:rPr>
                        <a:t>est </a:t>
                      </a:r>
                      <a:r>
                        <a:rPr lang="fr-FR" sz="900" dirty="0">
                          <a:effectLst/>
                        </a:rPr>
                        <a:t>illisible, le système ignore le cycle actuel et conserve la dernière valeur connue.</a:t>
                      </a:r>
                      <a:br>
                        <a:rPr lang="fr-FR" sz="900" dirty="0">
                          <a:effectLst/>
                        </a:rPr>
                      </a:br>
                      <a:r>
                        <a:rPr lang="fr-FR" sz="900" b="1" dirty="0" smtClean="0">
                          <a:effectLst/>
                        </a:rPr>
                        <a:t>S2</a:t>
                      </a:r>
                      <a:r>
                        <a:rPr lang="fr-FR" sz="900" dirty="0" smtClean="0">
                          <a:effectLst/>
                        </a:rPr>
                        <a:t>. </a:t>
                      </a:r>
                      <a:r>
                        <a:rPr lang="fr-FR" sz="900" dirty="0">
                          <a:effectLst/>
                        </a:rPr>
                        <a:t>Permission refusée : Si l'accès aux sondes ACPI est bloqué, le système affiche "N/A" pour la température tout en continuant d'afficher la charge CPU.</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extLst>
                  <a:ext uri="{0D108BD9-81ED-4DB2-BD59-A6C34878D82A}">
                    <a16:rowId xmlns:a16="http://schemas.microsoft.com/office/drawing/2014/main" val="3144424908"/>
                  </a:ext>
                </a:extLst>
              </a:tr>
              <a:tr h="449304">
                <a:tc>
                  <a:txBody>
                    <a:bodyPr/>
                    <a:lstStyle/>
                    <a:p>
                      <a:pPr>
                        <a:lnSpc>
                          <a:spcPct val="107000"/>
                        </a:lnSpc>
                        <a:spcAft>
                          <a:spcPts val="800"/>
                        </a:spcAft>
                      </a:pPr>
                      <a:r>
                        <a:rPr lang="en-US" sz="900" dirty="0">
                          <a:effectLst/>
                        </a:rPr>
                        <a:t>Post-condition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tc>
                  <a:txBody>
                    <a:bodyPr/>
                    <a:lstStyle/>
                    <a:p>
                      <a:pPr>
                        <a:lnSpc>
                          <a:spcPct val="115000"/>
                        </a:lnSpc>
                        <a:spcAft>
                          <a:spcPts val="800"/>
                        </a:spcAft>
                      </a:pPr>
                      <a:r>
                        <a:rPr lang="fr-FR" sz="900" dirty="0">
                          <a:effectLst/>
                        </a:rPr>
                        <a:t>Le tableau de bord affiche les données les plus récentes et le tampon d'historique (cache) est mis à jour pour le prochain tracé graphique.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3213" marR="33213" marT="0" marB="0" anchor="ctr"/>
                </a:tc>
                <a:extLst>
                  <a:ext uri="{0D108BD9-81ED-4DB2-BD59-A6C34878D82A}">
                    <a16:rowId xmlns:a16="http://schemas.microsoft.com/office/drawing/2014/main" val="783449344"/>
                  </a:ext>
                </a:extLst>
              </a:tr>
            </a:tbl>
          </a:graphicData>
        </a:graphic>
      </p:graphicFrame>
    </p:spTree>
    <p:extLst>
      <p:ext uri="{BB962C8B-B14F-4D97-AF65-F5344CB8AC3E}">
        <p14:creationId xmlns:p14="http://schemas.microsoft.com/office/powerpoint/2010/main" val="20527652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extLst>
              <p:ext uri="{D42A27DB-BD31-4B8C-83A1-F6EECF244321}">
                <p14:modId xmlns:p14="http://schemas.microsoft.com/office/powerpoint/2010/main" val="1137006735"/>
              </p:ext>
            </p:extLst>
          </p:nvPr>
        </p:nvGraphicFramePr>
        <p:xfrm>
          <a:off x="397162" y="586395"/>
          <a:ext cx="11249892" cy="5756532"/>
        </p:xfrm>
        <a:graphic>
          <a:graphicData uri="http://schemas.openxmlformats.org/drawingml/2006/table">
            <a:tbl>
              <a:tblPr firstRow="1" firstCol="1" bandRow="1">
                <a:tableStyleId>{5C22544A-7EE6-4342-B048-85BDC9FD1C3A}</a:tableStyleId>
              </a:tblPr>
              <a:tblGrid>
                <a:gridCol w="5624946">
                  <a:extLst>
                    <a:ext uri="{9D8B030D-6E8A-4147-A177-3AD203B41FA5}">
                      <a16:colId xmlns:a16="http://schemas.microsoft.com/office/drawing/2014/main" val="4195045906"/>
                    </a:ext>
                  </a:extLst>
                </a:gridCol>
                <a:gridCol w="5624946">
                  <a:extLst>
                    <a:ext uri="{9D8B030D-6E8A-4147-A177-3AD203B41FA5}">
                      <a16:colId xmlns:a16="http://schemas.microsoft.com/office/drawing/2014/main" val="4005337868"/>
                    </a:ext>
                  </a:extLst>
                </a:gridCol>
              </a:tblGrid>
              <a:tr h="236598">
                <a:tc>
                  <a:txBody>
                    <a:bodyPr/>
                    <a:lstStyle/>
                    <a:p>
                      <a:pPr>
                        <a:lnSpc>
                          <a:spcPct val="107000"/>
                        </a:lnSpc>
                        <a:spcAft>
                          <a:spcPts val="2400"/>
                        </a:spcAft>
                      </a:pPr>
                      <a:r>
                        <a:rPr lang="fr-FR" sz="1100" dirty="0">
                          <a:effectLst/>
                        </a:rPr>
                        <a:t>Nom du Cas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7543" marR="47543" marT="0" marB="0" anchor="ctr"/>
                </a:tc>
                <a:tc>
                  <a:txBody>
                    <a:bodyPr/>
                    <a:lstStyle/>
                    <a:p>
                      <a:pPr>
                        <a:lnSpc>
                          <a:spcPct val="107000"/>
                        </a:lnSpc>
                        <a:spcAft>
                          <a:spcPts val="2400"/>
                        </a:spcAft>
                      </a:pPr>
                      <a:r>
                        <a:rPr lang="fr-FR" sz="1100" dirty="0">
                          <a:effectLst/>
                        </a:rPr>
                        <a:t>Fournir les données système (Métriques CPU).</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7543" marR="47543" marT="0" marB="0" anchor="ctr"/>
                </a:tc>
                <a:extLst>
                  <a:ext uri="{0D108BD9-81ED-4DB2-BD59-A6C34878D82A}">
                    <a16:rowId xmlns:a16="http://schemas.microsoft.com/office/drawing/2014/main" val="232456907"/>
                  </a:ext>
                </a:extLst>
              </a:tr>
              <a:tr h="473195">
                <a:tc>
                  <a:txBody>
                    <a:bodyPr/>
                    <a:lstStyle/>
                    <a:p>
                      <a:pPr>
                        <a:lnSpc>
                          <a:spcPct val="107000"/>
                        </a:lnSpc>
                        <a:spcAft>
                          <a:spcPts val="2400"/>
                        </a:spcAft>
                      </a:pPr>
                      <a:r>
                        <a:rPr lang="fr-FR" sz="1100" dirty="0">
                          <a:effectLst/>
                        </a:rPr>
                        <a:t>Objectif du Cas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7543" marR="47543" marT="0" marB="0" anchor="ctr"/>
                </a:tc>
                <a:tc>
                  <a:txBody>
                    <a:bodyPr/>
                    <a:lstStyle/>
                    <a:p>
                      <a:pPr>
                        <a:lnSpc>
                          <a:spcPct val="107000"/>
                        </a:lnSpc>
                        <a:spcAft>
                          <a:spcPts val="2400"/>
                        </a:spcAft>
                      </a:pPr>
                      <a:r>
                        <a:rPr lang="fr-FR" sz="1100">
                          <a:effectLst/>
                        </a:rPr>
                        <a:t>Extraire de manière brute et fiable les statistiques de performance du matériel pour les mettre à disposition du module d'analyse de l'application.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543" marR="47543" marT="0" marB="0" anchor="ctr"/>
                </a:tc>
                <a:extLst>
                  <a:ext uri="{0D108BD9-81ED-4DB2-BD59-A6C34878D82A}">
                    <a16:rowId xmlns:a16="http://schemas.microsoft.com/office/drawing/2014/main" val="616312273"/>
                  </a:ext>
                </a:extLst>
              </a:tr>
              <a:tr h="236598">
                <a:tc>
                  <a:txBody>
                    <a:bodyPr/>
                    <a:lstStyle/>
                    <a:p>
                      <a:pPr>
                        <a:lnSpc>
                          <a:spcPct val="107000"/>
                        </a:lnSpc>
                        <a:spcAft>
                          <a:spcPts val="2400"/>
                        </a:spcAft>
                      </a:pPr>
                      <a:r>
                        <a:rPr lang="fr-FR" sz="1100">
                          <a:effectLst/>
                        </a:rPr>
                        <a:t>Acteurs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543" marR="47543" marT="0" marB="0" anchor="ctr"/>
                </a:tc>
                <a:tc>
                  <a:txBody>
                    <a:bodyPr/>
                    <a:lstStyle/>
                    <a:p>
                      <a:r>
                        <a:rPr lang="fr-CM" sz="1100" dirty="0" smtClean="0">
                          <a:effectLst/>
                        </a:rPr>
                        <a:t>Secondaire</a:t>
                      </a:r>
                      <a:r>
                        <a:rPr lang="fr-CM" sz="1100" baseline="0" dirty="0" smtClean="0">
                          <a:effectLst/>
                        </a:rPr>
                        <a:t> </a:t>
                      </a:r>
                      <a:r>
                        <a:rPr lang="fr-CM" sz="1100" dirty="0" smtClean="0">
                          <a:effectLst/>
                        </a:rPr>
                        <a:t>: </a:t>
                      </a:r>
                      <a:r>
                        <a:rPr lang="fr-CM" sz="1100" dirty="0">
                          <a:effectLst/>
                        </a:rPr>
                        <a:t>Noyau Linux </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7543" marR="47543" marT="0" marB="0" anchor="ctr"/>
                </a:tc>
                <a:extLst>
                  <a:ext uri="{0D108BD9-81ED-4DB2-BD59-A6C34878D82A}">
                    <a16:rowId xmlns:a16="http://schemas.microsoft.com/office/drawing/2014/main" val="88365349"/>
                  </a:ext>
                </a:extLst>
              </a:tr>
              <a:tr h="586814">
                <a:tc>
                  <a:txBody>
                    <a:bodyPr/>
                    <a:lstStyle/>
                    <a:p>
                      <a:pPr>
                        <a:lnSpc>
                          <a:spcPct val="107000"/>
                        </a:lnSpc>
                        <a:spcAft>
                          <a:spcPts val="0"/>
                        </a:spcAft>
                      </a:pPr>
                      <a:r>
                        <a:rPr lang="fr-FR" sz="1100" dirty="0" err="1">
                          <a:effectLst/>
                        </a:rPr>
                        <a:t>Pré-supposés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7543" marR="47543" marT="0" marB="0" anchor="ctr"/>
                </a:tc>
                <a:tc>
                  <a:txBody>
                    <a:bodyPr/>
                    <a:lstStyle/>
                    <a:p>
                      <a:r>
                        <a:rPr lang="fr-CM" sz="1100" dirty="0">
                          <a:effectLst/>
                        </a:rPr>
                        <a:t>1. Le processeur est actif et génère des compteurs de cycles.</a:t>
                      </a:r>
                      <a:endParaRPr lang="en-US" sz="1100" dirty="0">
                        <a:effectLst/>
                      </a:endParaRPr>
                    </a:p>
                    <a:p>
                      <a:r>
                        <a:rPr lang="fr-CM" sz="1100" dirty="0">
                          <a:effectLst/>
                        </a:rPr>
                        <a:t>2. Les drivers ACPI et thermiques sont chargés dans le noyau </a:t>
                      </a:r>
                      <a:r>
                        <a:rPr lang="fr-CM" sz="1100" dirty="0" err="1">
                          <a:effectLst/>
                        </a:rPr>
                        <a:t>openSUSE</a:t>
                      </a:r>
                      <a:r>
                        <a:rPr lang="fr-CM" sz="1100" dirty="0">
                          <a:effectLst/>
                        </a:rPr>
                        <a:t>.</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7543" marR="47543" marT="0" marB="0" anchor="ctr"/>
                </a:tc>
                <a:extLst>
                  <a:ext uri="{0D108BD9-81ED-4DB2-BD59-A6C34878D82A}">
                    <a16:rowId xmlns:a16="http://schemas.microsoft.com/office/drawing/2014/main" val="1530710558"/>
                  </a:ext>
                </a:extLst>
              </a:tr>
              <a:tr h="473195">
                <a:tc>
                  <a:txBody>
                    <a:bodyPr/>
                    <a:lstStyle/>
                    <a:p>
                      <a:pPr>
                        <a:lnSpc>
                          <a:spcPct val="107000"/>
                        </a:lnSpc>
                        <a:spcAft>
                          <a:spcPts val="0"/>
                        </a:spcAft>
                      </a:pPr>
                      <a:r>
                        <a:rPr lang="fr-FR" sz="1100" dirty="0" err="1">
                          <a:effectLst/>
                        </a:rPr>
                        <a:t>Pré-condition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7543" marR="47543" marT="0" marB="0" anchor="ctr"/>
                </a:tc>
                <a:tc>
                  <a:txBody>
                    <a:bodyPr/>
                    <a:lstStyle/>
                    <a:p>
                      <a:pPr>
                        <a:lnSpc>
                          <a:spcPct val="107000"/>
                        </a:lnSpc>
                        <a:spcAft>
                          <a:spcPts val="0"/>
                        </a:spcAft>
                      </a:pPr>
                      <a:r>
                        <a:rPr lang="fr-FR" sz="1100" dirty="0">
                          <a:effectLst/>
                        </a:rPr>
                        <a:t>L'application a sollicité une requête de lecture ou le </a:t>
                      </a:r>
                      <a:r>
                        <a:rPr lang="fr-FR" sz="1100" dirty="0" err="1">
                          <a:effectLst/>
                        </a:rPr>
                        <a:t>timer</a:t>
                      </a:r>
                      <a:r>
                        <a:rPr lang="fr-FR" sz="1100" dirty="0">
                          <a:effectLst/>
                        </a:rPr>
                        <a:t> de rafraîchissement a expiré.</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7543" marR="47543" marT="0" marB="0" anchor="ctr"/>
                </a:tc>
                <a:extLst>
                  <a:ext uri="{0D108BD9-81ED-4DB2-BD59-A6C34878D82A}">
                    <a16:rowId xmlns:a16="http://schemas.microsoft.com/office/drawing/2014/main" val="4232906683"/>
                  </a:ext>
                </a:extLst>
              </a:tr>
              <a:tr h="1768827">
                <a:tc>
                  <a:txBody>
                    <a:bodyPr/>
                    <a:lstStyle/>
                    <a:p>
                      <a:pPr>
                        <a:lnSpc>
                          <a:spcPct val="107000"/>
                        </a:lnSpc>
                        <a:spcAft>
                          <a:spcPts val="0"/>
                        </a:spcAft>
                      </a:pPr>
                      <a:r>
                        <a:rPr lang="fr-FR" sz="1100" dirty="0">
                          <a:effectLst/>
                        </a:rPr>
                        <a:t>Scénario Nominal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7543" marR="47543" marT="0" marB="0" anchor="ctr"/>
                </a:tc>
                <a:tc>
                  <a:txBody>
                    <a:bodyPr/>
                    <a:lstStyle/>
                    <a:p>
                      <a:r>
                        <a:rPr lang="fr-CM" sz="1100" dirty="0">
                          <a:effectLst/>
                        </a:rPr>
                        <a:t>1. Le Noyau Linux met à jour les fichiers virtuels en mémoire RAM.</a:t>
                      </a:r>
                      <a:endParaRPr lang="en-US" sz="1100" dirty="0">
                        <a:effectLst/>
                      </a:endParaRPr>
                    </a:p>
                    <a:p>
                      <a:r>
                        <a:rPr lang="fr-CM" sz="1100" dirty="0">
                          <a:effectLst/>
                        </a:rPr>
                        <a:t>2. Le module de collecte </a:t>
                      </a:r>
                      <a:r>
                        <a:rPr lang="fr-CM" sz="1100" dirty="0" smtClean="0">
                          <a:effectLst/>
                        </a:rPr>
                        <a:t>EBPF</a:t>
                      </a:r>
                      <a:r>
                        <a:rPr lang="fr-CM" sz="1100" baseline="0" dirty="0" smtClean="0">
                          <a:effectLst/>
                        </a:rPr>
                        <a:t> capture les performances du CPU</a:t>
                      </a:r>
                      <a:r>
                        <a:rPr lang="fr-CM" sz="1100" dirty="0" smtClean="0">
                          <a:effectLst/>
                        </a:rPr>
                        <a:t>.</a:t>
                      </a:r>
                      <a:endParaRPr lang="en-US" sz="1100" dirty="0">
                        <a:effectLst/>
                      </a:endParaRPr>
                    </a:p>
                    <a:p>
                      <a:r>
                        <a:rPr lang="fr-CM" sz="1100" dirty="0" smtClean="0">
                          <a:effectLst/>
                        </a:rPr>
                        <a:t>4</a:t>
                      </a:r>
                      <a:r>
                        <a:rPr lang="fr-CM" sz="1100" dirty="0">
                          <a:effectLst/>
                        </a:rPr>
                        <a:t>. Le </a:t>
                      </a:r>
                      <a:r>
                        <a:rPr lang="fr-CM" sz="1100" dirty="0" smtClean="0">
                          <a:effectLst/>
                        </a:rPr>
                        <a:t>module</a:t>
                      </a:r>
                      <a:r>
                        <a:rPr lang="fr-CM" sz="1100" baseline="0" dirty="0" smtClean="0">
                          <a:effectLst/>
                        </a:rPr>
                        <a:t> de collecte EBPF </a:t>
                      </a:r>
                      <a:r>
                        <a:rPr lang="fr-CM" sz="1100" dirty="0" smtClean="0">
                          <a:effectLst/>
                        </a:rPr>
                        <a:t> </a:t>
                      </a:r>
                      <a:r>
                        <a:rPr lang="fr-CM" sz="1100" dirty="0">
                          <a:effectLst/>
                        </a:rPr>
                        <a:t>extrait </a:t>
                      </a:r>
                      <a:r>
                        <a:rPr lang="fr-CM" sz="1100" dirty="0" smtClean="0">
                          <a:effectLst/>
                        </a:rPr>
                        <a:t> (capture) les </a:t>
                      </a:r>
                      <a:r>
                        <a:rPr lang="fr-CM" sz="1100" dirty="0">
                          <a:effectLst/>
                        </a:rPr>
                        <a:t>fréquences </a:t>
                      </a:r>
                      <a:r>
                        <a:rPr lang="fr-CM" sz="1100" dirty="0" smtClean="0">
                          <a:effectLst/>
                        </a:rPr>
                        <a:t>actuelles depuis en</a:t>
                      </a:r>
                      <a:r>
                        <a:rPr lang="fr-CM" sz="1100" baseline="0" dirty="0" smtClean="0">
                          <a:effectLst/>
                        </a:rPr>
                        <a:t> interagissant avec le noyau</a:t>
                      </a:r>
                      <a:endParaRPr lang="en-US" sz="1100" dirty="0">
                        <a:effectLst/>
                      </a:endParaRPr>
                    </a:p>
                    <a:p>
                      <a:r>
                        <a:rPr lang="fr-CM" sz="1100" dirty="0">
                          <a:effectLst/>
                        </a:rPr>
                        <a:t>5. Le Noyau transmet ce flux de données brutes vers le tampon (buffer) de l'application.</a:t>
                      </a:r>
                      <a:endParaRPr lang="en-US"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7543" marR="47543" marT="0" marB="0" anchor="ctr"/>
                </a:tc>
                <a:extLst>
                  <a:ext uri="{0D108BD9-81ED-4DB2-BD59-A6C34878D82A}">
                    <a16:rowId xmlns:a16="http://schemas.microsoft.com/office/drawing/2014/main" val="4286477545"/>
                  </a:ext>
                </a:extLst>
              </a:tr>
              <a:tr h="1508110">
                <a:tc>
                  <a:txBody>
                    <a:bodyPr/>
                    <a:lstStyle/>
                    <a:p>
                      <a:pPr>
                        <a:lnSpc>
                          <a:spcPct val="107000"/>
                        </a:lnSpc>
                        <a:spcAft>
                          <a:spcPts val="0"/>
                        </a:spcAft>
                      </a:pPr>
                      <a:r>
                        <a:rPr lang="fr-FR" sz="1100">
                          <a:effectLst/>
                        </a:rPr>
                        <a:t>Scénario Alternatif / Exception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543" marR="47543" marT="0" marB="0" anchor="ctr"/>
                </a:tc>
                <a:tc>
                  <a:txBody>
                    <a:bodyPr/>
                    <a:lstStyle/>
                    <a:p>
                      <a:r>
                        <a:rPr lang="fr-CM" sz="1100" b="1" dirty="0" smtClean="0">
                          <a:effectLst/>
                        </a:rPr>
                        <a:t>S1</a:t>
                      </a:r>
                      <a:r>
                        <a:rPr lang="fr-CM" sz="1100" b="1" dirty="0">
                          <a:effectLst/>
                        </a:rPr>
                        <a:t>. </a:t>
                      </a:r>
                      <a:r>
                        <a:rPr lang="fr-CM" sz="1100" dirty="0">
                          <a:effectLst/>
                        </a:rPr>
                        <a:t>Fichier verrouillé ou absent : Si une ressource système est temporairement indisponible, le Noyau renvoie une erreur d'E/S (Input/Output </a:t>
                      </a:r>
                      <a:r>
                        <a:rPr lang="fr-CM" sz="1100" dirty="0" err="1">
                          <a:effectLst/>
                        </a:rPr>
                        <a:t>error</a:t>
                      </a:r>
                      <a:r>
                        <a:rPr lang="fr-CM" sz="1100" dirty="0">
                          <a:effectLst/>
                        </a:rPr>
                        <a:t>).</a:t>
                      </a:r>
                      <a:endParaRPr lang="en-US" sz="1100" dirty="0">
                        <a:effectLst/>
                      </a:endParaRPr>
                    </a:p>
                    <a:p>
                      <a:pPr>
                        <a:lnSpc>
                          <a:spcPct val="107000"/>
                        </a:lnSpc>
                        <a:spcAft>
                          <a:spcPts val="0"/>
                        </a:spcAft>
                      </a:pPr>
                      <a:r>
                        <a:rPr lang="fr-CM" sz="1100" b="1" dirty="0" smtClean="0">
                          <a:effectLst/>
                        </a:rPr>
                        <a:t>S2</a:t>
                      </a:r>
                      <a:r>
                        <a:rPr lang="fr-CM" sz="1100" dirty="0">
                          <a:effectLst/>
                        </a:rPr>
                        <a:t>. Données </a:t>
                      </a:r>
                      <a:r>
                        <a:rPr lang="fr-CM" sz="1100" dirty="0" err="1">
                          <a:effectLst/>
                        </a:rPr>
                        <a:t>non-mises</a:t>
                      </a:r>
                      <a:r>
                        <a:rPr lang="fr-CM" sz="1100" dirty="0">
                          <a:effectLst/>
                        </a:rPr>
                        <a:t> à jour : Si le processeur est dans un état de sommeil profond (C-State), le Noyau peut renvoyer des valeurs identiques au cycle précédent</a:t>
                      </a:r>
                      <a:r>
                        <a:rPr lang="fr-CM" sz="1100" dirty="0" smtClean="0">
                          <a:effectLst/>
                        </a:rPr>
                        <a:t>.</a:t>
                      </a:r>
                      <a:endParaRPr lang="en-US" sz="1100" dirty="0">
                        <a:effectLst/>
                      </a:endParaRPr>
                    </a:p>
                  </a:txBody>
                  <a:tcPr marL="47543" marR="47543" marT="0" marB="0" anchor="ctr"/>
                </a:tc>
                <a:extLst>
                  <a:ext uri="{0D108BD9-81ED-4DB2-BD59-A6C34878D82A}">
                    <a16:rowId xmlns:a16="http://schemas.microsoft.com/office/drawing/2014/main" val="2678277636"/>
                  </a:ext>
                </a:extLst>
              </a:tr>
              <a:tr h="473195">
                <a:tc>
                  <a:txBody>
                    <a:bodyPr/>
                    <a:lstStyle/>
                    <a:p>
                      <a:pPr>
                        <a:lnSpc>
                          <a:spcPct val="107000"/>
                        </a:lnSpc>
                        <a:spcAft>
                          <a:spcPts val="0"/>
                        </a:spcAft>
                      </a:pPr>
                      <a:r>
                        <a:rPr lang="fr-FR" sz="1100">
                          <a:effectLst/>
                        </a:rPr>
                        <a:t>Post-condition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7543" marR="47543" marT="0" marB="0" anchor="ctr"/>
                </a:tc>
                <a:tc>
                  <a:txBody>
                    <a:bodyPr/>
                    <a:lstStyle/>
                    <a:p>
                      <a:pPr>
                        <a:lnSpc>
                          <a:spcPct val="107000"/>
                        </a:lnSpc>
                        <a:spcAft>
                          <a:spcPts val="0"/>
                        </a:spcAft>
                      </a:pPr>
                      <a:r>
                        <a:rPr lang="fr-FR" sz="1100" dirty="0">
                          <a:effectLst/>
                        </a:rPr>
                        <a:t>Une structure de données brutes est chargée en mémoire, prête à être traitée par les algorithmes de calcul de l'application.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7543" marR="47543" marT="0" marB="0" anchor="ctr"/>
                </a:tc>
                <a:extLst>
                  <a:ext uri="{0D108BD9-81ED-4DB2-BD59-A6C34878D82A}">
                    <a16:rowId xmlns:a16="http://schemas.microsoft.com/office/drawing/2014/main" val="618110150"/>
                  </a:ext>
                </a:extLst>
              </a:tr>
            </a:tbl>
          </a:graphicData>
        </a:graphic>
      </p:graphicFrame>
    </p:spTree>
    <p:extLst>
      <p:ext uri="{BB962C8B-B14F-4D97-AF65-F5344CB8AC3E}">
        <p14:creationId xmlns:p14="http://schemas.microsoft.com/office/powerpoint/2010/main" val="40607919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extLst>
              <p:ext uri="{D42A27DB-BD31-4B8C-83A1-F6EECF244321}">
                <p14:modId xmlns:p14="http://schemas.microsoft.com/office/powerpoint/2010/main" val="135119652"/>
              </p:ext>
            </p:extLst>
          </p:nvPr>
        </p:nvGraphicFramePr>
        <p:xfrm>
          <a:off x="286327" y="590229"/>
          <a:ext cx="11748654" cy="5995766"/>
        </p:xfrm>
        <a:graphic>
          <a:graphicData uri="http://schemas.openxmlformats.org/drawingml/2006/table">
            <a:tbl>
              <a:tblPr firstRow="1" firstCol="1" bandRow="1">
                <a:tableStyleId>{5C22544A-7EE6-4342-B048-85BDC9FD1C3A}</a:tableStyleId>
              </a:tblPr>
              <a:tblGrid>
                <a:gridCol w="5874327">
                  <a:extLst>
                    <a:ext uri="{9D8B030D-6E8A-4147-A177-3AD203B41FA5}">
                      <a16:colId xmlns:a16="http://schemas.microsoft.com/office/drawing/2014/main" val="1466816440"/>
                    </a:ext>
                  </a:extLst>
                </a:gridCol>
                <a:gridCol w="5874327">
                  <a:extLst>
                    <a:ext uri="{9D8B030D-6E8A-4147-A177-3AD203B41FA5}">
                      <a16:colId xmlns:a16="http://schemas.microsoft.com/office/drawing/2014/main" val="681099190"/>
                    </a:ext>
                  </a:extLst>
                </a:gridCol>
              </a:tblGrid>
              <a:tr h="216461">
                <a:tc>
                  <a:txBody>
                    <a:bodyPr/>
                    <a:lstStyle/>
                    <a:p>
                      <a:pPr>
                        <a:lnSpc>
                          <a:spcPct val="107000"/>
                        </a:lnSpc>
                        <a:spcAft>
                          <a:spcPts val="0"/>
                        </a:spcAft>
                      </a:pPr>
                      <a:r>
                        <a:rPr lang="fr-FR" sz="1100">
                          <a:effectLst/>
                        </a:rPr>
                        <a:t>Nom du Cas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tc>
                <a:tc>
                  <a:txBody>
                    <a:bodyPr/>
                    <a:lstStyle/>
                    <a:p>
                      <a:pPr>
                        <a:lnSpc>
                          <a:spcPct val="107000"/>
                        </a:lnSpc>
                        <a:spcAft>
                          <a:spcPts val="0"/>
                        </a:spcAft>
                      </a:pPr>
                      <a:r>
                        <a:rPr lang="fr-FR" sz="1100">
                          <a:effectLst/>
                        </a:rPr>
                        <a:t>Exporter les rapports de performance.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tc>
                <a:extLst>
                  <a:ext uri="{0D108BD9-81ED-4DB2-BD59-A6C34878D82A}">
                    <a16:rowId xmlns:a16="http://schemas.microsoft.com/office/drawing/2014/main" val="3843057987"/>
                  </a:ext>
                </a:extLst>
              </a:tr>
              <a:tr h="436707">
                <a:tc>
                  <a:txBody>
                    <a:bodyPr/>
                    <a:lstStyle/>
                    <a:p>
                      <a:pPr>
                        <a:lnSpc>
                          <a:spcPct val="107000"/>
                        </a:lnSpc>
                        <a:spcAft>
                          <a:spcPts val="2400"/>
                        </a:spcAft>
                      </a:pPr>
                      <a:r>
                        <a:rPr lang="fr-FR" sz="1100">
                          <a:effectLst/>
                        </a:rPr>
                        <a:t>Objectif du Cas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tc>
                  <a:txBody>
                    <a:bodyPr/>
                    <a:lstStyle/>
                    <a:p>
                      <a:pPr>
                        <a:lnSpc>
                          <a:spcPct val="107000"/>
                        </a:lnSpc>
                        <a:spcAft>
                          <a:spcPts val="2400"/>
                        </a:spcAft>
                      </a:pPr>
                      <a:r>
                        <a:rPr lang="fr-FR" sz="1100">
                          <a:effectLst/>
                        </a:rPr>
                        <a:t>Permettre à l'utilisateur de sauvegarder les données de monitoring accumulées dans un fichier permanent pour analyse ou archivage.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extLst>
                  <a:ext uri="{0D108BD9-81ED-4DB2-BD59-A6C34878D82A}">
                    <a16:rowId xmlns:a16="http://schemas.microsoft.com/office/drawing/2014/main" val="515455928"/>
                  </a:ext>
                </a:extLst>
              </a:tr>
              <a:tr h="555518">
                <a:tc>
                  <a:txBody>
                    <a:bodyPr/>
                    <a:lstStyle/>
                    <a:p>
                      <a:pPr>
                        <a:lnSpc>
                          <a:spcPct val="107000"/>
                        </a:lnSpc>
                        <a:spcAft>
                          <a:spcPts val="2400"/>
                        </a:spcAft>
                      </a:pPr>
                      <a:r>
                        <a:rPr lang="fr-FR" sz="1100">
                          <a:effectLst/>
                        </a:rPr>
                        <a:t>Acteurs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tc>
                  <a:txBody>
                    <a:bodyPr/>
                    <a:lstStyle/>
                    <a:p>
                      <a:pPr>
                        <a:lnSpc>
                          <a:spcPct val="107000"/>
                        </a:lnSpc>
                        <a:spcAft>
                          <a:spcPts val="800"/>
                        </a:spcAft>
                      </a:pPr>
                      <a:r>
                        <a:rPr lang="fr-CM" sz="1100">
                          <a:effectLst/>
                        </a:rPr>
                        <a:t>Principal : Utilisateur Standard ou Administrateur. </a:t>
                      </a:r>
                      <a:endParaRPr lang="en-US" sz="1100">
                        <a:effectLst/>
                      </a:endParaRPr>
                    </a:p>
                    <a:p>
                      <a:pPr>
                        <a:lnSpc>
                          <a:spcPct val="107000"/>
                        </a:lnSpc>
                        <a:spcAft>
                          <a:spcPts val="800"/>
                        </a:spcAft>
                      </a:pPr>
                      <a:r>
                        <a:rPr lang="fr-CM" sz="1100">
                          <a:effectLst/>
                        </a:rPr>
                        <a:t>Secondaire : Système de fichiers (Stockage local).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extLst>
                  <a:ext uri="{0D108BD9-81ED-4DB2-BD59-A6C34878D82A}">
                    <a16:rowId xmlns:a16="http://schemas.microsoft.com/office/drawing/2014/main" val="1828920483"/>
                  </a:ext>
                </a:extLst>
              </a:tr>
              <a:tr h="574963">
                <a:tc>
                  <a:txBody>
                    <a:bodyPr/>
                    <a:lstStyle/>
                    <a:p>
                      <a:pPr>
                        <a:lnSpc>
                          <a:spcPct val="107000"/>
                        </a:lnSpc>
                        <a:spcAft>
                          <a:spcPts val="0"/>
                        </a:spcAft>
                      </a:pPr>
                      <a:r>
                        <a:rPr lang="fr-FR" sz="1100">
                          <a:effectLst/>
                        </a:rPr>
                        <a:t>Pré-supposés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tc>
                  <a:txBody>
                    <a:bodyPr/>
                    <a:lstStyle/>
                    <a:p>
                      <a:pPr>
                        <a:lnSpc>
                          <a:spcPct val="107000"/>
                        </a:lnSpc>
                        <a:spcAft>
                          <a:spcPts val="800"/>
                        </a:spcAft>
                      </a:pPr>
                      <a:r>
                        <a:rPr lang="fr-CM" sz="1100">
                          <a:effectLst/>
                        </a:rPr>
                        <a:t>1. L'application est active et a collecté des données en mémoire vive (RAM). </a:t>
                      </a:r>
                      <a:endParaRPr lang="en-US" sz="1100">
                        <a:effectLst/>
                      </a:endParaRPr>
                    </a:p>
                    <a:p>
                      <a:pPr>
                        <a:lnSpc>
                          <a:spcPct val="107000"/>
                        </a:lnSpc>
                        <a:spcAft>
                          <a:spcPts val="800"/>
                        </a:spcAft>
                      </a:pPr>
                      <a:r>
                        <a:rPr lang="fr-CM" sz="1100">
                          <a:effectLst/>
                        </a:rPr>
                        <a:t>2. Le support de stockage est monté et accessible sous openSUSE.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extLst>
                  <a:ext uri="{0D108BD9-81ED-4DB2-BD59-A6C34878D82A}">
                    <a16:rowId xmlns:a16="http://schemas.microsoft.com/office/drawing/2014/main" val="54097809"/>
                  </a:ext>
                </a:extLst>
              </a:tr>
              <a:tr h="348440">
                <a:tc>
                  <a:txBody>
                    <a:bodyPr/>
                    <a:lstStyle/>
                    <a:p>
                      <a:pPr>
                        <a:lnSpc>
                          <a:spcPct val="107000"/>
                        </a:lnSpc>
                        <a:spcAft>
                          <a:spcPts val="0"/>
                        </a:spcAft>
                      </a:pPr>
                      <a:r>
                        <a:rPr lang="fr-FR" sz="1100">
                          <a:effectLst/>
                        </a:rPr>
                        <a:t>Pré-condition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tc>
                  <a:txBody>
                    <a:bodyPr/>
                    <a:lstStyle/>
                    <a:p>
                      <a:pPr>
                        <a:lnSpc>
                          <a:spcPct val="107000"/>
                        </a:lnSpc>
                        <a:spcAft>
                          <a:spcPts val="0"/>
                        </a:spcAft>
                      </a:pPr>
                      <a:r>
                        <a:rPr lang="fr-FR" sz="1100">
                          <a:effectLst/>
                        </a:rPr>
                        <a:t>L'utilisateur a accédé à la section "Historique" ou "Rapports" de l'interface graphique.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extLst>
                  <a:ext uri="{0D108BD9-81ED-4DB2-BD59-A6C34878D82A}">
                    <a16:rowId xmlns:a16="http://schemas.microsoft.com/office/drawing/2014/main" val="2389240192"/>
                  </a:ext>
                </a:extLst>
              </a:tr>
              <a:tr h="1883014">
                <a:tc>
                  <a:txBody>
                    <a:bodyPr/>
                    <a:lstStyle/>
                    <a:p>
                      <a:pPr>
                        <a:lnSpc>
                          <a:spcPct val="107000"/>
                        </a:lnSpc>
                        <a:spcAft>
                          <a:spcPts val="0"/>
                        </a:spcAft>
                      </a:pPr>
                      <a:r>
                        <a:rPr lang="fr-FR" sz="1100" dirty="0">
                          <a:effectLst/>
                        </a:rPr>
                        <a:t>Scénario Nominal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tc>
                  <a:txBody>
                    <a:bodyPr/>
                    <a:lstStyle/>
                    <a:p>
                      <a:pPr>
                        <a:lnSpc>
                          <a:spcPct val="107000"/>
                        </a:lnSpc>
                        <a:spcAft>
                          <a:spcPts val="800"/>
                        </a:spcAft>
                      </a:pPr>
                      <a:r>
                        <a:rPr lang="fr-CM" sz="1100">
                          <a:effectLst/>
                        </a:rPr>
                        <a:t>1. L'utilisateur clique sur le bouton "Exporter". </a:t>
                      </a:r>
                      <a:endParaRPr lang="en-US" sz="1100">
                        <a:effectLst/>
                      </a:endParaRPr>
                    </a:p>
                    <a:p>
                      <a:pPr>
                        <a:lnSpc>
                          <a:spcPct val="107000"/>
                        </a:lnSpc>
                        <a:spcAft>
                          <a:spcPts val="800"/>
                        </a:spcAft>
                      </a:pPr>
                      <a:r>
                        <a:rPr lang="fr-CM" sz="1100">
                          <a:effectLst/>
                        </a:rPr>
                        <a:t>2. Le système affiche une boîte de dialogue pour choisir le format (CSV ou LOG). </a:t>
                      </a:r>
                      <a:endParaRPr lang="en-US" sz="1100">
                        <a:effectLst/>
                      </a:endParaRPr>
                    </a:p>
                    <a:p>
                      <a:pPr>
                        <a:lnSpc>
                          <a:spcPct val="107000"/>
                        </a:lnSpc>
                        <a:spcAft>
                          <a:spcPts val="0"/>
                        </a:spcAft>
                      </a:pPr>
                      <a:r>
                        <a:rPr lang="fr-CM" sz="1100">
                          <a:effectLst/>
                        </a:rPr>
                        <a:t>3. L'utilisateur sélectionne le répertoire de destination. </a:t>
                      </a:r>
                      <a:endParaRPr lang="en-US" sz="1100">
                        <a:effectLst/>
                      </a:endParaRPr>
                    </a:p>
                    <a:p>
                      <a:pPr>
                        <a:lnSpc>
                          <a:spcPct val="107000"/>
                        </a:lnSpc>
                        <a:spcAft>
                          <a:spcPts val="0"/>
                        </a:spcAft>
                      </a:pPr>
                      <a:r>
                        <a:rPr lang="fr-CM" sz="1100">
                          <a:effectLst/>
                        </a:rPr>
                        <a:t> </a:t>
                      </a:r>
                      <a:endParaRPr lang="en-US" sz="1100">
                        <a:effectLst/>
                      </a:endParaRPr>
                    </a:p>
                    <a:p>
                      <a:pPr>
                        <a:lnSpc>
                          <a:spcPct val="107000"/>
                        </a:lnSpc>
                        <a:spcAft>
                          <a:spcPts val="0"/>
                        </a:spcAft>
                      </a:pPr>
                      <a:r>
                        <a:rPr lang="fr-CM" sz="1100">
                          <a:effectLst/>
                        </a:rPr>
                        <a:t>4. Le système convertit les données du tampon mémoire au format choisi. </a:t>
                      </a:r>
                      <a:endParaRPr lang="en-US" sz="1100">
                        <a:effectLst/>
                      </a:endParaRPr>
                    </a:p>
                    <a:p>
                      <a:pPr>
                        <a:lnSpc>
                          <a:spcPct val="107000"/>
                        </a:lnSpc>
                        <a:spcAft>
                          <a:spcPts val="800"/>
                        </a:spcAft>
                      </a:pPr>
                      <a:r>
                        <a:rPr lang="fr-CM" sz="1100">
                          <a:effectLst/>
                        </a:rPr>
                        <a:t>5. Le système écrit le fichier sur le disque. </a:t>
                      </a:r>
                      <a:endParaRPr lang="en-US" sz="1100">
                        <a:effectLst/>
                      </a:endParaRPr>
                    </a:p>
                    <a:p>
                      <a:pPr>
                        <a:lnSpc>
                          <a:spcPct val="107000"/>
                        </a:lnSpc>
                        <a:spcAft>
                          <a:spcPts val="800"/>
                        </a:spcAft>
                      </a:pPr>
                      <a:r>
                        <a:rPr lang="fr-CM" sz="1100">
                          <a:effectLst/>
                        </a:rPr>
                        <a:t>6. Une notification confirme le succès de l'opération.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extLst>
                  <a:ext uri="{0D108BD9-81ED-4DB2-BD59-A6C34878D82A}">
                    <a16:rowId xmlns:a16="http://schemas.microsoft.com/office/drawing/2014/main" val="3399657840"/>
                  </a:ext>
                </a:extLst>
              </a:tr>
              <a:tr h="1543956">
                <a:tc>
                  <a:txBody>
                    <a:bodyPr/>
                    <a:lstStyle/>
                    <a:p>
                      <a:pPr>
                        <a:lnSpc>
                          <a:spcPct val="107000"/>
                        </a:lnSpc>
                        <a:spcAft>
                          <a:spcPts val="0"/>
                        </a:spcAft>
                      </a:pPr>
                      <a:r>
                        <a:rPr lang="fr-FR" sz="1100">
                          <a:effectLst/>
                        </a:rPr>
                        <a:t>Scénario Alternatif / Exception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tc>
                  <a:txBody>
                    <a:bodyPr/>
                    <a:lstStyle/>
                    <a:p>
                      <a:pPr>
                        <a:lnSpc>
                          <a:spcPct val="107000"/>
                        </a:lnSpc>
                        <a:spcAft>
                          <a:spcPts val="800"/>
                        </a:spcAft>
                      </a:pPr>
                      <a:r>
                        <a:rPr lang="fr-CM" sz="1100" b="1" dirty="0" smtClean="0">
                          <a:effectLst/>
                        </a:rPr>
                        <a:t>S1</a:t>
                      </a:r>
                      <a:r>
                        <a:rPr lang="fr-CM" sz="1100" b="1" dirty="0">
                          <a:effectLst/>
                        </a:rPr>
                        <a:t>. </a:t>
                      </a:r>
                      <a:r>
                        <a:rPr lang="fr-CM" sz="1100" dirty="0">
                          <a:effectLst/>
                        </a:rPr>
                        <a:t>Espace saturé : Si le disque est plein, le système affiche une erreur et annule l'exportation. </a:t>
                      </a:r>
                      <a:endParaRPr lang="en-US" sz="1100" dirty="0">
                        <a:effectLst/>
                      </a:endParaRPr>
                    </a:p>
                    <a:p>
                      <a:pPr>
                        <a:lnSpc>
                          <a:spcPct val="107000"/>
                        </a:lnSpc>
                        <a:spcAft>
                          <a:spcPts val="800"/>
                        </a:spcAft>
                      </a:pPr>
                      <a:r>
                        <a:rPr lang="fr-CM" sz="1100" b="1" dirty="0" smtClean="0">
                          <a:effectLst/>
                        </a:rPr>
                        <a:t>S2. </a:t>
                      </a:r>
                      <a:r>
                        <a:rPr lang="fr-CM" sz="1100" dirty="0" smtClean="0">
                          <a:effectLst/>
                        </a:rPr>
                        <a:t>Format </a:t>
                      </a:r>
                      <a:r>
                        <a:rPr lang="fr-CM" sz="1100" dirty="0">
                          <a:effectLst/>
                        </a:rPr>
                        <a:t>non supporté : Si l'extension de fichier est invalide, le système impose l'extension .csv par défaut.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extLst>
                  <a:ext uri="{0D108BD9-81ED-4DB2-BD59-A6C34878D82A}">
                    <a16:rowId xmlns:a16="http://schemas.microsoft.com/office/drawing/2014/main" val="2011724886"/>
                  </a:ext>
                </a:extLst>
              </a:tr>
              <a:tr h="436707">
                <a:tc>
                  <a:txBody>
                    <a:bodyPr/>
                    <a:lstStyle/>
                    <a:p>
                      <a:pPr>
                        <a:lnSpc>
                          <a:spcPct val="107000"/>
                        </a:lnSpc>
                        <a:spcAft>
                          <a:spcPts val="0"/>
                        </a:spcAft>
                      </a:pPr>
                      <a:r>
                        <a:rPr lang="fr-FR" sz="1100">
                          <a:effectLst/>
                        </a:rPr>
                        <a:t>Post-condition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tc>
                  <a:txBody>
                    <a:bodyPr/>
                    <a:lstStyle/>
                    <a:p>
                      <a:pPr>
                        <a:lnSpc>
                          <a:spcPct val="107000"/>
                        </a:lnSpc>
                        <a:spcAft>
                          <a:spcPts val="0"/>
                        </a:spcAft>
                      </a:pPr>
                      <a:r>
                        <a:rPr lang="fr-FR" sz="1100" dirty="0">
                          <a:effectLst/>
                        </a:rPr>
                        <a:t>Un fichier de données structuré est créé et disponible pour être ouvert par des outils tiers (ex: </a:t>
                      </a:r>
                      <a:r>
                        <a:rPr lang="fr-FR" sz="1100" dirty="0" err="1">
                          <a:effectLst/>
                        </a:rPr>
                        <a:t>LibreOffice</a:t>
                      </a:r>
                      <a:r>
                        <a:rPr lang="fr-FR" sz="1100" dirty="0">
                          <a:effectLst/>
                        </a:rPr>
                        <a:t> </a:t>
                      </a:r>
                      <a:r>
                        <a:rPr lang="fr-FR" sz="1100" dirty="0" err="1">
                          <a:effectLst/>
                        </a:rPr>
                        <a:t>Calc</a:t>
                      </a:r>
                      <a:r>
                        <a:rPr lang="fr-FR" sz="1100" dirty="0">
                          <a:effectLst/>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2745" marR="42745" marT="0" marB="0" anchor="ctr"/>
                </a:tc>
                <a:extLst>
                  <a:ext uri="{0D108BD9-81ED-4DB2-BD59-A6C34878D82A}">
                    <a16:rowId xmlns:a16="http://schemas.microsoft.com/office/drawing/2014/main" val="323574958"/>
                  </a:ext>
                </a:extLst>
              </a:tr>
            </a:tbl>
          </a:graphicData>
        </a:graphic>
      </p:graphicFrame>
    </p:spTree>
    <p:extLst>
      <p:ext uri="{BB962C8B-B14F-4D97-AF65-F5344CB8AC3E}">
        <p14:creationId xmlns:p14="http://schemas.microsoft.com/office/powerpoint/2010/main" val="560471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a:xfrm>
            <a:off x="1475047" y="1640840"/>
            <a:ext cx="9087168" cy="8001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a:lnSpc>
                <a:spcPct val="150000"/>
              </a:lnSpc>
            </a:pPr>
            <a:r>
              <a:rPr lang="en-US" sz="4400" dirty="0" smtClean="0"/>
              <a:t>v. MODELISATION UML </a:t>
            </a:r>
            <a:endParaRPr lang="fr-FR" sz="4400" dirty="0"/>
          </a:p>
        </p:txBody>
      </p:sp>
    </p:spTree>
    <p:extLst>
      <p:ext uri="{BB962C8B-B14F-4D97-AF65-F5344CB8AC3E}">
        <p14:creationId xmlns:p14="http://schemas.microsoft.com/office/powerpoint/2010/main" val="390633440"/>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944553" y="0"/>
            <a:ext cx="6553200" cy="523220"/>
          </a:xfrm>
          <a:prstGeom prst="rect">
            <a:avLst/>
          </a:prstGeom>
          <a:noFill/>
        </p:spPr>
        <p:txBody>
          <a:bodyPr wrap="square" rtlCol="0">
            <a:spAutoFit/>
          </a:bodyPr>
          <a:lstStyle/>
          <a:p>
            <a:pPr algn="ctr"/>
            <a:r>
              <a:rPr lang="fr-CM" sz="2800" b="1" dirty="0" smtClean="0">
                <a:latin typeface="Times New Roman" panose="02020603050405020304" pitchFamily="18" charset="0"/>
                <a:cs typeface="Times New Roman" panose="02020603050405020304" pitchFamily="18" charset="0"/>
              </a:rPr>
              <a:t>1. Use case global</a:t>
            </a:r>
            <a:endParaRPr lang="fr-CM" sz="2800" b="1" dirty="0">
              <a:latin typeface="Times New Roman" panose="02020603050405020304" pitchFamily="18" charset="0"/>
              <a:cs typeface="Times New Roman" panose="02020603050405020304" pitchFamily="18" charset="0"/>
            </a:endParaRPr>
          </a:p>
        </p:txBody>
      </p:sp>
      <p:sp>
        <p:nvSpPr>
          <p:cNvPr id="5" name="ZoneTexte 4"/>
          <p:cNvSpPr txBox="1"/>
          <p:nvPr/>
        </p:nvSpPr>
        <p:spPr>
          <a:xfrm>
            <a:off x="-548640" y="776177"/>
            <a:ext cx="12166482" cy="5092995"/>
          </a:xfrm>
          <a:prstGeom prst="rect">
            <a:avLst/>
          </a:prstGeom>
          <a:noFill/>
        </p:spPr>
        <p:txBody>
          <a:bodyPr wrap="square" rtlCol="0">
            <a:spAutoFit/>
          </a:bodyPr>
          <a:lstStyle/>
          <a:p>
            <a:endParaRPr lang="fr-CM" dirty="0"/>
          </a:p>
        </p:txBody>
      </p:sp>
      <p:pic>
        <p:nvPicPr>
          <p:cNvPr id="4" name="Image 3"/>
          <p:cNvPicPr>
            <a:picLocks noChangeAspect="1"/>
          </p:cNvPicPr>
          <p:nvPr/>
        </p:nvPicPr>
        <p:blipFill>
          <a:blip r:embed="rId3"/>
          <a:stretch>
            <a:fillRect/>
          </a:stretch>
        </p:blipFill>
        <p:spPr>
          <a:xfrm>
            <a:off x="944880" y="523220"/>
            <a:ext cx="15087601" cy="9248002"/>
          </a:xfrm>
          <a:prstGeom prst="rect">
            <a:avLst/>
          </a:prstGeom>
        </p:spPr>
      </p:pic>
    </p:spTree>
    <p:extLst>
      <p:ext uri="{BB962C8B-B14F-4D97-AF65-F5344CB8AC3E}">
        <p14:creationId xmlns:p14="http://schemas.microsoft.com/office/powerpoint/2010/main" val="20143702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txBox="1">
            <a:spLocks/>
          </p:cNvSpPr>
          <p:nvPr/>
        </p:nvSpPr>
        <p:spPr>
          <a:xfrm>
            <a:off x="1692130" y="131618"/>
            <a:ext cx="8689976" cy="800100"/>
          </a:xfrm>
          <a:prstGeom prst="rect">
            <a:avLst/>
          </a:prstGeom>
        </p:spPr>
        <p:txBody>
          <a:bodyPr>
            <a:normAutofit/>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r>
              <a:rPr lang="fr-FR" sz="3200" dirty="0" smtClean="0"/>
              <a:t>CONCLUSION</a:t>
            </a:r>
            <a:endParaRPr lang="fr-FR" sz="3200" dirty="0"/>
          </a:p>
        </p:txBody>
      </p:sp>
      <p:sp>
        <p:nvSpPr>
          <p:cNvPr id="3" name="Rectangle 2"/>
          <p:cNvSpPr/>
          <p:nvPr/>
        </p:nvSpPr>
        <p:spPr>
          <a:xfrm>
            <a:off x="489527" y="1009640"/>
            <a:ext cx="10668000" cy="2585323"/>
          </a:xfrm>
          <a:prstGeom prst="rect">
            <a:avLst/>
          </a:prstGeom>
        </p:spPr>
        <p:txBody>
          <a:bodyPr wrap="square">
            <a:spAutoFit/>
          </a:bodyPr>
          <a:lstStyle/>
          <a:p>
            <a:pPr algn="just">
              <a:lnSpc>
                <a:spcPct val="150000"/>
              </a:lnSpc>
            </a:pPr>
            <a:r>
              <a:rPr lang="fr-FR" dirty="0" smtClean="0">
                <a:latin typeface="Times New Roman" panose="02020603050405020304" pitchFamily="18" charset="0"/>
                <a:cs typeface="Times New Roman" panose="02020603050405020304" pitchFamily="18" charset="0"/>
              </a:rPr>
              <a:t>	Cette </a:t>
            </a:r>
            <a:r>
              <a:rPr lang="fr-FR" dirty="0">
                <a:latin typeface="Times New Roman" panose="02020603050405020304" pitchFamily="18" charset="0"/>
                <a:cs typeface="Times New Roman" panose="02020603050405020304" pitchFamily="18" charset="0"/>
              </a:rPr>
              <a:t>étude détaillée des cas d'utilisation finalise la phase d'analyse fonctionnelle en structurant les interactions entre l'utilisateur, le système </a:t>
            </a:r>
            <a:r>
              <a:rPr lang="fr-FR" dirty="0" err="1">
                <a:latin typeface="Times New Roman" panose="02020603050405020304" pitchFamily="18" charset="0"/>
                <a:cs typeface="Times New Roman" panose="02020603050405020304" pitchFamily="18" charset="0"/>
              </a:rPr>
              <a:t>openSUSE</a:t>
            </a:r>
            <a:r>
              <a:rPr lang="fr-FR" dirty="0">
                <a:latin typeface="Times New Roman" panose="02020603050405020304" pitchFamily="18" charset="0"/>
                <a:cs typeface="Times New Roman" panose="02020603050405020304" pitchFamily="18" charset="0"/>
              </a:rPr>
              <a:t> et le matériel. En définissant précisément les scénarios nominaux et alternatifs pour chaque acteur </a:t>
            </a:r>
            <a:r>
              <a:rPr lang="fr-FR" dirty="0" smtClean="0">
                <a:latin typeface="Times New Roman" panose="02020603050405020304" pitchFamily="18" charset="0"/>
                <a:cs typeface="Times New Roman" panose="02020603050405020304" pitchFamily="18" charset="0"/>
              </a:rPr>
              <a:t>du </a:t>
            </a:r>
            <a:r>
              <a:rPr lang="fr-FR" dirty="0">
                <a:latin typeface="Times New Roman" panose="02020603050405020304" pitchFamily="18" charset="0"/>
                <a:cs typeface="Times New Roman" panose="02020603050405020304" pitchFamily="18" charset="0"/>
              </a:rPr>
              <a:t>simple utilisateur à l'administrateur </a:t>
            </a:r>
            <a:r>
              <a:rPr lang="fr-FR" dirty="0" smtClean="0">
                <a:latin typeface="Times New Roman" panose="02020603050405020304" pitchFamily="18" charset="0"/>
                <a:cs typeface="Times New Roman" panose="02020603050405020304" pitchFamily="18" charset="0"/>
              </a:rPr>
              <a:t>nous </a:t>
            </a:r>
            <a:r>
              <a:rPr lang="fr-FR" dirty="0">
                <a:latin typeface="Times New Roman" panose="02020603050405020304" pitchFamily="18" charset="0"/>
                <a:cs typeface="Times New Roman" panose="02020603050405020304" pitchFamily="18" charset="0"/>
              </a:rPr>
              <a:t>avons posé les jalons d'une architecture robuste, sécurisée et capable de gérer efficacement les données critiques issues de l'ACPI et du noyau. Ce travail garantit que le futur développement du </a:t>
            </a:r>
            <a:r>
              <a:rPr lang="fr-FR" b="1" dirty="0" err="1">
                <a:latin typeface="Times New Roman" panose="02020603050405020304" pitchFamily="18" charset="0"/>
                <a:cs typeface="Times New Roman" panose="02020603050405020304" pitchFamily="18" charset="0"/>
              </a:rPr>
              <a:t>Multicore</a:t>
            </a:r>
            <a:r>
              <a:rPr lang="fr-FR" b="1" dirty="0">
                <a:latin typeface="Times New Roman" panose="02020603050405020304" pitchFamily="18" charset="0"/>
                <a:cs typeface="Times New Roman" panose="02020603050405020304" pitchFamily="18" charset="0"/>
              </a:rPr>
              <a:t> Monitor</a:t>
            </a:r>
            <a:r>
              <a:rPr lang="fr-FR" dirty="0">
                <a:latin typeface="Times New Roman" panose="02020603050405020304" pitchFamily="18" charset="0"/>
                <a:cs typeface="Times New Roman" panose="02020603050405020304" pitchFamily="18" charset="0"/>
              </a:rPr>
              <a:t> répondra aux exigences de fiabilité et de performance nécessaires à une surveillance multiprocesseur en temps réel.</a:t>
            </a:r>
            <a:endParaRPr lang="fr-C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29228"/>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Ronds dans l’eau">
  <a:themeElements>
    <a:clrScheme name="Ronds dans l’eau">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Ronds dans l’eau">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onds dans l’eau">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Ronds dans l’eau</Template>
  <TotalTime>8458</TotalTime>
  <Words>1471</Words>
  <Application>Microsoft Office PowerPoint</Application>
  <PresentationFormat>Grand écran</PresentationFormat>
  <Paragraphs>175</Paragraphs>
  <Slides>21</Slides>
  <Notes>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21</vt:i4>
      </vt:variant>
    </vt:vector>
  </HeadingPairs>
  <TitlesOfParts>
    <vt:vector size="27" baseType="lpstr">
      <vt:lpstr>Arial</vt:lpstr>
      <vt:lpstr>Calibri</vt:lpstr>
      <vt:lpstr>Times New Roman</vt:lpstr>
      <vt:lpstr>Tw Cen MT</vt:lpstr>
      <vt:lpstr>Wingdings</vt:lpstr>
      <vt:lpstr>Ronds dans l’eau</vt:lpstr>
      <vt:lpstr>Présentation PowerPoint</vt:lpstr>
      <vt:lpstr>Dossier d’analyse</vt:lpstr>
      <vt:lpstr>SOMMAIRE </vt:lpstr>
      <vt:lpstr>INTRODUCTION</vt:lpstr>
      <vt:lpstr>I. Contexte ET OBJECTIFS</vt:lpstr>
      <vt:lpstr>Présentation PowerPoint</vt:lpstr>
      <vt:lpstr>II. PERIMETRE FONCTIONNEL</vt:lpstr>
      <vt:lpstr>Présentation PowerPoint</vt:lpstr>
      <vt:lpstr>III. ACTEURS ET CAS D’UTILISATION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CAHIER DES CHARGES</dc:title>
  <dc:creator>LENOVO USERS</dc:creator>
  <cp:lastModifiedBy>LENOVO USERS</cp:lastModifiedBy>
  <cp:revision>83</cp:revision>
  <dcterms:created xsi:type="dcterms:W3CDTF">2025-11-27T05:12:06Z</dcterms:created>
  <dcterms:modified xsi:type="dcterms:W3CDTF">2026-01-19T13:11:06Z</dcterms:modified>
</cp:coreProperties>
</file>