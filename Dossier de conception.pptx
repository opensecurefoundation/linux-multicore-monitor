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0" r:id="rId1"/>
  </p:sldMasterIdLst>
  <p:notesMasterIdLst>
    <p:notesMasterId r:id="rId18"/>
  </p:notesMasterIdLst>
  <p:sldIdLst>
    <p:sldId id="268" r:id="rId2"/>
    <p:sldId id="256" r:id="rId3"/>
    <p:sldId id="257" r:id="rId4"/>
    <p:sldId id="263" r:id="rId5"/>
    <p:sldId id="265" r:id="rId6"/>
    <p:sldId id="259" r:id="rId7"/>
    <p:sldId id="260" r:id="rId8"/>
    <p:sldId id="267" r:id="rId9"/>
    <p:sldId id="262" r:id="rId10"/>
    <p:sldId id="284" r:id="rId11"/>
    <p:sldId id="270" r:id="rId12"/>
    <p:sldId id="266" r:id="rId13"/>
    <p:sldId id="285" r:id="rId14"/>
    <p:sldId id="287" r:id="rId15"/>
    <p:sldId id="286" r:id="rId16"/>
    <p:sldId id="276"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Style moyen 3 - Accentuation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86" autoAdjust="0"/>
    <p:restoredTop sz="81516" autoAdjust="0"/>
  </p:normalViewPr>
  <p:slideViewPr>
    <p:cSldViewPr snapToGrid="0">
      <p:cViewPr varScale="1">
        <p:scale>
          <a:sx n="55" d="100"/>
          <a:sy n="55" d="100"/>
        </p:scale>
        <p:origin x="1104" y="40"/>
      </p:cViewPr>
      <p:guideLst/>
    </p:cSldViewPr>
  </p:slideViewPr>
  <p:outlineViewPr>
    <p:cViewPr>
      <p:scale>
        <a:sx n="33" d="100"/>
        <a:sy n="33" d="100"/>
      </p:scale>
      <p:origin x="0" y="-660"/>
    </p:cViewPr>
  </p:outlineViewPr>
  <p:notesTextViewPr>
    <p:cViewPr>
      <p:scale>
        <a:sx n="1" d="1"/>
        <a:sy n="1" d="1"/>
      </p:scale>
      <p:origin x="0" y="0"/>
    </p:cViewPr>
  </p:notesTextViewPr>
  <p:sorterViewPr>
    <p:cViewPr>
      <p:scale>
        <a:sx n="100" d="100"/>
        <a:sy n="100" d="100"/>
      </p:scale>
      <p:origin x="0" y="-549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M"/>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6F517D-CE64-462C-AD75-344A9B99B847}" type="datetimeFigureOut">
              <a:rPr lang="fr-CM" smtClean="0"/>
              <a:t>23/01/2026</a:t>
            </a:fld>
            <a:endParaRPr lang="fr-CM"/>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M"/>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M"/>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M"/>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ED8D0A-D665-4C29-8104-3F88BB29AB4F}" type="slidenum">
              <a:rPr lang="fr-CM" smtClean="0"/>
              <a:t>‹N°›</a:t>
            </a:fld>
            <a:endParaRPr lang="fr-CM"/>
          </a:p>
        </p:txBody>
      </p:sp>
    </p:spTree>
    <p:extLst>
      <p:ext uri="{BB962C8B-B14F-4D97-AF65-F5344CB8AC3E}">
        <p14:creationId xmlns:p14="http://schemas.microsoft.com/office/powerpoint/2010/main" val="564437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M" dirty="0"/>
          </a:p>
        </p:txBody>
      </p:sp>
      <p:sp>
        <p:nvSpPr>
          <p:cNvPr id="4" name="Espace réservé du numéro de diapositive 3"/>
          <p:cNvSpPr>
            <a:spLocks noGrp="1"/>
          </p:cNvSpPr>
          <p:nvPr>
            <p:ph type="sldNum" sz="quarter" idx="10"/>
          </p:nvPr>
        </p:nvSpPr>
        <p:spPr/>
        <p:txBody>
          <a:bodyPr/>
          <a:lstStyle/>
          <a:p>
            <a:fld id="{93ED8D0A-D665-4C29-8104-3F88BB29AB4F}" type="slidenum">
              <a:rPr lang="fr-CM" smtClean="0"/>
              <a:t>14</a:t>
            </a:fld>
            <a:endParaRPr lang="fr-CM"/>
          </a:p>
        </p:txBody>
      </p:sp>
    </p:spTree>
    <p:extLst>
      <p:ext uri="{BB962C8B-B14F-4D97-AF65-F5344CB8AC3E}">
        <p14:creationId xmlns:p14="http://schemas.microsoft.com/office/powerpoint/2010/main" val="28598609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fr-FR" smtClean="0"/>
              <a:t>Modifiez le style du titre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9A2ADD78-B297-491E-B195-029A9672D6CB}" type="datetimeFigureOut">
              <a:rPr lang="fr-FR" smtClean="0"/>
              <a:t>23/01/2026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34459440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smtClean="0"/>
              <a:t>Modifiez le style du titre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A2ADD78-B297-491E-B195-029A9672D6CB}" type="datetimeFigureOut">
              <a:rPr lang="fr-FR" smtClean="0"/>
              <a:t>23/01/2026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2420715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fr-FR" smtClean="0"/>
              <a:t>Modifiez le style du titre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9A2ADD78-B297-491E-B195-029A9672D6CB}" type="datetimeFigureOut">
              <a:rPr lang="fr-FR" smtClean="0"/>
              <a:t>23/01/2026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1697153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fr-FR" smtClean="0"/>
              <a:t>Modifiez le style du titre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9A2ADD78-B297-491E-B195-029A9672D6CB}" type="datetimeFigureOut">
              <a:rPr lang="fr-FR" smtClean="0"/>
              <a:t>23/01/2026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2219706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12" name="Content Placeholder 3"/>
          <p:cNvSpPr>
            <a:spLocks noGrp="1"/>
          </p:cNvSpPr>
          <p:nvPr>
            <p:ph sz="quarter" idx="13"/>
          </p:nvPr>
        </p:nvSpPr>
        <p:spPr>
          <a:xfrm>
            <a:off x="913774" y="3051012"/>
            <a:ext cx="5106027" cy="2740187"/>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13" name="Content Placeholder 5"/>
          <p:cNvSpPr>
            <a:spLocks noGrp="1"/>
          </p:cNvSpPr>
          <p:nvPr>
            <p:ph sz="quarter" idx="14"/>
          </p:nvPr>
        </p:nvSpPr>
        <p:spPr>
          <a:xfrm>
            <a:off x="6172200" y="3051012"/>
            <a:ext cx="5105401" cy="2740187"/>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9A2ADD78-B297-491E-B195-029A9672D6CB}" type="datetimeFigureOut">
              <a:rPr lang="fr-FR" smtClean="0"/>
              <a:t>23/01/2026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3781587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9A2ADD78-B297-491E-B195-029A9672D6CB}" type="datetimeFigureOut">
              <a:rPr lang="fr-FR" smtClean="0"/>
              <a:t>23/01/2026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859208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9A2ADD78-B297-491E-B195-029A9672D6CB}" type="datetimeFigureOut">
              <a:rPr lang="fr-FR" smtClean="0"/>
              <a:t>23/01/2026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3224653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fr-FR" smtClean="0"/>
              <a:t>Modifiez le style du titre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23/01/2026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2490120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23/01/2026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708487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23/01/2026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456643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fr-FR" smtClean="0"/>
              <a:t>Modifiez le style du titre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23/01/2026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2981359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fr-FR" smtClean="0"/>
              <a:t>Modifiez le style du titre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23/01/2026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452798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fr-FR" smtClean="0"/>
              <a:t>Modifiez le style du titre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23/01/2026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2441104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fr-FR" smtClean="0"/>
              <a:t>Modifiez le style du titre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3" name="Date Placeholder 2"/>
          <p:cNvSpPr>
            <a:spLocks noGrp="1"/>
          </p:cNvSpPr>
          <p:nvPr>
            <p:ph type="dt" sz="half" idx="10"/>
          </p:nvPr>
        </p:nvSpPr>
        <p:spPr/>
        <p:txBody>
          <a:bodyPr/>
          <a:lstStyle/>
          <a:p>
            <a:fld id="{9A2ADD78-B297-491E-B195-029A9672D6CB}" type="datetimeFigureOut">
              <a:rPr lang="fr-FR" smtClean="0"/>
              <a:t>23/01/2026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14049271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fr-FR" smtClean="0"/>
              <a:t>Modifiez le style du titre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3" name="Date Placeholder 2"/>
          <p:cNvSpPr>
            <a:spLocks noGrp="1"/>
          </p:cNvSpPr>
          <p:nvPr>
            <p:ph type="dt" sz="half" idx="10"/>
          </p:nvPr>
        </p:nvSpPr>
        <p:spPr/>
        <p:txBody>
          <a:bodyPr/>
          <a:lstStyle/>
          <a:p>
            <a:fld id="{9A2ADD78-B297-491E-B195-029A9672D6CB}" type="datetimeFigureOut">
              <a:rPr lang="fr-FR" smtClean="0"/>
              <a:t>23/01/2026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32514388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smtClean="0"/>
              <a:t>Modifiez le style du titre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A2ADD78-B297-491E-B195-029A9672D6CB}" type="datetimeFigureOut">
              <a:rPr lang="fr-FR" smtClean="0"/>
              <a:t>23/01/2026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7439015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fr-FR" smtClean="0"/>
              <a:t>Modifiez le style du titre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A2ADD78-B297-491E-B195-029A9672D6CB}" type="datetimeFigureOut">
              <a:rPr lang="fr-FR" smtClean="0"/>
              <a:t>23/01/2026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2578291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9A2ADD78-B297-491E-B195-029A9672D6CB}" type="datetimeFigureOut">
              <a:rPr lang="fr-FR" smtClean="0"/>
              <a:t>23/01/2026</a:t>
            </a:fld>
            <a:endParaRPr lang="fr-FR"/>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fr-FR"/>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474B4EB8-B4D5-4C7A-8C6C-6F7C354B366B}" type="slidenum">
              <a:rPr lang="fr-FR" smtClean="0"/>
              <a:t>‹N°›</a:t>
            </a:fld>
            <a:endParaRPr lang="fr-FR"/>
          </a:p>
        </p:txBody>
      </p:sp>
    </p:spTree>
    <p:extLst>
      <p:ext uri="{BB962C8B-B14F-4D97-AF65-F5344CB8AC3E}">
        <p14:creationId xmlns:p14="http://schemas.microsoft.com/office/powerpoint/2010/main" val="3576537166"/>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 id="2147483912" r:id="rId12"/>
    <p:sldLayoutId id="2147483913" r:id="rId13"/>
    <p:sldLayoutId id="2147483914" r:id="rId14"/>
    <p:sldLayoutId id="2147483915" r:id="rId15"/>
    <p:sldLayoutId id="2147483916" r:id="rId16"/>
    <p:sldLayoutId id="214748391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807720" y="2426375"/>
            <a:ext cx="3540760" cy="3693319"/>
          </a:xfrm>
          <a:prstGeom prst="rect">
            <a:avLst/>
          </a:prstGeom>
          <a:noFill/>
        </p:spPr>
        <p:txBody>
          <a:bodyPr wrap="square" rtlCol="0">
            <a:spAutoFit/>
          </a:bodyPr>
          <a:lstStyle/>
          <a:p>
            <a:endParaRPr lang="fr-CM" dirty="0"/>
          </a:p>
          <a:p>
            <a:endParaRPr lang="fr-CM" dirty="0" smtClean="0"/>
          </a:p>
          <a:p>
            <a:endParaRPr lang="fr-CM" dirty="0" smtClean="0"/>
          </a:p>
          <a:p>
            <a:r>
              <a:rPr lang="fr-CM" dirty="0" smtClean="0">
                <a:latin typeface="Times New Roman" panose="02020603050405020304" pitchFamily="18" charset="0"/>
                <a:cs typeface="Times New Roman" panose="02020603050405020304" pitchFamily="18" charset="0"/>
              </a:rPr>
              <a:t>Rédigé et présenté par:</a:t>
            </a:r>
          </a:p>
          <a:p>
            <a:endParaRPr lang="fr-CM" dirty="0">
              <a:latin typeface="Times New Roman" panose="02020603050405020304" pitchFamily="18" charset="0"/>
              <a:cs typeface="Times New Roman" panose="02020603050405020304" pitchFamily="18" charset="0"/>
            </a:endParaRPr>
          </a:p>
          <a:p>
            <a:pPr>
              <a:lnSpc>
                <a:spcPct val="150000"/>
              </a:lnSpc>
            </a:pPr>
            <a:r>
              <a:rPr lang="fr-CM" b="1" dirty="0" smtClean="0">
                <a:latin typeface="Times New Roman" panose="02020603050405020304" pitchFamily="18" charset="0"/>
                <a:cs typeface="Times New Roman" panose="02020603050405020304" pitchFamily="18" charset="0"/>
              </a:rPr>
              <a:t>BALA ZAM Marc Philippe</a:t>
            </a:r>
          </a:p>
          <a:p>
            <a:pPr>
              <a:lnSpc>
                <a:spcPct val="150000"/>
              </a:lnSpc>
            </a:pPr>
            <a:r>
              <a:rPr lang="fr-CM" b="1" dirty="0" smtClean="0">
                <a:latin typeface="Times New Roman" panose="02020603050405020304" pitchFamily="18" charset="0"/>
                <a:cs typeface="Times New Roman" panose="02020603050405020304" pitchFamily="18" charset="0"/>
              </a:rPr>
              <a:t>BARDE </a:t>
            </a:r>
            <a:r>
              <a:rPr lang="fr-CM" b="1" dirty="0" err="1" smtClean="0">
                <a:latin typeface="Times New Roman" panose="02020603050405020304" pitchFamily="18" charset="0"/>
                <a:cs typeface="Times New Roman" panose="02020603050405020304" pitchFamily="18" charset="0"/>
              </a:rPr>
              <a:t>BARDE</a:t>
            </a:r>
            <a:r>
              <a:rPr lang="fr-CM" b="1" dirty="0" smtClean="0">
                <a:latin typeface="Times New Roman" panose="02020603050405020304" pitchFamily="18" charset="0"/>
                <a:cs typeface="Times New Roman" panose="02020603050405020304" pitchFamily="18" charset="0"/>
              </a:rPr>
              <a:t> </a:t>
            </a:r>
            <a:r>
              <a:rPr lang="fr-CM" b="1" dirty="0" err="1" smtClean="0">
                <a:latin typeface="Times New Roman" panose="02020603050405020304" pitchFamily="18" charset="0"/>
                <a:cs typeface="Times New Roman" panose="02020603050405020304" pitchFamily="18" charset="0"/>
              </a:rPr>
              <a:t>Bebeto</a:t>
            </a:r>
            <a:r>
              <a:rPr lang="fr-CM" b="1" dirty="0" smtClean="0">
                <a:latin typeface="Times New Roman" panose="02020603050405020304" pitchFamily="18" charset="0"/>
                <a:cs typeface="Times New Roman" panose="02020603050405020304" pitchFamily="18" charset="0"/>
              </a:rPr>
              <a:t>  Jason</a:t>
            </a:r>
          </a:p>
          <a:p>
            <a:endParaRPr lang="fr-CM" dirty="0"/>
          </a:p>
          <a:p>
            <a:endParaRPr lang="fr-CM" dirty="0" smtClean="0">
              <a:latin typeface="Times New Roman" panose="02020603050405020304" pitchFamily="18" charset="0"/>
              <a:cs typeface="Times New Roman" panose="02020603050405020304" pitchFamily="18" charset="0"/>
            </a:endParaRPr>
          </a:p>
          <a:p>
            <a:r>
              <a:rPr lang="fr-CM" dirty="0" smtClean="0">
                <a:latin typeface="Times New Roman" panose="02020603050405020304" pitchFamily="18" charset="0"/>
                <a:cs typeface="Times New Roman" panose="02020603050405020304" pitchFamily="18" charset="0"/>
              </a:rPr>
              <a:t>Étudiants en M1 SSI</a:t>
            </a:r>
          </a:p>
          <a:p>
            <a:endParaRPr lang="fr-CM" dirty="0" smtClean="0"/>
          </a:p>
          <a:p>
            <a:endParaRPr lang="fr-CM" dirty="0" smtClean="0"/>
          </a:p>
        </p:txBody>
      </p:sp>
      <p:sp>
        <p:nvSpPr>
          <p:cNvPr id="3" name="ZoneTexte 2"/>
          <p:cNvSpPr txBox="1"/>
          <p:nvPr/>
        </p:nvSpPr>
        <p:spPr>
          <a:xfrm>
            <a:off x="6776720" y="4891534"/>
            <a:ext cx="5567680" cy="369332"/>
          </a:xfrm>
          <a:prstGeom prst="rect">
            <a:avLst/>
          </a:prstGeom>
          <a:noFill/>
        </p:spPr>
        <p:txBody>
          <a:bodyPr wrap="square" rtlCol="0">
            <a:spAutoFit/>
          </a:bodyPr>
          <a:lstStyle/>
          <a:p>
            <a:r>
              <a:rPr lang="fr-FR" b="1" dirty="0">
                <a:latin typeface="Times New Roman" panose="02020603050405020304" pitchFamily="18" charset="0"/>
                <a:cs typeface="Times New Roman" panose="02020603050405020304" pitchFamily="18" charset="0"/>
              </a:rPr>
              <a:t>Sous la supervision de : </a:t>
            </a:r>
            <a:r>
              <a:rPr lang="fr-FR" b="1" dirty="0" smtClean="0">
                <a:latin typeface="Times New Roman" panose="02020603050405020304" pitchFamily="18" charset="0"/>
                <a:cs typeface="Times New Roman" panose="02020603050405020304" pitchFamily="18" charset="0"/>
              </a:rPr>
              <a:t>M. NGUIMBUS Emmanuel</a:t>
            </a:r>
            <a:endParaRPr lang="en-US" b="1" dirty="0">
              <a:latin typeface="Times New Roman" panose="02020603050405020304" pitchFamily="18" charset="0"/>
              <a:cs typeface="Times New Roman" panose="02020603050405020304" pitchFamily="18" charset="0"/>
            </a:endParaRPr>
          </a:p>
        </p:txBody>
      </p:sp>
      <p:sp>
        <p:nvSpPr>
          <p:cNvPr id="6" name="ZoneTexte 5"/>
          <p:cNvSpPr txBox="1"/>
          <p:nvPr/>
        </p:nvSpPr>
        <p:spPr>
          <a:xfrm>
            <a:off x="4257040" y="66706"/>
            <a:ext cx="3474720" cy="584775"/>
          </a:xfrm>
          <a:prstGeom prst="rect">
            <a:avLst/>
          </a:prstGeom>
          <a:noFill/>
        </p:spPr>
        <p:txBody>
          <a:bodyPr wrap="square" rtlCol="0">
            <a:spAutoFit/>
          </a:bodyPr>
          <a:lstStyle/>
          <a:p>
            <a:pPr algn="ctr"/>
            <a:r>
              <a:rPr lang="fr-CM" sz="3200" b="1" u="sng" dirty="0" smtClean="0">
                <a:latin typeface="Times New Roman" panose="02020603050405020304" pitchFamily="18" charset="0"/>
                <a:cs typeface="Times New Roman" panose="02020603050405020304" pitchFamily="18" charset="0"/>
              </a:rPr>
              <a:t>THÈME</a:t>
            </a:r>
            <a:endParaRPr lang="en-US" sz="3200" b="1" u="sng" dirty="0">
              <a:latin typeface="Times New Roman" panose="02020603050405020304" pitchFamily="18" charset="0"/>
              <a:cs typeface="Times New Roman" panose="02020603050405020304" pitchFamily="18" charset="0"/>
            </a:endParaRPr>
          </a:p>
        </p:txBody>
      </p:sp>
      <p:sp>
        <p:nvSpPr>
          <p:cNvPr id="7" name="Parchemin horizontal 6"/>
          <p:cNvSpPr/>
          <p:nvPr/>
        </p:nvSpPr>
        <p:spPr>
          <a:xfrm>
            <a:off x="1625600" y="743844"/>
            <a:ext cx="9123680" cy="2283836"/>
          </a:xfrm>
          <a:prstGeom prst="horizontalScroll">
            <a:avLst/>
          </a:prstGeom>
          <a:solidFill>
            <a:schemeClr val="accent3">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fr-CM" sz="2000" b="1" dirty="0" smtClean="0">
                <a:latin typeface="Times New Roman" panose="02020603050405020304" pitchFamily="18" charset="0"/>
                <a:cs typeface="Times New Roman" panose="02020603050405020304" pitchFamily="18" charset="0"/>
              </a:rPr>
              <a:t>CONCEPTION  </a:t>
            </a:r>
            <a:r>
              <a:rPr lang="fr-CM" sz="2000" b="1" dirty="0">
                <a:latin typeface="Times New Roman" panose="02020603050405020304" pitchFamily="18" charset="0"/>
                <a:cs typeface="Times New Roman" panose="02020603050405020304" pitchFamily="18" charset="0"/>
              </a:rPr>
              <a:t>ET MISE EN ŒUVRE MULTICORE </a:t>
            </a:r>
            <a:r>
              <a:rPr lang="fr-CM" sz="2000" b="1" dirty="0" smtClean="0">
                <a:latin typeface="Times New Roman" panose="02020603050405020304" pitchFamily="18" charset="0"/>
                <a:cs typeface="Times New Roman" panose="02020603050405020304" pitchFamily="18" charset="0"/>
              </a:rPr>
              <a:t>MONITOR </a:t>
            </a:r>
            <a:r>
              <a:rPr lang="fr-CM" sz="2000" b="1" dirty="0">
                <a:latin typeface="Times New Roman" panose="02020603050405020304" pitchFamily="18" charset="0"/>
                <a:cs typeface="Times New Roman" panose="02020603050405020304" pitchFamily="18" charset="0"/>
              </a:rPr>
              <a:t>, UN MONITEUR EN TEMPS </a:t>
            </a:r>
            <a:r>
              <a:rPr lang="fr-CM" sz="2000" b="1" dirty="0" smtClean="0">
                <a:latin typeface="Times New Roman" panose="02020603050405020304" pitchFamily="18" charset="0"/>
                <a:cs typeface="Times New Roman" panose="02020603050405020304" pitchFamily="18" charset="0"/>
              </a:rPr>
              <a:t>RÉEL  </a:t>
            </a:r>
            <a:r>
              <a:rPr lang="fr-CM" sz="2000" b="1" dirty="0">
                <a:latin typeface="Times New Roman" panose="02020603050405020304" pitchFamily="18" charset="0"/>
                <a:cs typeface="Times New Roman" panose="02020603050405020304" pitchFamily="18" charset="0"/>
              </a:rPr>
              <a:t>DE PERFORMANCE MULTIPROCESSEUR : cas de Linux </a:t>
            </a:r>
            <a:r>
              <a:rPr lang="fr-CM" sz="2000" b="1" dirty="0" err="1">
                <a:latin typeface="Times New Roman" panose="02020603050405020304" pitchFamily="18" charset="0"/>
                <a:cs typeface="Times New Roman" panose="02020603050405020304" pitchFamily="18" charset="0"/>
              </a:rPr>
              <a:t>OpenSUSE</a:t>
            </a:r>
            <a:r>
              <a:rPr lang="fr-CM" sz="2000" b="1" dirty="0">
                <a:latin typeface="Times New Roman" panose="02020603050405020304" pitchFamily="18" charset="0"/>
                <a:cs typeface="Times New Roman" panose="02020603050405020304" pitchFamily="18" charset="0"/>
              </a:rPr>
              <a:t>.</a:t>
            </a:r>
          </a:p>
        </p:txBody>
      </p:sp>
      <p:sp>
        <p:nvSpPr>
          <p:cNvPr id="9" name="Ruban courbé vers le bas 8"/>
          <p:cNvSpPr/>
          <p:nvPr/>
        </p:nvSpPr>
        <p:spPr>
          <a:xfrm>
            <a:off x="2260600" y="5841818"/>
            <a:ext cx="7853680" cy="758952"/>
          </a:xfrm>
          <a:prstGeom prst="ellipseRibbon">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ANNÉE ACADEMIQUE: 2025-2026 </a:t>
            </a:r>
          </a:p>
        </p:txBody>
      </p:sp>
    </p:spTree>
    <p:extLst>
      <p:ext uri="{BB962C8B-B14F-4D97-AF65-F5344CB8AC3E}">
        <p14:creationId xmlns:p14="http://schemas.microsoft.com/office/powerpoint/2010/main" val="7785395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839912" y="2717800"/>
            <a:ext cx="8689976" cy="800100"/>
          </a:xfrm>
        </p:spPr>
        <p:txBody>
          <a:bodyPr>
            <a:normAutofit/>
          </a:bodyPr>
          <a:lstStyle/>
          <a:p>
            <a:r>
              <a:rPr lang="fr-FR" b="1" dirty="0" smtClean="0">
                <a:latin typeface="Times New Roman" panose="02020603050405020304" pitchFamily="18" charset="0"/>
                <a:cs typeface="Times New Roman" panose="02020603050405020304" pitchFamily="18" charset="0"/>
              </a:rPr>
              <a:t>Dossier De conception</a:t>
            </a:r>
            <a:endParaRPr lang="fr-FR"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12083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51235" y="0"/>
            <a:ext cx="10353761" cy="711200"/>
          </a:xfrm>
        </p:spPr>
        <p:txBody>
          <a:bodyPr>
            <a:noAutofit/>
          </a:bodyPr>
          <a:lstStyle/>
          <a:p>
            <a:r>
              <a:rPr lang="en-US" sz="4800" u="sng" dirty="0" smtClean="0"/>
              <a:t>SOMMAIRE</a:t>
            </a:r>
            <a:r>
              <a:rPr lang="en-US" sz="4800" dirty="0" smtClean="0"/>
              <a:t> </a:t>
            </a:r>
            <a:endParaRPr lang="fr-FR" sz="4800" dirty="0"/>
          </a:p>
        </p:txBody>
      </p:sp>
      <p:sp>
        <p:nvSpPr>
          <p:cNvPr id="5" name="ZoneTexte 4"/>
          <p:cNvSpPr txBox="1"/>
          <p:nvPr/>
        </p:nvSpPr>
        <p:spPr>
          <a:xfrm>
            <a:off x="606416" y="1386840"/>
            <a:ext cx="10843904" cy="6186309"/>
          </a:xfrm>
          <a:prstGeom prst="rect">
            <a:avLst/>
          </a:prstGeom>
          <a:noFill/>
        </p:spPr>
        <p:txBody>
          <a:bodyPr wrap="square" rtlCol="0">
            <a:spAutoFit/>
          </a:bodyPr>
          <a:lstStyle/>
          <a:p>
            <a:pPr algn="just">
              <a:lnSpc>
                <a:spcPct val="150000"/>
              </a:lnSpc>
            </a:pPr>
            <a:r>
              <a:rPr lang="en-US" sz="2800" b="1" dirty="0" smtClean="0">
                <a:latin typeface="Times New Roman" panose="02020603050405020304" pitchFamily="18" charset="0"/>
                <a:cs typeface="Times New Roman" panose="02020603050405020304" pitchFamily="18" charset="0"/>
              </a:rPr>
              <a:t>INTRODUCTION</a:t>
            </a:r>
          </a:p>
          <a:p>
            <a:pPr algn="just">
              <a:lnSpc>
                <a:spcPct val="150000"/>
              </a:lnSpc>
            </a:pPr>
            <a:r>
              <a:rPr lang="en-US" sz="2800" b="1" dirty="0" smtClean="0">
                <a:latin typeface="Times New Roman" panose="02020603050405020304" pitchFamily="18" charset="0"/>
                <a:cs typeface="Times New Roman" panose="02020603050405020304" pitchFamily="18" charset="0"/>
              </a:rPr>
              <a:t>	I. CONTEXTE ET OBJECTIFS</a:t>
            </a:r>
          </a:p>
          <a:p>
            <a:pPr algn="just">
              <a:lnSpc>
                <a:spcPct val="150000"/>
              </a:lnSpc>
            </a:pPr>
            <a:r>
              <a:rPr lang="en-US" sz="2800" b="1" dirty="0">
                <a:latin typeface="Times New Roman" panose="02020603050405020304" pitchFamily="18" charset="0"/>
                <a:cs typeface="Times New Roman" panose="02020603050405020304" pitchFamily="18" charset="0"/>
              </a:rPr>
              <a:t>	II. </a:t>
            </a:r>
            <a:r>
              <a:rPr lang="en-US" sz="2800" b="1" dirty="0" smtClean="0">
                <a:latin typeface="Times New Roman" panose="02020603050405020304" pitchFamily="18" charset="0"/>
                <a:cs typeface="Times New Roman" panose="02020603050405020304" pitchFamily="18" charset="0"/>
              </a:rPr>
              <a:t>PERIMETRE FONCTIONNEL</a:t>
            </a:r>
          </a:p>
          <a:p>
            <a:pPr algn="just">
              <a:lnSpc>
                <a:spcPct val="150000"/>
              </a:lnSpc>
            </a:pPr>
            <a:r>
              <a:rPr lang="en-US" sz="2800" b="1" dirty="0" smtClean="0">
                <a:latin typeface="Times New Roman" panose="02020603050405020304" pitchFamily="18" charset="0"/>
                <a:cs typeface="Times New Roman" panose="02020603050405020304" pitchFamily="18" charset="0"/>
              </a:rPr>
              <a:t>	III. DIAGRAMME DE SEQUENCE </a:t>
            </a:r>
          </a:p>
          <a:p>
            <a:pPr algn="just">
              <a:lnSpc>
                <a:spcPct val="150000"/>
              </a:lnSpc>
            </a:pPr>
            <a:r>
              <a:rPr lang="en-US" sz="2800" b="1" dirty="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IV. DIAGRAMME DE CLASSE</a:t>
            </a:r>
          </a:p>
          <a:p>
            <a:pPr algn="just">
              <a:lnSpc>
                <a:spcPct val="150000"/>
              </a:lnSpc>
            </a:pPr>
            <a:r>
              <a:rPr lang="en-US" sz="2800" b="1" dirty="0" smtClean="0">
                <a:latin typeface="Times New Roman" panose="02020603050405020304" pitchFamily="18" charset="0"/>
                <a:cs typeface="Times New Roman" panose="02020603050405020304" pitchFamily="18" charset="0"/>
              </a:rPr>
              <a:t>	V. DIAGRAMME DE COMPOSANTS</a:t>
            </a:r>
          </a:p>
          <a:p>
            <a:pPr algn="just">
              <a:lnSpc>
                <a:spcPct val="150000"/>
              </a:lnSpc>
            </a:pPr>
            <a:r>
              <a:rPr lang="en-US" sz="2800" b="1" dirty="0" smtClean="0">
                <a:latin typeface="Times New Roman" panose="02020603050405020304" pitchFamily="18" charset="0"/>
                <a:cs typeface="Times New Roman" panose="02020603050405020304" pitchFamily="18" charset="0"/>
              </a:rPr>
              <a:t>	VI. DIAGRAMME DE DEPLOIEMENT</a:t>
            </a:r>
          </a:p>
          <a:p>
            <a:pPr algn="just">
              <a:lnSpc>
                <a:spcPct val="150000"/>
              </a:lnSpc>
            </a:pPr>
            <a:r>
              <a:rPr lang="en-US" sz="2800" b="1" dirty="0" smtClean="0">
                <a:latin typeface="Times New Roman" panose="02020603050405020304" pitchFamily="18" charset="0"/>
                <a:cs typeface="Times New Roman" panose="02020603050405020304" pitchFamily="18" charset="0"/>
              </a:rPr>
              <a:t>CONCLUSION</a:t>
            </a:r>
          </a:p>
          <a:p>
            <a:pPr algn="just">
              <a:lnSpc>
                <a:spcPct val="150000"/>
              </a:lnSpc>
            </a:pPr>
            <a:endParaRPr lang="en-US" sz="2000" b="1" dirty="0">
              <a:latin typeface="Times New Roman" panose="02020603050405020304" pitchFamily="18" charset="0"/>
              <a:cs typeface="Times New Roman" panose="02020603050405020304" pitchFamily="18" charset="0"/>
            </a:endParaRPr>
          </a:p>
          <a:p>
            <a:pPr algn="just">
              <a:lnSpc>
                <a:spcPct val="150000"/>
              </a:lnSpc>
            </a:pPr>
            <a:endParaRPr lang="en-US" sz="2000"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1086741"/>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636712" y="127000"/>
            <a:ext cx="8689976" cy="472440"/>
          </a:xfrm>
        </p:spPr>
        <p:txBody>
          <a:bodyPr>
            <a:normAutofit fontScale="90000"/>
          </a:bodyPr>
          <a:lstStyle/>
          <a:p>
            <a:r>
              <a:rPr lang="en-US" sz="4400" dirty="0" smtClean="0">
                <a:latin typeface="Times New Roman" panose="02020603050405020304" pitchFamily="18" charset="0"/>
                <a:cs typeface="Times New Roman" panose="02020603050405020304" pitchFamily="18" charset="0"/>
              </a:rPr>
              <a:t>INTRODUCTION</a:t>
            </a:r>
            <a:endParaRPr lang="fr-FR" sz="4400" dirty="0">
              <a:latin typeface="Times New Roman" panose="02020603050405020304" pitchFamily="18" charset="0"/>
              <a:cs typeface="Times New Roman" panose="02020603050405020304" pitchFamily="18" charset="0"/>
            </a:endParaRPr>
          </a:p>
        </p:txBody>
      </p:sp>
      <p:sp>
        <p:nvSpPr>
          <p:cNvPr id="3" name="Rectangle 2"/>
          <p:cNvSpPr/>
          <p:nvPr/>
        </p:nvSpPr>
        <p:spPr>
          <a:xfrm>
            <a:off x="576580" y="1156061"/>
            <a:ext cx="10810240" cy="2535566"/>
          </a:xfrm>
          <a:prstGeom prst="rect">
            <a:avLst/>
          </a:prstGeom>
        </p:spPr>
        <p:txBody>
          <a:bodyPr wrap="square">
            <a:spAutoFit/>
          </a:bodyPr>
          <a:lstStyle/>
          <a:p>
            <a:pPr algn="just">
              <a:lnSpc>
                <a:spcPct val="150000"/>
              </a:lnSpc>
            </a:pP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À la suite de l'analyse fonctionnelle, ce dossier de conception définit l'architecture technique permettant de transformer les besoins identifiés en une solution logicielle performante sous </a:t>
            </a:r>
            <a:r>
              <a:rPr lang="fr-FR" b="1" dirty="0" err="1">
                <a:latin typeface="Times New Roman" panose="02020603050405020304" pitchFamily="18" charset="0"/>
                <a:cs typeface="Times New Roman" panose="02020603050405020304" pitchFamily="18" charset="0"/>
              </a:rPr>
              <a:t>openSUSE</a:t>
            </a:r>
            <a:r>
              <a:rPr lang="fr-FR" dirty="0">
                <a:latin typeface="Times New Roman" panose="02020603050405020304" pitchFamily="18" charset="0"/>
                <a:cs typeface="Times New Roman" panose="02020603050405020304" pitchFamily="18" charset="0"/>
              </a:rPr>
              <a:t>. Cette phase s'appuie sur une modélisation UML rigoureuse, intégrant les </a:t>
            </a:r>
            <a:r>
              <a:rPr lang="fr-FR" b="1" dirty="0">
                <a:latin typeface="Times New Roman" panose="02020603050405020304" pitchFamily="18" charset="0"/>
                <a:cs typeface="Times New Roman" panose="02020603050405020304" pitchFamily="18" charset="0"/>
              </a:rPr>
              <a:t>diagrammes de classes</a:t>
            </a:r>
            <a:r>
              <a:rPr lang="fr-FR" dirty="0">
                <a:latin typeface="Times New Roman" panose="02020603050405020304" pitchFamily="18" charset="0"/>
                <a:cs typeface="Times New Roman" panose="02020603050405020304" pitchFamily="18" charset="0"/>
              </a:rPr>
              <a:t> pour structurer les briques logicielles (collecte, analyse, interface </a:t>
            </a:r>
            <a:r>
              <a:rPr lang="fr-FR" dirty="0" err="1">
                <a:latin typeface="Times New Roman" panose="02020603050405020304" pitchFamily="18" charset="0"/>
                <a:cs typeface="Times New Roman" panose="02020603050405020304" pitchFamily="18" charset="0"/>
              </a:rPr>
              <a:t>Qt</a:t>
            </a:r>
            <a:r>
              <a:rPr lang="fr-FR" dirty="0">
                <a:latin typeface="Times New Roman" panose="02020603050405020304" pitchFamily="18" charset="0"/>
                <a:cs typeface="Times New Roman" panose="02020603050405020304" pitchFamily="18" charset="0"/>
              </a:rPr>
              <a:t>) et les </a:t>
            </a:r>
            <a:r>
              <a:rPr lang="fr-FR" b="1" dirty="0">
                <a:latin typeface="Times New Roman" panose="02020603050405020304" pitchFamily="18" charset="0"/>
                <a:cs typeface="Times New Roman" panose="02020603050405020304" pitchFamily="18" charset="0"/>
              </a:rPr>
              <a:t>diagrammes de séquence</a:t>
            </a:r>
            <a:r>
              <a:rPr lang="fr-FR" dirty="0">
                <a:latin typeface="Times New Roman" panose="02020603050405020304" pitchFamily="18" charset="0"/>
                <a:cs typeface="Times New Roman" panose="02020603050405020304" pitchFamily="18" charset="0"/>
              </a:rPr>
              <a:t> pour orchestrer les échanges chronologiques entre les acteurs et le système. L'objectif est de garantir une séparation stricte entre le traitement des données bas niveau (noyau Linux) et le rendu graphique, assurant ainsi la robustesse et la réactivité du </a:t>
            </a:r>
            <a:r>
              <a:rPr lang="fr-FR" b="1" dirty="0" err="1">
                <a:latin typeface="Times New Roman" panose="02020603050405020304" pitchFamily="18" charset="0"/>
                <a:cs typeface="Times New Roman" panose="02020603050405020304" pitchFamily="18" charset="0"/>
              </a:rPr>
              <a:t>Multicore</a:t>
            </a:r>
            <a:r>
              <a:rPr lang="fr-FR" b="1" dirty="0">
                <a:latin typeface="Times New Roman" panose="02020603050405020304" pitchFamily="18" charset="0"/>
                <a:cs typeface="Times New Roman" panose="02020603050405020304" pitchFamily="18" charset="0"/>
              </a:rPr>
              <a:t> Monitor</a:t>
            </a:r>
            <a:r>
              <a:rPr lang="fr-FR" dirty="0">
                <a:latin typeface="Times New Roman" panose="02020603050405020304" pitchFamily="18" charset="0"/>
                <a:cs typeface="Times New Roman" panose="02020603050405020304" pitchFamily="18" charset="0"/>
              </a:rPr>
              <a:t>.</a:t>
            </a:r>
            <a:endParaRPr lang="fr-CM"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25472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04632" y="0"/>
            <a:ext cx="8689976" cy="800100"/>
          </a:xfrm>
        </p:spPr>
        <p:txBody>
          <a:bodyPr>
            <a:normAutofit/>
          </a:bodyPr>
          <a:lstStyle/>
          <a:p>
            <a:r>
              <a:rPr lang="en-US" sz="4000" dirty="0" smtClean="0">
                <a:latin typeface="Times New Roman" panose="02020603050405020304" pitchFamily="18" charset="0"/>
                <a:cs typeface="Times New Roman" panose="02020603050405020304" pitchFamily="18" charset="0"/>
              </a:rPr>
              <a:t>I. </a:t>
            </a:r>
            <a:r>
              <a:rPr lang="en-US" sz="4000" dirty="0" err="1" smtClean="0">
                <a:latin typeface="Times New Roman" panose="02020603050405020304" pitchFamily="18" charset="0"/>
                <a:cs typeface="Times New Roman" panose="02020603050405020304" pitchFamily="18" charset="0"/>
              </a:rPr>
              <a:t>Contexte</a:t>
            </a:r>
            <a:r>
              <a:rPr lang="en-US" sz="4000" dirty="0" smtClean="0">
                <a:latin typeface="Times New Roman" panose="02020603050405020304" pitchFamily="18" charset="0"/>
                <a:cs typeface="Times New Roman" panose="02020603050405020304" pitchFamily="18" charset="0"/>
              </a:rPr>
              <a:t> ET OBJECTIFS</a:t>
            </a:r>
            <a:endParaRPr lang="fr-FR" sz="4000" dirty="0">
              <a:latin typeface="Times New Roman" panose="02020603050405020304" pitchFamily="18" charset="0"/>
              <a:cs typeface="Times New Roman" panose="02020603050405020304" pitchFamily="18" charset="0"/>
            </a:endParaRPr>
          </a:p>
        </p:txBody>
      </p:sp>
      <p:sp>
        <p:nvSpPr>
          <p:cNvPr id="3" name="ZoneTexte 2"/>
          <p:cNvSpPr txBox="1"/>
          <p:nvPr/>
        </p:nvSpPr>
        <p:spPr>
          <a:xfrm>
            <a:off x="969005" y="3173160"/>
            <a:ext cx="10597279" cy="646331"/>
          </a:xfrm>
          <a:prstGeom prst="rect">
            <a:avLst/>
          </a:prstGeom>
          <a:noFill/>
        </p:spPr>
        <p:txBody>
          <a:bodyPr wrap="square" rtlCol="0">
            <a:spAutoFit/>
          </a:bodyPr>
          <a:lstStyle/>
          <a:p>
            <a:pPr algn="just">
              <a:lnSpc>
                <a:spcPct val="150000"/>
              </a:lnSpc>
            </a:pPr>
            <a:r>
              <a:rPr lang="fr-FR" sz="2400" dirty="0" smtClean="0">
                <a:latin typeface="Times New Roman" panose="02020603050405020304" pitchFamily="18" charset="0"/>
                <a:cs typeface="Times New Roman" panose="02020603050405020304" pitchFamily="18" charset="0"/>
              </a:rPr>
              <a:t>	</a:t>
            </a:r>
            <a:endParaRPr lang="fr-FR" dirty="0">
              <a:latin typeface="Times New Roman" panose="02020603050405020304" pitchFamily="18" charset="0"/>
              <a:cs typeface="Times New Roman" panose="02020603050405020304" pitchFamily="18" charset="0"/>
            </a:endParaRPr>
          </a:p>
        </p:txBody>
      </p:sp>
      <p:sp>
        <p:nvSpPr>
          <p:cNvPr id="5" name="Rectangle 2"/>
          <p:cNvSpPr>
            <a:spLocks noChangeArrowheads="1"/>
          </p:cNvSpPr>
          <p:nvPr/>
        </p:nvSpPr>
        <p:spPr bwMode="auto">
          <a:xfrm>
            <a:off x="619760" y="2262622"/>
            <a:ext cx="10797853"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16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Le projet </a:t>
            </a:r>
            <a:r>
              <a:rPr lang="fr-FR" sz="2000" b="1" dirty="0" err="1">
                <a:latin typeface="Times New Roman" panose="02020603050405020304" pitchFamily="18" charset="0"/>
                <a:cs typeface="Times New Roman" panose="02020603050405020304" pitchFamily="18" charset="0"/>
              </a:rPr>
              <a:t>Multicore</a:t>
            </a:r>
            <a:r>
              <a:rPr lang="fr-FR" sz="2000" b="1" dirty="0">
                <a:latin typeface="Times New Roman" panose="02020603050405020304" pitchFamily="18" charset="0"/>
                <a:cs typeface="Times New Roman" panose="02020603050405020304" pitchFamily="18" charset="0"/>
              </a:rPr>
              <a:t> Monitor</a:t>
            </a:r>
            <a:r>
              <a:rPr lang="fr-FR" sz="2000" dirty="0">
                <a:latin typeface="Times New Roman" panose="02020603050405020304" pitchFamily="18" charset="0"/>
                <a:cs typeface="Times New Roman" panose="02020603050405020304" pitchFamily="18" charset="0"/>
              </a:rPr>
              <a:t> émerge dans un contexte technologique où la virtualisation, le calcul intensif (HPC) et la conteneurisation sollicitent les processeurs de manière hétérogène. Sous </a:t>
            </a:r>
            <a:r>
              <a:rPr lang="fr-FR" sz="2000" b="1" dirty="0">
                <a:latin typeface="Times New Roman" panose="02020603050405020304" pitchFamily="18" charset="0"/>
                <a:cs typeface="Times New Roman" panose="02020603050405020304" pitchFamily="18" charset="0"/>
              </a:rPr>
              <a:t>Linux </a:t>
            </a:r>
            <a:r>
              <a:rPr lang="fr-FR" sz="2000" b="1" dirty="0" err="1">
                <a:latin typeface="Times New Roman" panose="02020603050405020304" pitchFamily="18" charset="0"/>
                <a:cs typeface="Times New Roman" panose="02020603050405020304" pitchFamily="18" charset="0"/>
              </a:rPr>
              <a:t>openSUSE</a:t>
            </a:r>
            <a:r>
              <a:rPr lang="fr-FR" sz="2000" dirty="0">
                <a:latin typeface="Times New Roman" panose="02020603050405020304" pitchFamily="18" charset="0"/>
                <a:cs typeface="Times New Roman" panose="02020603050405020304" pitchFamily="18" charset="0"/>
              </a:rPr>
              <a:t>, bien que des outils comme </a:t>
            </a:r>
            <a:r>
              <a:rPr lang="fr-FR" sz="2000" i="1" dirty="0">
                <a:latin typeface="Times New Roman" panose="02020603050405020304" pitchFamily="18" charset="0"/>
                <a:cs typeface="Times New Roman" panose="02020603050405020304" pitchFamily="18" charset="0"/>
              </a:rPr>
              <a:t>top</a:t>
            </a:r>
            <a:r>
              <a:rPr lang="fr-FR" sz="2000" dirty="0">
                <a:latin typeface="Times New Roman" panose="02020603050405020304" pitchFamily="18" charset="0"/>
                <a:cs typeface="Times New Roman" panose="02020603050405020304" pitchFamily="18" charset="0"/>
              </a:rPr>
              <a:t> ou </a:t>
            </a:r>
            <a:r>
              <a:rPr lang="fr-FR" sz="2000" i="1" dirty="0" err="1">
                <a:latin typeface="Times New Roman" panose="02020603050405020304" pitchFamily="18" charset="0"/>
                <a:cs typeface="Times New Roman" panose="02020603050405020304" pitchFamily="18" charset="0"/>
              </a:rPr>
              <a:t>htop</a:t>
            </a:r>
            <a:r>
              <a:rPr lang="fr-FR" sz="2000" dirty="0">
                <a:latin typeface="Times New Roman" panose="02020603050405020304" pitchFamily="18" charset="0"/>
                <a:cs typeface="Times New Roman" panose="02020603050405020304" pitchFamily="18" charset="0"/>
              </a:rPr>
              <a:t> existent, il devient nécessaire de concevoir une solution dédiée capable d'isoler finement le comportement de chaque cœur physique et logique pour optimiser le rendement système.</a:t>
            </a: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ZoneTexte 3"/>
          <p:cNvSpPr txBox="1"/>
          <p:nvPr/>
        </p:nvSpPr>
        <p:spPr>
          <a:xfrm>
            <a:off x="619760" y="1352085"/>
            <a:ext cx="3434080" cy="646331"/>
          </a:xfrm>
          <a:prstGeom prst="rect">
            <a:avLst/>
          </a:prstGeom>
          <a:noFill/>
        </p:spPr>
        <p:txBody>
          <a:bodyPr wrap="square" rtlCol="0">
            <a:spAutoFit/>
          </a:bodyPr>
          <a:lstStyle/>
          <a:p>
            <a:r>
              <a:rPr lang="fr-CM" sz="3600" b="1" dirty="0" smtClean="0">
                <a:latin typeface="Times New Roman" panose="02020603050405020304" pitchFamily="18" charset="0"/>
                <a:cs typeface="Times New Roman" panose="02020603050405020304" pitchFamily="18" charset="0"/>
              </a:rPr>
              <a:t>1. Contexte</a:t>
            </a:r>
            <a:endParaRPr lang="fr-CM"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80466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 calcmode="lin" valueType="num">
                                      <p:cBhvr>
                                        <p:cTn id="25"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26" dur="1000" fill="hold"/>
                                        <p:tgtEl>
                                          <p:spTgt spid="5">
                                            <p:txEl>
                                              <p:pRg st="0" end="0"/>
                                            </p:txEl>
                                          </p:spTgt>
                                        </p:tgtEl>
                                        <p:attrNameLst>
                                          <p:attrName>ppt_h</p:attrName>
                                        </p:attrNameLst>
                                      </p:cBhvr>
                                      <p:tavLst>
                                        <p:tav tm="0">
                                          <p:val>
                                            <p:fltVal val="0"/>
                                          </p:val>
                                        </p:tav>
                                        <p:tav tm="100000">
                                          <p:val>
                                            <p:strVal val="#ppt_h"/>
                                          </p:val>
                                        </p:tav>
                                      </p:tavLst>
                                    </p:anim>
                                    <p:anim calcmode="lin" valueType="num">
                                      <p:cBhvr>
                                        <p:cTn id="27" dur="1000" fill="hold"/>
                                        <p:tgtEl>
                                          <p:spTgt spid="5">
                                            <p:txEl>
                                              <p:pRg st="0" end="0"/>
                                            </p:txEl>
                                          </p:spTgt>
                                        </p:tgtEl>
                                        <p:attrNameLst>
                                          <p:attrName>style.rotation</p:attrName>
                                        </p:attrNameLst>
                                      </p:cBhvr>
                                      <p:tavLst>
                                        <p:tav tm="0">
                                          <p:val>
                                            <p:fltVal val="90"/>
                                          </p:val>
                                        </p:tav>
                                        <p:tav tm="100000">
                                          <p:val>
                                            <p:fltVal val="0"/>
                                          </p:val>
                                        </p:tav>
                                      </p:tavLst>
                                    </p:anim>
                                    <p:animEffect transition="in" filter="fade">
                                      <p:cBhvr>
                                        <p:cTn id="28" dur="1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487680" y="295445"/>
            <a:ext cx="3434080" cy="646331"/>
          </a:xfrm>
          <a:prstGeom prst="rect">
            <a:avLst/>
          </a:prstGeom>
          <a:noFill/>
        </p:spPr>
        <p:txBody>
          <a:bodyPr wrap="square" rtlCol="0">
            <a:spAutoFit/>
          </a:bodyPr>
          <a:lstStyle/>
          <a:p>
            <a:r>
              <a:rPr lang="fr-CM" sz="3600" b="1" dirty="0"/>
              <a:t>2</a:t>
            </a:r>
            <a:r>
              <a:rPr lang="fr-CM" sz="3600" b="1" dirty="0" smtClean="0"/>
              <a:t>. Objectifs</a:t>
            </a:r>
            <a:endParaRPr lang="fr-CM" sz="3600" b="1" dirty="0"/>
          </a:p>
        </p:txBody>
      </p:sp>
      <p:sp>
        <p:nvSpPr>
          <p:cNvPr id="6" name="ZoneTexte 5"/>
          <p:cNvSpPr txBox="1"/>
          <p:nvPr/>
        </p:nvSpPr>
        <p:spPr>
          <a:xfrm>
            <a:off x="709985" y="1227059"/>
            <a:ext cx="9464321" cy="4678204"/>
          </a:xfrm>
          <a:prstGeom prst="rect">
            <a:avLst/>
          </a:prstGeom>
          <a:noFill/>
        </p:spPr>
        <p:txBody>
          <a:bodyPr wrap="square" rtlCol="0">
            <a:spAutoFit/>
          </a:bodyPr>
          <a:lstStyle/>
          <a:p>
            <a:pPr marL="342900" indent="-342900">
              <a:buFont typeface="Wingdings" panose="05000000000000000000" pitchFamily="2" charset="2"/>
              <a:buChar char="q"/>
            </a:pPr>
            <a:r>
              <a:rPr lang="fr-FR" sz="2000" b="1" dirty="0" smtClean="0">
                <a:solidFill>
                  <a:schemeClr val="accent2">
                    <a:lumMod val="75000"/>
                  </a:schemeClr>
                </a:solidFill>
                <a:latin typeface="Times New Roman" panose="02020603050405020304" pitchFamily="18" charset="0"/>
                <a:cs typeface="Times New Roman" panose="02020603050405020304" pitchFamily="18" charset="0"/>
              </a:rPr>
              <a:t>Visualisation des performances des cœurs du processeur: </a:t>
            </a:r>
            <a:r>
              <a:rPr lang="fr-FR" sz="2000" dirty="0" smtClean="0">
                <a:latin typeface="Times New Roman" panose="02020603050405020304" pitchFamily="18" charset="0"/>
                <a:cs typeface="Times New Roman" panose="02020603050405020304" pitchFamily="18" charset="0"/>
              </a:rPr>
              <a:t>La </a:t>
            </a:r>
            <a:r>
              <a:rPr lang="fr-FR" sz="2000" dirty="0">
                <a:latin typeface="Times New Roman" panose="02020603050405020304" pitchFamily="18" charset="0"/>
                <a:cs typeface="Times New Roman" panose="02020603050405020304" pitchFamily="18" charset="0"/>
              </a:rPr>
              <a:t>visualisation des performances des cœurs d'un processeur consiste à observer, sous forme de graphiques ou de jauges, comment la charge de travail est répartie entre les différentes unités de calcul de votre </a:t>
            </a:r>
            <a:r>
              <a:rPr lang="fr-FR" sz="2000" dirty="0" smtClean="0">
                <a:latin typeface="Times New Roman" panose="02020603050405020304" pitchFamily="18" charset="0"/>
                <a:cs typeface="Times New Roman" panose="02020603050405020304" pitchFamily="18" charset="0"/>
              </a:rPr>
              <a:t>ordinateur;</a:t>
            </a:r>
          </a:p>
          <a:p>
            <a:endParaRPr lang="fr-FR" sz="2000" b="1" dirty="0" smtClean="0">
              <a:solidFill>
                <a:schemeClr val="accent2">
                  <a:lumMod val="75000"/>
                </a:schemeClr>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fr-FR" sz="2000" b="1" dirty="0" smtClean="0">
                <a:solidFill>
                  <a:schemeClr val="accent2">
                    <a:lumMod val="75000"/>
                  </a:schemeClr>
                </a:solidFill>
                <a:latin typeface="Times New Roman" panose="02020603050405020304" pitchFamily="18" charset="0"/>
                <a:cs typeface="Times New Roman" panose="02020603050405020304" pitchFamily="18" charset="0"/>
              </a:rPr>
              <a:t>Récupération des données de répartition des charges a afficher sur le Dashboard: </a:t>
            </a:r>
            <a:r>
              <a:rPr lang="fr-FR" sz="2000" dirty="0">
                <a:latin typeface="Times New Roman" panose="02020603050405020304" pitchFamily="18" charset="0"/>
                <a:cs typeface="Times New Roman" panose="02020603050405020304" pitchFamily="18" charset="0"/>
              </a:rPr>
              <a:t>désigne le processus technique d'extraction des métriques d'activité de chaque cœur de processeur pour les transformer en indicateurs visuels sur un tableau de bord (Dashboard</a:t>
            </a:r>
            <a:r>
              <a:rPr lang="fr-FR" sz="2000" dirty="0" smtClean="0">
                <a:latin typeface="Times New Roman" panose="02020603050405020304" pitchFamily="18" charset="0"/>
                <a:cs typeface="Times New Roman" panose="02020603050405020304" pitchFamily="18" charset="0"/>
              </a:rPr>
              <a:t>)</a:t>
            </a:r>
          </a:p>
          <a:p>
            <a:endParaRPr lang="fr-FR" sz="2000" b="1" dirty="0" smtClean="0">
              <a:solidFill>
                <a:schemeClr val="accent2">
                  <a:lumMod val="75000"/>
                </a:schemeClr>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fr-FR" sz="2000" b="1" dirty="0" smtClean="0">
                <a:solidFill>
                  <a:schemeClr val="accent2">
                    <a:lumMod val="75000"/>
                  </a:schemeClr>
                </a:solidFill>
                <a:latin typeface="Times New Roman" panose="02020603050405020304" pitchFamily="18" charset="0"/>
                <a:cs typeface="Times New Roman" panose="02020603050405020304" pitchFamily="18" charset="0"/>
              </a:rPr>
              <a:t>Surveillance de l’</a:t>
            </a:r>
            <a:r>
              <a:rPr lang="fr-FR" sz="2000" b="1" dirty="0" err="1" smtClean="0">
                <a:solidFill>
                  <a:schemeClr val="accent2">
                    <a:lumMod val="75000"/>
                  </a:schemeClr>
                </a:solidFill>
                <a:latin typeface="Times New Roman" panose="02020603050405020304" pitchFamily="18" charset="0"/>
                <a:cs typeface="Times New Roman" panose="02020603050405020304" pitchFamily="18" charset="0"/>
              </a:rPr>
              <a:t>activite</a:t>
            </a:r>
            <a:r>
              <a:rPr lang="fr-FR" sz="2000" b="1" dirty="0" smtClean="0">
                <a:solidFill>
                  <a:schemeClr val="accent2">
                    <a:lumMod val="75000"/>
                  </a:schemeClr>
                </a:solidFill>
                <a:latin typeface="Times New Roman" panose="02020603050405020304" pitchFamily="18" charset="0"/>
                <a:cs typeface="Times New Roman" panose="02020603050405020304" pitchFamily="18" charset="0"/>
              </a:rPr>
              <a:t> des cœurs du processeur: </a:t>
            </a:r>
            <a:r>
              <a:rPr lang="fr-FR" dirty="0" smtClean="0">
                <a:latin typeface="Times New Roman" panose="02020603050405020304" pitchFamily="18" charset="0"/>
                <a:cs typeface="Times New Roman" panose="02020603050405020304" pitchFamily="18" charset="0"/>
              </a:rPr>
              <a:t>c’est </a:t>
            </a:r>
            <a:r>
              <a:rPr lang="fr-FR" dirty="0">
                <a:latin typeface="Times New Roman" panose="02020603050405020304" pitchFamily="18" charset="0"/>
                <a:cs typeface="Times New Roman" panose="02020603050405020304" pitchFamily="18" charset="0"/>
              </a:rPr>
              <a:t>l'action de mesurer et d'observer en temps rée</a:t>
            </a:r>
            <a:r>
              <a:rPr lang="fr-FR" sz="2000" dirty="0" smtClean="0">
                <a:latin typeface="Times New Roman" panose="02020603050405020304" pitchFamily="18" charset="0"/>
                <a:cs typeface="Times New Roman" panose="02020603050405020304" pitchFamily="18" charset="0"/>
              </a:rPr>
              <a:t>l comment le "cerveau" de l'ordinateur répartit son travail</a:t>
            </a:r>
            <a:endParaRPr lang="fr-FR" sz="2000" b="1" dirty="0" smtClean="0">
              <a:solidFill>
                <a:schemeClr val="accent2">
                  <a:lumMod val="75000"/>
                </a:schemeClr>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endParaRPr lang="fr-FR" sz="2000" b="1" dirty="0" smtClean="0">
              <a:solidFill>
                <a:schemeClr val="accent2">
                  <a:lumMod val="75000"/>
                </a:schemeClr>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fr-FR" sz="2000" b="1" dirty="0" smtClean="0">
                <a:solidFill>
                  <a:schemeClr val="accent2">
                    <a:lumMod val="75000"/>
                  </a:schemeClr>
                </a:solidFill>
                <a:latin typeface="Times New Roman" panose="02020603050405020304" pitchFamily="18" charset="0"/>
                <a:cs typeface="Times New Roman" panose="02020603050405020304" pitchFamily="18" charset="0"/>
              </a:rPr>
              <a:t>Diagnostic et optimisation des cœurs:</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Si </a:t>
            </a:r>
            <a:r>
              <a:rPr lang="fr-FR" sz="2000" dirty="0">
                <a:latin typeface="Times New Roman" panose="02020603050405020304" pitchFamily="18" charset="0"/>
                <a:cs typeface="Times New Roman" panose="02020603050405020304" pitchFamily="18" charset="0"/>
              </a:rPr>
              <a:t>la surveillance est l'observation, le diagnostic est l'analyse du problème et l'optimisation est sa résolution</a:t>
            </a:r>
            <a:endParaRPr lang="fr-FR" sz="2000" b="1" dirty="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6501259"/>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80321" y="111761"/>
            <a:ext cx="10353761" cy="599439"/>
          </a:xfrm>
        </p:spPr>
        <p:txBody>
          <a:bodyPr/>
          <a:lstStyle/>
          <a:p>
            <a:r>
              <a:rPr lang="fr-FR" b="1" dirty="0" smtClean="0">
                <a:latin typeface="Times New Roman" panose="02020603050405020304" pitchFamily="18" charset="0"/>
                <a:cs typeface="Times New Roman" panose="02020603050405020304" pitchFamily="18" charset="0"/>
              </a:rPr>
              <a:t>II</a:t>
            </a:r>
            <a:r>
              <a:rPr lang="en-US" b="1" dirty="0" smtClean="0">
                <a:latin typeface="Times New Roman" panose="02020603050405020304" pitchFamily="18" charset="0"/>
                <a:cs typeface="Times New Roman" panose="02020603050405020304" pitchFamily="18" charset="0"/>
              </a:rPr>
              <a:t>. PERIMETRE FONCTIONNEL</a:t>
            </a:r>
            <a:endParaRPr lang="fr-FR" b="1" dirty="0">
              <a:latin typeface="Times New Roman" panose="02020603050405020304" pitchFamily="18" charset="0"/>
              <a:cs typeface="Times New Roman" panose="02020603050405020304" pitchFamily="18" charset="0"/>
            </a:endParaRPr>
          </a:p>
        </p:txBody>
      </p:sp>
      <p:sp>
        <p:nvSpPr>
          <p:cNvPr id="6" name="ZoneTexte 5"/>
          <p:cNvSpPr txBox="1"/>
          <p:nvPr/>
        </p:nvSpPr>
        <p:spPr>
          <a:xfrm>
            <a:off x="6969761" y="841494"/>
            <a:ext cx="4775200" cy="369332"/>
          </a:xfrm>
          <a:prstGeom prst="rect">
            <a:avLst/>
          </a:prstGeom>
          <a:noFill/>
        </p:spPr>
        <p:txBody>
          <a:bodyPr wrap="square" rtlCol="0">
            <a:spAutoFit/>
          </a:bodyPr>
          <a:lstStyle/>
          <a:p>
            <a:r>
              <a:rPr lang="fr-CM" dirty="0" smtClean="0"/>
              <a:t> </a:t>
            </a:r>
            <a:endParaRPr lang="fr-CM" dirty="0"/>
          </a:p>
        </p:txBody>
      </p:sp>
      <p:graphicFrame>
        <p:nvGraphicFramePr>
          <p:cNvPr id="7" name="Tableau 6"/>
          <p:cNvGraphicFramePr>
            <a:graphicFrameLocks noGrp="1"/>
          </p:cNvGraphicFramePr>
          <p:nvPr>
            <p:extLst>
              <p:ext uri="{D42A27DB-BD31-4B8C-83A1-F6EECF244321}">
                <p14:modId xmlns:p14="http://schemas.microsoft.com/office/powerpoint/2010/main" val="798076377"/>
              </p:ext>
            </p:extLst>
          </p:nvPr>
        </p:nvGraphicFramePr>
        <p:xfrm>
          <a:off x="402703" y="841494"/>
          <a:ext cx="11188701" cy="5810200"/>
        </p:xfrm>
        <a:graphic>
          <a:graphicData uri="http://schemas.openxmlformats.org/drawingml/2006/table">
            <a:tbl>
              <a:tblPr firstRow="1" firstCol="1" bandRow="1">
                <a:tableStyleId>{5C22544A-7EE6-4342-B048-85BDC9FD1C3A}</a:tableStyleId>
              </a:tblPr>
              <a:tblGrid>
                <a:gridCol w="3729567">
                  <a:extLst>
                    <a:ext uri="{9D8B030D-6E8A-4147-A177-3AD203B41FA5}">
                      <a16:colId xmlns:a16="http://schemas.microsoft.com/office/drawing/2014/main" val="2845545114"/>
                    </a:ext>
                  </a:extLst>
                </a:gridCol>
                <a:gridCol w="3729567">
                  <a:extLst>
                    <a:ext uri="{9D8B030D-6E8A-4147-A177-3AD203B41FA5}">
                      <a16:colId xmlns:a16="http://schemas.microsoft.com/office/drawing/2014/main" val="1394073095"/>
                    </a:ext>
                  </a:extLst>
                </a:gridCol>
                <a:gridCol w="3729567">
                  <a:extLst>
                    <a:ext uri="{9D8B030D-6E8A-4147-A177-3AD203B41FA5}">
                      <a16:colId xmlns:a16="http://schemas.microsoft.com/office/drawing/2014/main" val="570601142"/>
                    </a:ext>
                  </a:extLst>
                </a:gridCol>
              </a:tblGrid>
              <a:tr h="196972">
                <a:tc>
                  <a:txBody>
                    <a:bodyPr/>
                    <a:lstStyle/>
                    <a:p>
                      <a:pPr algn="l">
                        <a:lnSpc>
                          <a:spcPct val="100000"/>
                        </a:lnSpc>
                        <a:spcAft>
                          <a:spcPts val="0"/>
                        </a:spcAft>
                      </a:pPr>
                      <a:r>
                        <a:rPr lang="fr-FR" sz="1800" dirty="0">
                          <a:effectLst/>
                          <a:latin typeface="Times New Roman" panose="02020603050405020304" pitchFamily="18" charset="0"/>
                          <a:cs typeface="Times New Roman" panose="02020603050405020304" pitchFamily="18" charset="0"/>
                        </a:rPr>
                        <a:t>Axe Fonctionnel</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tc>
                  <a:txBody>
                    <a:bodyPr/>
                    <a:lstStyle/>
                    <a:p>
                      <a:pPr algn="l">
                        <a:lnSpc>
                          <a:spcPct val="100000"/>
                        </a:lnSpc>
                        <a:spcAft>
                          <a:spcPts val="0"/>
                        </a:spcAft>
                      </a:pPr>
                      <a:r>
                        <a:rPr lang="fr-FR" sz="1800">
                          <a:effectLst/>
                          <a:latin typeface="Times New Roman" panose="02020603050405020304" pitchFamily="18" charset="0"/>
                          <a:cs typeface="Times New Roman" panose="02020603050405020304" pitchFamily="18" charset="0"/>
                        </a:rPr>
                        <a:t>Fonctionnalités Clés</a:t>
                      </a:r>
                      <a:endParaRPr lang="fr-FR"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tc>
                  <a:txBody>
                    <a:bodyPr/>
                    <a:lstStyle/>
                    <a:p>
                      <a:pPr algn="l">
                        <a:lnSpc>
                          <a:spcPct val="100000"/>
                        </a:lnSpc>
                        <a:spcAft>
                          <a:spcPts val="0"/>
                        </a:spcAft>
                      </a:pPr>
                      <a:r>
                        <a:rPr lang="fr-FR" sz="1800">
                          <a:effectLst/>
                          <a:latin typeface="Times New Roman" panose="02020603050405020304" pitchFamily="18" charset="0"/>
                          <a:cs typeface="Times New Roman" panose="02020603050405020304" pitchFamily="18" charset="0"/>
                        </a:rPr>
                        <a:t>Objectif Précis</a:t>
                      </a:r>
                      <a:endParaRPr lang="fr-FR"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extLst>
                  <a:ext uri="{0D108BD9-81ED-4DB2-BD59-A6C34878D82A}">
                    <a16:rowId xmlns:a16="http://schemas.microsoft.com/office/drawing/2014/main" val="523998066"/>
                  </a:ext>
                </a:extLst>
              </a:tr>
              <a:tr h="984860">
                <a:tc>
                  <a:txBody>
                    <a:bodyPr/>
                    <a:lstStyle/>
                    <a:p>
                      <a:pPr algn="l">
                        <a:lnSpc>
                          <a:spcPct val="100000"/>
                        </a:lnSpc>
                        <a:spcAft>
                          <a:spcPts val="0"/>
                        </a:spcAft>
                      </a:pPr>
                      <a:r>
                        <a:rPr lang="fr-FR" sz="1800" dirty="0" smtClean="0">
                          <a:effectLst/>
                          <a:latin typeface="Times New Roman" panose="02020603050405020304" pitchFamily="18" charset="0"/>
                          <a:cs typeface="Times New Roman" panose="02020603050405020304" pitchFamily="18" charset="0"/>
                        </a:rPr>
                        <a:t>Collecte </a:t>
                      </a:r>
                      <a:r>
                        <a:rPr lang="fr-FR" sz="1800" dirty="0">
                          <a:effectLst/>
                          <a:latin typeface="Times New Roman" panose="02020603050405020304" pitchFamily="18" charset="0"/>
                          <a:cs typeface="Times New Roman" panose="02020603050405020304" pitchFamily="18" charset="0"/>
                        </a:rPr>
                        <a:t>de Données</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tc>
                  <a:txBody>
                    <a:bodyPr/>
                    <a:lstStyle/>
                    <a:p>
                      <a:pPr algn="l">
                        <a:lnSpc>
                          <a:spcPct val="100000"/>
                        </a:lnSpc>
                        <a:spcAft>
                          <a:spcPts val="0"/>
                        </a:spcAft>
                      </a:pPr>
                      <a:r>
                        <a:rPr lang="fr-FR" sz="1800" dirty="0">
                          <a:effectLst/>
                          <a:latin typeface="Times New Roman" panose="02020603050405020304" pitchFamily="18" charset="0"/>
                          <a:cs typeface="Times New Roman" panose="02020603050405020304" pitchFamily="18" charset="0"/>
                        </a:rPr>
                        <a:t>• Mesure de charge par cœur (% </a:t>
                      </a:r>
                      <a:r>
                        <a:rPr lang="fr-FR" sz="1800" dirty="0" err="1">
                          <a:effectLst/>
                          <a:latin typeface="Times New Roman" panose="02020603050405020304" pitchFamily="18" charset="0"/>
                          <a:cs typeface="Times New Roman" panose="02020603050405020304" pitchFamily="18" charset="0"/>
                        </a:rPr>
                        <a:t>uk</a:t>
                      </a:r>
                      <a:r>
                        <a:rPr lang="fr-FR" sz="1800" dirty="0" smtClean="0">
                          <a:effectLst/>
                          <a:latin typeface="Times New Roman" panose="02020603050405020304" pitchFamily="18" charset="0"/>
                          <a:cs typeface="Times New Roman" panose="02020603050405020304" pitchFamily="18" charset="0"/>
                        </a:rPr>
                        <a:t>);</a:t>
                      </a:r>
                      <a:r>
                        <a:rPr lang="fr-FR" sz="1800" dirty="0">
                          <a:effectLst/>
                          <a:latin typeface="Times New Roman" panose="02020603050405020304" pitchFamily="18" charset="0"/>
                          <a:cs typeface="Times New Roman" panose="02020603050405020304" pitchFamily="18" charset="0"/>
                        </a:rPr>
                        <a:t/>
                      </a:r>
                      <a:br>
                        <a:rPr lang="fr-FR" sz="1800" dirty="0">
                          <a:effectLst/>
                          <a:latin typeface="Times New Roman" panose="02020603050405020304" pitchFamily="18" charset="0"/>
                          <a:cs typeface="Times New Roman" panose="02020603050405020304" pitchFamily="18" charset="0"/>
                        </a:rPr>
                      </a:br>
                      <a:r>
                        <a:rPr lang="fr-FR" sz="1800" dirty="0">
                          <a:effectLst/>
                          <a:latin typeface="Times New Roman" panose="02020603050405020304" pitchFamily="18" charset="0"/>
                          <a:cs typeface="Times New Roman" panose="02020603050405020304" pitchFamily="18" charset="0"/>
                        </a:rPr>
                        <a:t>• Distinction P-</a:t>
                      </a:r>
                      <a:r>
                        <a:rPr lang="fr-FR" sz="1800" dirty="0" err="1">
                          <a:effectLst/>
                          <a:latin typeface="Times New Roman" panose="02020603050405020304" pitchFamily="18" charset="0"/>
                          <a:cs typeface="Times New Roman" panose="02020603050405020304" pitchFamily="18" charset="0"/>
                        </a:rPr>
                        <a:t>Cores</a:t>
                      </a:r>
                      <a:r>
                        <a:rPr lang="fr-FR" sz="1800" dirty="0">
                          <a:effectLst/>
                          <a:latin typeface="Times New Roman" panose="02020603050405020304" pitchFamily="18" charset="0"/>
                          <a:cs typeface="Times New Roman" panose="02020603050405020304" pitchFamily="18" charset="0"/>
                        </a:rPr>
                        <a:t> / </a:t>
                      </a:r>
                      <a:r>
                        <a:rPr lang="fr-FR" sz="1800" dirty="0" err="1" smtClean="0">
                          <a:effectLst/>
                          <a:latin typeface="Times New Roman" panose="02020603050405020304" pitchFamily="18" charset="0"/>
                          <a:cs typeface="Times New Roman" panose="02020603050405020304" pitchFamily="18" charset="0"/>
                        </a:rPr>
                        <a:t>E-Cores</a:t>
                      </a:r>
                      <a:r>
                        <a:rPr lang="fr-FR" sz="1800" dirty="0" smtClean="0">
                          <a:effectLst/>
                          <a:latin typeface="Times New Roman" panose="02020603050405020304" pitchFamily="18" charset="0"/>
                          <a:cs typeface="Times New Roman" panose="02020603050405020304" pitchFamily="18" charset="0"/>
                        </a:rPr>
                        <a:t>;</a:t>
                      </a:r>
                    </a:p>
                    <a:p>
                      <a:pPr algn="l">
                        <a:lnSpc>
                          <a:spcPct val="100000"/>
                        </a:lnSpc>
                        <a:spcAft>
                          <a:spcPts val="0"/>
                        </a:spcAft>
                      </a:pPr>
                      <a:r>
                        <a:rPr lang="fr-FR" sz="1800" dirty="0" smtClean="0">
                          <a:effectLst/>
                          <a:latin typeface="Times New Roman" panose="02020603050405020304" pitchFamily="18" charset="0"/>
                          <a:cs typeface="Times New Roman" panose="02020603050405020304" pitchFamily="18" charset="0"/>
                        </a:rPr>
                        <a:t>• </a:t>
                      </a:r>
                      <a:r>
                        <a:rPr lang="fr-FR" sz="1800" dirty="0">
                          <a:effectLst/>
                          <a:latin typeface="Times New Roman" panose="02020603050405020304" pitchFamily="18" charset="0"/>
                          <a:cs typeface="Times New Roman" panose="02020603050405020304" pitchFamily="18" charset="0"/>
                        </a:rPr>
                        <a:t>Fréquences (GHz) et </a:t>
                      </a:r>
                      <a:r>
                        <a:rPr lang="fr-FR" sz="1800" dirty="0" smtClean="0">
                          <a:effectLst/>
                          <a:latin typeface="Times New Roman" panose="02020603050405020304" pitchFamily="18" charset="0"/>
                          <a:cs typeface="Times New Roman" panose="02020603050405020304" pitchFamily="18" charset="0"/>
                        </a:rPr>
                        <a:t>Températures.</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tc>
                  <a:txBody>
                    <a:bodyPr/>
                    <a:lstStyle/>
                    <a:p>
                      <a:pPr algn="l">
                        <a:lnSpc>
                          <a:spcPct val="100000"/>
                        </a:lnSpc>
                        <a:spcAft>
                          <a:spcPts val="0"/>
                        </a:spcAft>
                      </a:pPr>
                      <a:r>
                        <a:rPr lang="fr-FR" sz="1800">
                          <a:effectLst/>
                          <a:latin typeface="Times New Roman" panose="02020603050405020304" pitchFamily="18" charset="0"/>
                          <a:cs typeface="Times New Roman" panose="02020603050405020304" pitchFamily="18" charset="0"/>
                        </a:rPr>
                        <a:t>Extraire les données brutes du matériel en temps réel.</a:t>
                      </a:r>
                      <a:endParaRPr lang="fr-FR"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extLst>
                  <a:ext uri="{0D108BD9-81ED-4DB2-BD59-A6C34878D82A}">
                    <a16:rowId xmlns:a16="http://schemas.microsoft.com/office/drawing/2014/main" val="3176350959"/>
                  </a:ext>
                </a:extLst>
              </a:tr>
              <a:tr h="787888">
                <a:tc>
                  <a:txBody>
                    <a:bodyPr/>
                    <a:lstStyle/>
                    <a:p>
                      <a:pPr algn="l">
                        <a:lnSpc>
                          <a:spcPct val="100000"/>
                        </a:lnSpc>
                        <a:spcAft>
                          <a:spcPts val="0"/>
                        </a:spcAft>
                      </a:pPr>
                      <a:r>
                        <a:rPr lang="fr-FR" sz="1800" dirty="0" smtClean="0">
                          <a:effectLst/>
                          <a:latin typeface="Times New Roman" panose="02020603050405020304" pitchFamily="18" charset="0"/>
                          <a:cs typeface="Times New Roman" panose="02020603050405020304" pitchFamily="18" charset="0"/>
                        </a:rPr>
                        <a:t>Visualisation</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tc>
                  <a:txBody>
                    <a:bodyPr/>
                    <a:lstStyle/>
                    <a:p>
                      <a:pPr algn="l">
                        <a:lnSpc>
                          <a:spcPct val="100000"/>
                        </a:lnSpc>
                        <a:spcAft>
                          <a:spcPts val="0"/>
                        </a:spcAft>
                      </a:pPr>
                      <a:r>
                        <a:rPr lang="fr-FR" sz="1800" dirty="0">
                          <a:effectLst/>
                          <a:latin typeface="Times New Roman" panose="02020603050405020304" pitchFamily="18" charset="0"/>
                          <a:cs typeface="Times New Roman" panose="02020603050405020304" pitchFamily="18" charset="0"/>
                        </a:rPr>
                        <a:t>• Graphiques de charge </a:t>
                      </a:r>
                      <a:r>
                        <a:rPr lang="fr-FR" sz="1800" dirty="0" smtClean="0">
                          <a:effectLst/>
                          <a:latin typeface="Times New Roman" panose="02020603050405020304" pitchFamily="18" charset="0"/>
                          <a:cs typeface="Times New Roman" panose="02020603050405020304" pitchFamily="18" charset="0"/>
                        </a:rPr>
                        <a:t>individuels;</a:t>
                      </a:r>
                      <a:r>
                        <a:rPr lang="fr-FR" sz="1800" dirty="0">
                          <a:effectLst/>
                          <a:latin typeface="Times New Roman" panose="02020603050405020304" pitchFamily="18" charset="0"/>
                          <a:cs typeface="Times New Roman" panose="02020603050405020304" pitchFamily="18" charset="0"/>
                        </a:rPr>
                        <a:t/>
                      </a:r>
                      <a:br>
                        <a:rPr lang="fr-FR" sz="1800" dirty="0">
                          <a:effectLst/>
                          <a:latin typeface="Times New Roman" panose="02020603050405020304" pitchFamily="18" charset="0"/>
                          <a:cs typeface="Times New Roman" panose="02020603050405020304" pitchFamily="18" charset="0"/>
                        </a:rPr>
                      </a:br>
                      <a:r>
                        <a:rPr lang="fr-FR" sz="1800" dirty="0">
                          <a:effectLst/>
                          <a:latin typeface="Times New Roman" panose="02020603050405020304" pitchFamily="18" charset="0"/>
                          <a:cs typeface="Times New Roman" panose="02020603050405020304" pitchFamily="18" charset="0"/>
                        </a:rPr>
                        <a:t>• Cartes de chaleur (</a:t>
                      </a:r>
                      <a:r>
                        <a:rPr lang="fr-FR" sz="1800" dirty="0" err="1">
                          <a:effectLst/>
                          <a:latin typeface="Times New Roman" panose="02020603050405020304" pitchFamily="18" charset="0"/>
                          <a:cs typeface="Times New Roman" panose="02020603050405020304" pitchFamily="18" charset="0"/>
                        </a:rPr>
                        <a:t>Heatmaps</a:t>
                      </a:r>
                      <a:r>
                        <a:rPr lang="fr-FR" sz="1800" dirty="0" smtClean="0">
                          <a:effectLst/>
                          <a:latin typeface="Times New Roman" panose="02020603050405020304" pitchFamily="18" charset="0"/>
                          <a:cs typeface="Times New Roman" panose="02020603050405020304" pitchFamily="18" charset="0"/>
                        </a:rPr>
                        <a:t>);</a:t>
                      </a:r>
                    </a:p>
                    <a:p>
                      <a:pPr algn="l">
                        <a:lnSpc>
                          <a:spcPct val="100000"/>
                        </a:lnSpc>
                        <a:spcAft>
                          <a:spcPts val="0"/>
                        </a:spcAft>
                      </a:pPr>
                      <a:r>
                        <a:rPr lang="fr-FR" sz="1800" dirty="0" smtClean="0">
                          <a:effectLst/>
                          <a:latin typeface="Times New Roman" panose="02020603050405020304" pitchFamily="18" charset="0"/>
                          <a:cs typeface="Times New Roman" panose="02020603050405020304" pitchFamily="18" charset="0"/>
                        </a:rPr>
                        <a:t>• </a:t>
                      </a:r>
                      <a:r>
                        <a:rPr lang="fr-FR" sz="1800" dirty="0">
                          <a:effectLst/>
                          <a:latin typeface="Times New Roman" panose="02020603050405020304" pitchFamily="18" charset="0"/>
                          <a:cs typeface="Times New Roman" panose="02020603050405020304" pitchFamily="18" charset="0"/>
                        </a:rPr>
                        <a:t>Dashboard temps </a:t>
                      </a:r>
                      <a:r>
                        <a:rPr lang="fr-FR" sz="1800" dirty="0" smtClean="0">
                          <a:effectLst/>
                          <a:latin typeface="Times New Roman" panose="02020603050405020304" pitchFamily="18" charset="0"/>
                          <a:cs typeface="Times New Roman" panose="02020603050405020304" pitchFamily="18" charset="0"/>
                        </a:rPr>
                        <a:t>réel.</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tc>
                  <a:txBody>
                    <a:bodyPr/>
                    <a:lstStyle/>
                    <a:p>
                      <a:pPr algn="l">
                        <a:lnSpc>
                          <a:spcPct val="100000"/>
                        </a:lnSpc>
                        <a:spcAft>
                          <a:spcPts val="0"/>
                        </a:spcAft>
                      </a:pPr>
                      <a:r>
                        <a:rPr lang="fr-FR" sz="1800">
                          <a:effectLst/>
                          <a:latin typeface="Times New Roman" panose="02020603050405020304" pitchFamily="18" charset="0"/>
                          <a:cs typeface="Times New Roman" panose="02020603050405020304" pitchFamily="18" charset="0"/>
                        </a:rPr>
                        <a:t>Rendre l'activité invisible du CPU compréhensible visuellement.</a:t>
                      </a:r>
                      <a:endParaRPr lang="fr-FR"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extLst>
                  <a:ext uri="{0D108BD9-81ED-4DB2-BD59-A6C34878D82A}">
                    <a16:rowId xmlns:a16="http://schemas.microsoft.com/office/drawing/2014/main" val="2942379169"/>
                  </a:ext>
                </a:extLst>
              </a:tr>
              <a:tr h="984860">
                <a:tc>
                  <a:txBody>
                    <a:bodyPr/>
                    <a:lstStyle/>
                    <a:p>
                      <a:pPr algn="l">
                        <a:lnSpc>
                          <a:spcPct val="100000"/>
                        </a:lnSpc>
                        <a:spcAft>
                          <a:spcPts val="0"/>
                        </a:spcAft>
                      </a:pPr>
                      <a:r>
                        <a:rPr lang="fr-FR" sz="1800" dirty="0" smtClean="0">
                          <a:effectLst/>
                          <a:latin typeface="Times New Roman" panose="02020603050405020304" pitchFamily="18" charset="0"/>
                          <a:cs typeface="Times New Roman" panose="02020603050405020304" pitchFamily="18" charset="0"/>
                        </a:rPr>
                        <a:t>Diagnostic</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tc>
                  <a:txBody>
                    <a:bodyPr/>
                    <a:lstStyle/>
                    <a:p>
                      <a:pPr algn="l">
                        <a:lnSpc>
                          <a:spcPct val="100000"/>
                        </a:lnSpc>
                        <a:spcAft>
                          <a:spcPts val="0"/>
                        </a:spcAft>
                      </a:pPr>
                      <a:r>
                        <a:rPr lang="fr-FR" sz="1800" dirty="0">
                          <a:effectLst/>
                          <a:latin typeface="Times New Roman" panose="02020603050405020304" pitchFamily="18" charset="0"/>
                          <a:cs typeface="Times New Roman" panose="02020603050405020304" pitchFamily="18" charset="0"/>
                        </a:rPr>
                        <a:t>• Détection du bridage thermique (</a:t>
                      </a:r>
                      <a:r>
                        <a:rPr lang="fr-FR" sz="1800" dirty="0" err="1">
                          <a:effectLst/>
                          <a:latin typeface="Times New Roman" panose="02020603050405020304" pitchFamily="18" charset="0"/>
                          <a:cs typeface="Times New Roman" panose="02020603050405020304" pitchFamily="18" charset="0"/>
                        </a:rPr>
                        <a:t>Throttling</a:t>
                      </a:r>
                      <a:r>
                        <a:rPr lang="fr-FR" sz="1800" dirty="0" smtClean="0">
                          <a:effectLst/>
                          <a:latin typeface="Times New Roman" panose="02020603050405020304" pitchFamily="18" charset="0"/>
                          <a:cs typeface="Times New Roman" panose="02020603050405020304" pitchFamily="18" charset="0"/>
                        </a:rPr>
                        <a:t>);</a:t>
                      </a:r>
                      <a:r>
                        <a:rPr lang="fr-FR" sz="1800" dirty="0">
                          <a:effectLst/>
                          <a:latin typeface="Times New Roman" panose="02020603050405020304" pitchFamily="18" charset="0"/>
                          <a:cs typeface="Times New Roman" panose="02020603050405020304" pitchFamily="18" charset="0"/>
                        </a:rPr>
                        <a:t/>
                      </a:r>
                      <a:br>
                        <a:rPr lang="fr-FR" sz="1800" dirty="0">
                          <a:effectLst/>
                          <a:latin typeface="Times New Roman" panose="02020603050405020304" pitchFamily="18" charset="0"/>
                          <a:cs typeface="Times New Roman" panose="02020603050405020304" pitchFamily="18" charset="0"/>
                        </a:rPr>
                      </a:br>
                      <a:r>
                        <a:rPr lang="fr-FR" sz="1800" dirty="0">
                          <a:effectLst/>
                          <a:latin typeface="Times New Roman" panose="02020603050405020304" pitchFamily="18" charset="0"/>
                          <a:cs typeface="Times New Roman" panose="02020603050405020304" pitchFamily="18" charset="0"/>
                        </a:rPr>
                        <a:t>• Identification des processus bloqués sur un seul </a:t>
                      </a:r>
                      <a:r>
                        <a:rPr lang="fr-FR" sz="1800" dirty="0" smtClean="0">
                          <a:effectLst/>
                          <a:latin typeface="Times New Roman" panose="02020603050405020304" pitchFamily="18" charset="0"/>
                          <a:cs typeface="Times New Roman" panose="02020603050405020304" pitchFamily="18" charset="0"/>
                        </a:rPr>
                        <a:t>cœur;</a:t>
                      </a:r>
                      <a:r>
                        <a:rPr lang="fr-FR" sz="1800" dirty="0">
                          <a:effectLst/>
                          <a:latin typeface="Times New Roman" panose="02020603050405020304" pitchFamily="18" charset="0"/>
                          <a:cs typeface="Times New Roman" panose="02020603050405020304" pitchFamily="18" charset="0"/>
                        </a:rPr>
                        <a:t/>
                      </a:r>
                      <a:br>
                        <a:rPr lang="fr-FR" sz="1800" dirty="0">
                          <a:effectLst/>
                          <a:latin typeface="Times New Roman" panose="02020603050405020304" pitchFamily="18" charset="0"/>
                          <a:cs typeface="Times New Roman" panose="02020603050405020304" pitchFamily="18" charset="0"/>
                        </a:rPr>
                      </a:br>
                      <a:r>
                        <a:rPr lang="fr-FR" sz="1800" dirty="0">
                          <a:effectLst/>
                          <a:latin typeface="Times New Roman" panose="02020603050405020304" pitchFamily="18" charset="0"/>
                          <a:cs typeface="Times New Roman" panose="02020603050405020304" pitchFamily="18" charset="0"/>
                        </a:rPr>
                        <a:t>• Historisation des </a:t>
                      </a:r>
                      <a:r>
                        <a:rPr lang="fr-FR" sz="1800" dirty="0" smtClean="0">
                          <a:effectLst/>
                          <a:latin typeface="Times New Roman" panose="02020603050405020304" pitchFamily="18" charset="0"/>
                          <a:cs typeface="Times New Roman" panose="02020603050405020304" pitchFamily="18" charset="0"/>
                        </a:rPr>
                        <a:t>incidents.</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tc>
                  <a:txBody>
                    <a:bodyPr/>
                    <a:lstStyle/>
                    <a:p>
                      <a:pPr algn="l">
                        <a:lnSpc>
                          <a:spcPct val="100000"/>
                        </a:lnSpc>
                        <a:spcAft>
                          <a:spcPts val="0"/>
                        </a:spcAft>
                      </a:pPr>
                      <a:r>
                        <a:rPr lang="fr-FR" sz="1800" dirty="0">
                          <a:effectLst/>
                          <a:latin typeface="Times New Roman" panose="02020603050405020304" pitchFamily="18" charset="0"/>
                          <a:cs typeface="Times New Roman" panose="02020603050405020304" pitchFamily="18" charset="0"/>
                        </a:rPr>
                        <a:t>Trouver la cause exacte d'un ralentissement ou d'une surchauffe.</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extLst>
                  <a:ext uri="{0D108BD9-81ED-4DB2-BD59-A6C34878D82A}">
                    <a16:rowId xmlns:a16="http://schemas.microsoft.com/office/drawing/2014/main" val="2381476465"/>
                  </a:ext>
                </a:extLst>
              </a:tr>
              <a:tr h="1181833">
                <a:tc>
                  <a:txBody>
                    <a:bodyPr/>
                    <a:lstStyle/>
                    <a:p>
                      <a:pPr algn="l">
                        <a:lnSpc>
                          <a:spcPct val="100000"/>
                        </a:lnSpc>
                        <a:spcAft>
                          <a:spcPts val="0"/>
                        </a:spcAft>
                      </a:pPr>
                      <a:r>
                        <a:rPr lang="fr-FR" sz="1800" dirty="0" smtClean="0">
                          <a:effectLst/>
                          <a:latin typeface="Times New Roman" panose="02020603050405020304" pitchFamily="18" charset="0"/>
                          <a:cs typeface="Times New Roman" panose="02020603050405020304" pitchFamily="18" charset="0"/>
                        </a:rPr>
                        <a:t>Optimisation </a:t>
                      </a:r>
                      <a:r>
                        <a:rPr lang="fr-FR" sz="1800" dirty="0">
                          <a:effectLst/>
                          <a:latin typeface="Times New Roman" panose="02020603050405020304" pitchFamily="18" charset="0"/>
                          <a:cs typeface="Times New Roman" panose="02020603050405020304" pitchFamily="18" charset="0"/>
                        </a:rPr>
                        <a:t>(Action)</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tc>
                  <a:txBody>
                    <a:bodyPr/>
                    <a:lstStyle/>
                    <a:p>
                      <a:pPr algn="l">
                        <a:lnSpc>
                          <a:spcPct val="100000"/>
                        </a:lnSpc>
                        <a:spcAft>
                          <a:spcPts val="0"/>
                        </a:spcAft>
                      </a:pPr>
                      <a:r>
                        <a:rPr lang="fr-FR" sz="1800" dirty="0">
                          <a:effectLst/>
                          <a:latin typeface="Times New Roman" panose="02020603050405020304" pitchFamily="18" charset="0"/>
                          <a:cs typeface="Times New Roman" panose="02020603050405020304" pitchFamily="18" charset="0"/>
                        </a:rPr>
                        <a:t>• Gestion de l'affinité (choix des cœurs</a:t>
                      </a:r>
                      <a:r>
                        <a:rPr lang="fr-FR" sz="1800" dirty="0" smtClean="0">
                          <a:effectLst/>
                          <a:latin typeface="Times New Roman" panose="02020603050405020304" pitchFamily="18" charset="0"/>
                          <a:cs typeface="Times New Roman" panose="02020603050405020304" pitchFamily="18" charset="0"/>
                        </a:rPr>
                        <a:t>);</a:t>
                      </a:r>
                      <a:r>
                        <a:rPr lang="fr-FR" sz="1800" dirty="0">
                          <a:effectLst/>
                          <a:latin typeface="Times New Roman" panose="02020603050405020304" pitchFamily="18" charset="0"/>
                          <a:cs typeface="Times New Roman" panose="02020603050405020304" pitchFamily="18" charset="0"/>
                        </a:rPr>
                        <a:t/>
                      </a:r>
                      <a:br>
                        <a:rPr lang="fr-FR" sz="1800" dirty="0">
                          <a:effectLst/>
                          <a:latin typeface="Times New Roman" panose="02020603050405020304" pitchFamily="18" charset="0"/>
                          <a:cs typeface="Times New Roman" panose="02020603050405020304" pitchFamily="18" charset="0"/>
                        </a:rPr>
                      </a:br>
                      <a:r>
                        <a:rPr lang="fr-FR" sz="1800" dirty="0">
                          <a:effectLst/>
                          <a:latin typeface="Times New Roman" panose="02020603050405020304" pitchFamily="18" charset="0"/>
                          <a:cs typeface="Times New Roman" panose="02020603050405020304" pitchFamily="18" charset="0"/>
                        </a:rPr>
                        <a:t>• Déblocage des cœurs mis en veille (</a:t>
                      </a:r>
                      <a:r>
                        <a:rPr lang="fr-FR" sz="1800" dirty="0" err="1">
                          <a:effectLst/>
                          <a:latin typeface="Times New Roman" panose="02020603050405020304" pitchFamily="18" charset="0"/>
                          <a:cs typeface="Times New Roman" panose="02020603050405020304" pitchFamily="18" charset="0"/>
                        </a:rPr>
                        <a:t>Core</a:t>
                      </a:r>
                      <a:r>
                        <a:rPr lang="fr-FR" sz="1800" dirty="0">
                          <a:effectLst/>
                          <a:latin typeface="Times New Roman" panose="02020603050405020304" pitchFamily="18" charset="0"/>
                          <a:cs typeface="Times New Roman" panose="02020603050405020304" pitchFamily="18" charset="0"/>
                        </a:rPr>
                        <a:t> Parking</a:t>
                      </a:r>
                      <a:r>
                        <a:rPr lang="fr-FR" sz="1800" dirty="0" smtClean="0">
                          <a:effectLst/>
                          <a:latin typeface="Times New Roman" panose="02020603050405020304" pitchFamily="18" charset="0"/>
                          <a:cs typeface="Times New Roman" panose="02020603050405020304" pitchFamily="18" charset="0"/>
                        </a:rPr>
                        <a:t>);</a:t>
                      </a:r>
                      <a:r>
                        <a:rPr lang="fr-FR" sz="1800" dirty="0">
                          <a:effectLst/>
                          <a:latin typeface="Times New Roman" panose="02020603050405020304" pitchFamily="18" charset="0"/>
                          <a:cs typeface="Times New Roman" panose="02020603050405020304" pitchFamily="18" charset="0"/>
                        </a:rPr>
                        <a:t/>
                      </a:r>
                      <a:br>
                        <a:rPr lang="fr-FR" sz="1800" dirty="0">
                          <a:effectLst/>
                          <a:latin typeface="Times New Roman" panose="02020603050405020304" pitchFamily="18" charset="0"/>
                          <a:cs typeface="Times New Roman" panose="02020603050405020304" pitchFamily="18" charset="0"/>
                        </a:rPr>
                      </a:br>
                      <a:r>
                        <a:rPr lang="fr-FR" sz="1800" dirty="0">
                          <a:effectLst/>
                          <a:latin typeface="Times New Roman" panose="02020603050405020304" pitchFamily="18" charset="0"/>
                          <a:cs typeface="Times New Roman" panose="02020603050405020304" pitchFamily="18" charset="0"/>
                        </a:rPr>
                        <a:t>• Ajustement des profils </a:t>
                      </a:r>
                      <a:r>
                        <a:rPr lang="fr-FR" sz="1800" dirty="0" smtClean="0">
                          <a:effectLst/>
                          <a:latin typeface="Times New Roman" panose="02020603050405020304" pitchFamily="18" charset="0"/>
                          <a:cs typeface="Times New Roman" panose="02020603050405020304" pitchFamily="18" charset="0"/>
                        </a:rPr>
                        <a:t>d'énergie.</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tc>
                  <a:txBody>
                    <a:bodyPr/>
                    <a:lstStyle/>
                    <a:p>
                      <a:pPr algn="l">
                        <a:lnSpc>
                          <a:spcPct val="100000"/>
                        </a:lnSpc>
                        <a:spcAft>
                          <a:spcPts val="0"/>
                        </a:spcAft>
                      </a:pPr>
                      <a:r>
                        <a:rPr lang="fr-FR" sz="1800" dirty="0">
                          <a:effectLst/>
                          <a:latin typeface="Times New Roman" panose="02020603050405020304" pitchFamily="18" charset="0"/>
                          <a:cs typeface="Times New Roman" panose="02020603050405020304" pitchFamily="18" charset="0"/>
                        </a:rPr>
                        <a:t>Intervenir pour maximiser les performances ou l'autonomie.</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extLst>
                  <a:ext uri="{0D108BD9-81ED-4DB2-BD59-A6C34878D82A}">
                    <a16:rowId xmlns:a16="http://schemas.microsoft.com/office/drawing/2014/main" val="10063077"/>
                  </a:ext>
                </a:extLst>
              </a:tr>
              <a:tr h="984860">
                <a:tc>
                  <a:txBody>
                    <a:bodyPr/>
                    <a:lstStyle/>
                    <a:p>
                      <a:pPr algn="l">
                        <a:lnSpc>
                          <a:spcPct val="100000"/>
                        </a:lnSpc>
                        <a:spcAft>
                          <a:spcPts val="0"/>
                        </a:spcAft>
                      </a:pPr>
                      <a:r>
                        <a:rPr lang="fr-FR" sz="1800" dirty="0" smtClean="0">
                          <a:effectLst/>
                          <a:latin typeface="Times New Roman" panose="02020603050405020304" pitchFamily="18" charset="0"/>
                          <a:cs typeface="Times New Roman" panose="02020603050405020304" pitchFamily="18" charset="0"/>
                        </a:rPr>
                        <a:t>Alertes </a:t>
                      </a:r>
                      <a:r>
                        <a:rPr lang="fr-FR" sz="1800" dirty="0">
                          <a:effectLst/>
                          <a:latin typeface="Times New Roman" panose="02020603050405020304" pitchFamily="18" charset="0"/>
                          <a:cs typeface="Times New Roman" panose="02020603050405020304" pitchFamily="18" charset="0"/>
                        </a:rPr>
                        <a:t>et Rapports</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tc>
                  <a:txBody>
                    <a:bodyPr/>
                    <a:lstStyle/>
                    <a:p>
                      <a:pPr algn="l">
                        <a:lnSpc>
                          <a:spcPct val="100000"/>
                        </a:lnSpc>
                        <a:spcAft>
                          <a:spcPts val="0"/>
                        </a:spcAft>
                      </a:pPr>
                      <a:r>
                        <a:rPr lang="fr-FR" sz="1800" dirty="0">
                          <a:effectLst/>
                          <a:latin typeface="Times New Roman" panose="02020603050405020304" pitchFamily="18" charset="0"/>
                          <a:cs typeface="Times New Roman" panose="02020603050405020304" pitchFamily="18" charset="0"/>
                        </a:rPr>
                        <a:t>• Notifications de </a:t>
                      </a:r>
                      <a:r>
                        <a:rPr lang="fr-FR" sz="1800" dirty="0" smtClean="0">
                          <a:effectLst/>
                          <a:latin typeface="Times New Roman" panose="02020603050405020304" pitchFamily="18" charset="0"/>
                          <a:cs typeface="Times New Roman" panose="02020603050405020304" pitchFamily="18" charset="0"/>
                        </a:rPr>
                        <a:t>surchauffe;</a:t>
                      </a:r>
                      <a:r>
                        <a:rPr lang="fr-FR" sz="1800" dirty="0">
                          <a:effectLst/>
                          <a:latin typeface="Times New Roman" panose="02020603050405020304" pitchFamily="18" charset="0"/>
                          <a:cs typeface="Times New Roman" panose="02020603050405020304" pitchFamily="18" charset="0"/>
                        </a:rPr>
                        <a:t/>
                      </a:r>
                      <a:br>
                        <a:rPr lang="fr-FR" sz="1800" dirty="0">
                          <a:effectLst/>
                          <a:latin typeface="Times New Roman" panose="02020603050405020304" pitchFamily="18" charset="0"/>
                          <a:cs typeface="Times New Roman" panose="02020603050405020304" pitchFamily="18" charset="0"/>
                        </a:rPr>
                      </a:br>
                      <a:r>
                        <a:rPr lang="fr-FR" sz="1800" dirty="0">
                          <a:effectLst/>
                          <a:latin typeface="Times New Roman" panose="02020603050405020304" pitchFamily="18" charset="0"/>
                          <a:cs typeface="Times New Roman" panose="02020603050405020304" pitchFamily="18" charset="0"/>
                        </a:rPr>
                        <a:t>• Rapports d'efficacité </a:t>
                      </a:r>
                      <a:r>
                        <a:rPr lang="fr-FR" sz="1800" dirty="0" smtClean="0">
                          <a:effectLst/>
                          <a:latin typeface="Times New Roman" panose="02020603050405020304" pitchFamily="18" charset="0"/>
                          <a:cs typeface="Times New Roman" panose="02020603050405020304" pitchFamily="18" charset="0"/>
                        </a:rPr>
                        <a:t>énergétique;</a:t>
                      </a:r>
                      <a:r>
                        <a:rPr lang="fr-FR" sz="1800" dirty="0">
                          <a:effectLst/>
                          <a:latin typeface="Times New Roman" panose="02020603050405020304" pitchFamily="18" charset="0"/>
                          <a:cs typeface="Times New Roman" panose="02020603050405020304" pitchFamily="18" charset="0"/>
                        </a:rPr>
                        <a:t/>
                      </a:r>
                      <a:br>
                        <a:rPr lang="fr-FR" sz="1800" dirty="0">
                          <a:effectLst/>
                          <a:latin typeface="Times New Roman" panose="02020603050405020304" pitchFamily="18" charset="0"/>
                          <a:cs typeface="Times New Roman" panose="02020603050405020304" pitchFamily="18" charset="0"/>
                        </a:rPr>
                      </a:br>
                      <a:r>
                        <a:rPr lang="fr-FR" sz="1800" dirty="0">
                          <a:effectLst/>
                          <a:latin typeface="Times New Roman" panose="02020603050405020304" pitchFamily="18" charset="0"/>
                          <a:cs typeface="Times New Roman" panose="02020603050405020304" pitchFamily="18" charset="0"/>
                        </a:rPr>
                        <a:t>• Alertes sur processus </a:t>
                      </a:r>
                      <a:r>
                        <a:rPr lang="fr-FR" sz="1800" dirty="0" smtClean="0">
                          <a:effectLst/>
                          <a:latin typeface="Times New Roman" panose="02020603050405020304" pitchFamily="18" charset="0"/>
                          <a:cs typeface="Times New Roman" panose="02020603050405020304" pitchFamily="18" charset="0"/>
                        </a:rPr>
                        <a:t>gourmands.</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tc>
                  <a:txBody>
                    <a:bodyPr/>
                    <a:lstStyle/>
                    <a:p>
                      <a:pPr algn="l">
                        <a:lnSpc>
                          <a:spcPct val="100000"/>
                        </a:lnSpc>
                        <a:spcAft>
                          <a:spcPts val="0"/>
                        </a:spcAft>
                      </a:pPr>
                      <a:r>
                        <a:rPr lang="fr-FR" sz="1800" dirty="0">
                          <a:effectLst/>
                          <a:latin typeface="Times New Roman" panose="02020603050405020304" pitchFamily="18" charset="0"/>
                          <a:cs typeface="Times New Roman" panose="02020603050405020304" pitchFamily="18" charset="0"/>
                        </a:rPr>
                        <a:t>Prévenir les pannes et documenter l'état de santé du système.</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568" marR="62568" marT="0" marB="0"/>
                </a:tc>
                <a:extLst>
                  <a:ext uri="{0D108BD9-81ED-4DB2-BD59-A6C34878D82A}">
                    <a16:rowId xmlns:a16="http://schemas.microsoft.com/office/drawing/2014/main" val="2469413396"/>
                  </a:ext>
                </a:extLst>
              </a:tr>
            </a:tbl>
          </a:graphicData>
        </a:graphic>
      </p:graphicFrame>
    </p:spTree>
    <p:extLst>
      <p:ext uri="{BB962C8B-B14F-4D97-AF65-F5344CB8AC3E}">
        <p14:creationId xmlns:p14="http://schemas.microsoft.com/office/powerpoint/2010/main" val="4291684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729205" y="2433320"/>
            <a:ext cx="10542106" cy="800100"/>
          </a:xfrm>
        </p:spPr>
        <p:txBody>
          <a:bodyPr>
            <a:normAutofit fontScale="90000"/>
          </a:bodyPr>
          <a:lstStyle/>
          <a:p>
            <a:pPr>
              <a:lnSpc>
                <a:spcPct val="150000"/>
              </a:lnSpc>
            </a:pPr>
            <a:r>
              <a:rPr lang="en-US" b="1" dirty="0" smtClean="0">
                <a:latin typeface="Times New Roman" panose="02020603050405020304" pitchFamily="18" charset="0"/>
                <a:cs typeface="Times New Roman" panose="02020603050405020304" pitchFamily="18" charset="0"/>
              </a:rPr>
              <a:t>III. DIAGRAMME DE SEQUENCE</a:t>
            </a:r>
            <a:endParaRPr lang="fr-FR"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6391933"/>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p:cNvSpPr txBox="1">
            <a:spLocks/>
          </p:cNvSpPr>
          <p:nvPr/>
        </p:nvSpPr>
        <p:spPr>
          <a:xfrm>
            <a:off x="1117600" y="-82712"/>
            <a:ext cx="10052368" cy="800100"/>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pPr>
              <a:lnSpc>
                <a:spcPct val="150000"/>
              </a:lnSpc>
            </a:pPr>
            <a:r>
              <a:rPr lang="en-US" sz="2800" dirty="0" smtClean="0">
                <a:effectLst/>
                <a:latin typeface="Times New Roman" panose="02020603050405020304" pitchFamily="18" charset="0"/>
                <a:cs typeface="Times New Roman" panose="02020603050405020304" pitchFamily="18" charset="0"/>
              </a:rPr>
              <a:t>III. DIAGRAMME DE SEQUENCE</a:t>
            </a:r>
            <a:endParaRPr lang="fr-FR" sz="2800" dirty="0">
              <a:effectLst/>
              <a:latin typeface="Times New Roman" panose="02020603050405020304" pitchFamily="18" charset="0"/>
              <a:cs typeface="Times New Roman" panose="02020603050405020304" pitchFamily="18" charset="0"/>
            </a:endParaRPr>
          </a:p>
        </p:txBody>
      </p:sp>
      <p:sp>
        <p:nvSpPr>
          <p:cNvPr id="3" name="Rectangle 2"/>
          <p:cNvSpPr/>
          <p:nvPr/>
        </p:nvSpPr>
        <p:spPr>
          <a:xfrm>
            <a:off x="833377" y="1043342"/>
            <a:ext cx="10150998" cy="1687963"/>
          </a:xfrm>
          <a:prstGeom prst="rect">
            <a:avLst/>
          </a:prstGeom>
        </p:spPr>
        <p:txBody>
          <a:bodyPr wrap="square">
            <a:spAutoFit/>
          </a:bodyPr>
          <a:lstStyle/>
          <a:p>
            <a:pPr algn="just">
              <a:lnSpc>
                <a:spcPct val="150000"/>
              </a:lnSpc>
            </a:pPr>
            <a:r>
              <a:rPr lang="fr-FR" dirty="0" smtClean="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Les </a:t>
            </a:r>
            <a:r>
              <a:rPr lang="fr-FR" sz="2400" dirty="0">
                <a:latin typeface="Times New Roman" panose="02020603050405020304" pitchFamily="18" charset="0"/>
                <a:cs typeface="Times New Roman" panose="02020603050405020304" pitchFamily="18" charset="0"/>
              </a:rPr>
              <a:t>diagrammes de séquences permettent de représenter les interactions entre les objets selon un point de vue temporel, on y met l’accent sur la chronologie des envois des messages entre objets.</a:t>
            </a:r>
            <a:endParaRPr lang="fr-CM"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46217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95554" y="-150471"/>
            <a:ext cx="6349463" cy="738664"/>
          </a:xfrm>
          <a:prstGeom prst="rect">
            <a:avLst/>
          </a:prstGeom>
        </p:spPr>
        <p:txBody>
          <a:bodyPr wrap="square">
            <a:spAutoFit/>
          </a:bodyPr>
          <a:lstStyle/>
          <a:p>
            <a:pPr>
              <a:lnSpc>
                <a:spcPct val="150000"/>
              </a:lnSpc>
            </a:pPr>
            <a:r>
              <a:rPr lang="en-US" sz="2800" b="1" dirty="0">
                <a:latin typeface="Times New Roman" panose="02020603050405020304" pitchFamily="18" charset="0"/>
                <a:cs typeface="Times New Roman" panose="02020603050405020304" pitchFamily="18" charset="0"/>
              </a:rPr>
              <a:t>III. DIAGRAMME DE SEQUENCE</a:t>
            </a:r>
            <a:endParaRPr lang="fr-FR" sz="2800" b="1" dirty="0">
              <a:latin typeface="Times New Roman" panose="02020603050405020304" pitchFamily="18" charset="0"/>
              <a:cs typeface="Times New Roman" panose="02020603050405020304" pitchFamily="18" charset="0"/>
            </a:endParaRPr>
          </a:p>
        </p:txBody>
      </p:sp>
      <p:pic>
        <p:nvPicPr>
          <p:cNvPr id="10" name="Image 9"/>
          <p:cNvPicPr>
            <a:picLocks noChangeAspect="1"/>
          </p:cNvPicPr>
          <p:nvPr/>
        </p:nvPicPr>
        <p:blipFill>
          <a:blip r:embed="rId2"/>
          <a:stretch>
            <a:fillRect/>
          </a:stretch>
        </p:blipFill>
        <p:spPr>
          <a:xfrm>
            <a:off x="1284789" y="1224801"/>
            <a:ext cx="14549378" cy="6738583"/>
          </a:xfrm>
          <a:prstGeom prst="rect">
            <a:avLst/>
          </a:prstGeom>
        </p:spPr>
      </p:pic>
    </p:spTree>
    <p:extLst>
      <p:ext uri="{BB962C8B-B14F-4D97-AF65-F5344CB8AC3E}">
        <p14:creationId xmlns:p14="http://schemas.microsoft.com/office/powerpoint/2010/main" val="29551729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a:xfrm>
            <a:off x="1117600" y="-82712"/>
            <a:ext cx="10052368" cy="800100"/>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pPr>
              <a:lnSpc>
                <a:spcPct val="150000"/>
              </a:lnSpc>
            </a:pPr>
            <a:r>
              <a:rPr lang="en-US" sz="2800" dirty="0" smtClean="0">
                <a:effectLst/>
                <a:latin typeface="Times New Roman" panose="02020603050405020304" pitchFamily="18" charset="0"/>
                <a:cs typeface="Times New Roman" panose="02020603050405020304" pitchFamily="18" charset="0"/>
              </a:rPr>
              <a:t>III. DIAGRAMME DE SEQUENCE</a:t>
            </a:r>
            <a:endParaRPr lang="fr-FR" sz="2800" dirty="0">
              <a:effectLst/>
              <a:latin typeface="Times New Roman" panose="02020603050405020304" pitchFamily="18" charset="0"/>
              <a:cs typeface="Times New Roman" panose="02020603050405020304" pitchFamily="18" charset="0"/>
            </a:endParaRPr>
          </a:p>
        </p:txBody>
      </p:sp>
      <p:pic>
        <p:nvPicPr>
          <p:cNvPr id="7" name="Image 6"/>
          <p:cNvPicPr>
            <a:picLocks noChangeAspect="1"/>
          </p:cNvPicPr>
          <p:nvPr/>
        </p:nvPicPr>
        <p:blipFill>
          <a:blip r:embed="rId2"/>
          <a:stretch>
            <a:fillRect/>
          </a:stretch>
        </p:blipFill>
        <p:spPr>
          <a:xfrm>
            <a:off x="925974" y="833377"/>
            <a:ext cx="14804020" cy="8588173"/>
          </a:xfrm>
          <a:prstGeom prst="rect">
            <a:avLst/>
          </a:prstGeom>
        </p:spPr>
      </p:pic>
    </p:spTree>
    <p:extLst>
      <p:ext uri="{BB962C8B-B14F-4D97-AF65-F5344CB8AC3E}">
        <p14:creationId xmlns:p14="http://schemas.microsoft.com/office/powerpoint/2010/main" val="26229684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1137920" y="2433320"/>
            <a:ext cx="10052368" cy="8001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8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pPr>
              <a:lnSpc>
                <a:spcPct val="150000"/>
              </a:lnSpc>
            </a:pPr>
            <a:r>
              <a:rPr lang="en-US" sz="4400" dirty="0" smtClean="0">
                <a:latin typeface="Times New Roman" panose="02020603050405020304" pitchFamily="18" charset="0"/>
                <a:cs typeface="Times New Roman" panose="02020603050405020304" pitchFamily="18" charset="0"/>
              </a:rPr>
              <a:t>IV. DIAGRAMME DE CLASSE</a:t>
            </a:r>
            <a:endParaRPr lang="fr-FR"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595062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68232" y="-150471"/>
            <a:ext cx="6349463" cy="738664"/>
          </a:xfrm>
          <a:prstGeom prst="rect">
            <a:avLst/>
          </a:prstGeom>
        </p:spPr>
        <p:txBody>
          <a:bodyPr wrap="square">
            <a:spAutoFit/>
          </a:bodyPr>
          <a:lstStyle/>
          <a:p>
            <a:pPr>
              <a:lnSpc>
                <a:spcPct val="150000"/>
              </a:lnSpc>
            </a:pPr>
            <a:r>
              <a:rPr lang="en-US" sz="2800" b="1" dirty="0" smtClean="0">
                <a:latin typeface="Times New Roman" panose="02020603050405020304" pitchFamily="18" charset="0"/>
                <a:cs typeface="Times New Roman" panose="02020603050405020304" pitchFamily="18" charset="0"/>
              </a:rPr>
              <a:t>IV. </a:t>
            </a:r>
            <a:r>
              <a:rPr lang="en-US" sz="2800" b="1" dirty="0">
                <a:latin typeface="Times New Roman" panose="02020603050405020304" pitchFamily="18" charset="0"/>
                <a:cs typeface="Times New Roman" panose="02020603050405020304" pitchFamily="18" charset="0"/>
              </a:rPr>
              <a:t>DIAGRAMME </a:t>
            </a:r>
            <a:r>
              <a:rPr lang="en-US" sz="2800" b="1" dirty="0" smtClean="0">
                <a:latin typeface="Times New Roman" panose="02020603050405020304" pitchFamily="18" charset="0"/>
                <a:cs typeface="Times New Roman" panose="02020603050405020304" pitchFamily="18" charset="0"/>
              </a:rPr>
              <a:t>DE CLASSE</a:t>
            </a:r>
            <a:endParaRPr lang="fr-FR" sz="2800" b="1" dirty="0">
              <a:latin typeface="Times New Roman" panose="02020603050405020304" pitchFamily="18" charset="0"/>
              <a:cs typeface="Times New Roman" panose="02020603050405020304" pitchFamily="18" charset="0"/>
            </a:endParaRPr>
          </a:p>
        </p:txBody>
      </p:sp>
      <p:sp>
        <p:nvSpPr>
          <p:cNvPr id="5" name="Rectangle 4"/>
          <p:cNvSpPr/>
          <p:nvPr/>
        </p:nvSpPr>
        <p:spPr>
          <a:xfrm>
            <a:off x="763929" y="1141313"/>
            <a:ext cx="9965802" cy="2169825"/>
          </a:xfrm>
          <a:prstGeom prst="rect">
            <a:avLst/>
          </a:prstGeom>
        </p:spPr>
        <p:txBody>
          <a:bodyPr wrap="square">
            <a:spAutoFit/>
          </a:bodyPr>
          <a:lstStyle/>
          <a:p>
            <a:pPr algn="just">
              <a:lnSpc>
                <a:spcPct val="150000"/>
              </a:lnSpc>
            </a:pPr>
            <a:r>
              <a:rPr lang="fr-FR" dirty="0" smtClean="0"/>
              <a:t>	</a:t>
            </a:r>
            <a:r>
              <a:rPr lang="fr-FR" dirty="0" smtClean="0">
                <a:latin typeface="Times New Roman" panose="02020603050405020304" pitchFamily="18" charset="0"/>
                <a:cs typeface="Times New Roman" panose="02020603050405020304" pitchFamily="18" charset="0"/>
              </a:rPr>
              <a:t>Le </a:t>
            </a:r>
            <a:r>
              <a:rPr lang="fr-FR" b="1" dirty="0">
                <a:latin typeface="Times New Roman" panose="02020603050405020304" pitchFamily="18" charset="0"/>
                <a:cs typeface="Times New Roman" panose="02020603050405020304" pitchFamily="18" charset="0"/>
              </a:rPr>
              <a:t>diagramme de classes</a:t>
            </a:r>
            <a:r>
              <a:rPr lang="fr-FR" dirty="0">
                <a:latin typeface="Times New Roman" panose="02020603050405020304" pitchFamily="18" charset="0"/>
                <a:cs typeface="Times New Roman" panose="02020603050405020304" pitchFamily="18" charset="0"/>
              </a:rPr>
              <a:t> constitue la vue statique du système, définissant la structure interne du </a:t>
            </a:r>
            <a:r>
              <a:rPr lang="fr-FR" b="1" dirty="0" err="1">
                <a:latin typeface="Times New Roman" panose="02020603050405020304" pitchFamily="18" charset="0"/>
                <a:cs typeface="Times New Roman" panose="02020603050405020304" pitchFamily="18" charset="0"/>
              </a:rPr>
              <a:t>Multicore</a:t>
            </a:r>
            <a:r>
              <a:rPr lang="fr-FR" b="1" dirty="0">
                <a:latin typeface="Times New Roman" panose="02020603050405020304" pitchFamily="18" charset="0"/>
                <a:cs typeface="Times New Roman" panose="02020603050405020304" pitchFamily="18" charset="0"/>
              </a:rPr>
              <a:t> Monitor</a:t>
            </a:r>
            <a:r>
              <a:rPr lang="fr-FR" dirty="0">
                <a:latin typeface="Times New Roman" panose="02020603050405020304" pitchFamily="18" charset="0"/>
                <a:cs typeface="Times New Roman" panose="02020603050405020304" pitchFamily="18" charset="0"/>
              </a:rPr>
              <a:t>. Il répertorie les entités logicielles  </a:t>
            </a:r>
            <a:r>
              <a:rPr lang="fr-FR" dirty="0" smtClean="0">
                <a:latin typeface="Times New Roman" panose="02020603050405020304" pitchFamily="18" charset="0"/>
                <a:cs typeface="Times New Roman" panose="02020603050405020304" pitchFamily="18" charset="0"/>
              </a:rPr>
              <a:t>du </a:t>
            </a:r>
            <a:r>
              <a:rPr lang="fr-FR" b="1" dirty="0">
                <a:latin typeface="Times New Roman" panose="02020603050405020304" pitchFamily="18" charset="0"/>
                <a:cs typeface="Times New Roman" panose="02020603050405020304" pitchFamily="18" charset="0"/>
              </a:rPr>
              <a:t>Dashboard</a:t>
            </a:r>
            <a:r>
              <a:rPr lang="fr-FR" dirty="0">
                <a:latin typeface="Times New Roman" panose="02020603050405020304" pitchFamily="18" charset="0"/>
                <a:cs typeface="Times New Roman" panose="02020603050405020304" pitchFamily="18" charset="0"/>
              </a:rPr>
              <a:t> au </a:t>
            </a:r>
            <a:r>
              <a:rPr lang="fr-FR" b="1" dirty="0">
                <a:latin typeface="Times New Roman" panose="02020603050405020304" pitchFamily="18" charset="0"/>
                <a:cs typeface="Times New Roman" panose="02020603050405020304" pitchFamily="18" charset="0"/>
              </a:rPr>
              <a:t>Noyau Linux</a:t>
            </a:r>
            <a:r>
              <a:rPr lang="fr-FR" dirty="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en </a:t>
            </a:r>
            <a:r>
              <a:rPr lang="fr-FR" dirty="0">
                <a:latin typeface="Times New Roman" panose="02020603050405020304" pitchFamily="18" charset="0"/>
                <a:cs typeface="Times New Roman" panose="02020603050405020304" pitchFamily="18" charset="0"/>
              </a:rPr>
              <a:t>précisant leurs attributs techniques et leurs méthodes opérationnelles. Ce diagramme permet d'établir les règles de collaboration et les liens de dépendance entre les modules, garantissant une organisation du code source cohérente avec les objectifs de performance et de modularité fixés lors de l'analyse.</a:t>
            </a:r>
            <a:endParaRPr lang="fr-CM"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18111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70707" y="-99113"/>
            <a:ext cx="10364451" cy="573675"/>
          </a:xfrm>
        </p:spPr>
        <p:txBody>
          <a:bodyPr>
            <a:normAutofit/>
          </a:bodyPr>
          <a:lstStyle/>
          <a:p>
            <a:r>
              <a:rPr lang="fr-CM" sz="2400" b="1" dirty="0" smtClean="0">
                <a:latin typeface="Times New Roman" panose="02020603050405020304" pitchFamily="18" charset="0"/>
                <a:cs typeface="Times New Roman" panose="02020603050405020304" pitchFamily="18" charset="0"/>
              </a:rPr>
              <a:t>QUELQUES NOTION DU DIAGRAMME DE CLASSE</a:t>
            </a:r>
            <a:endParaRPr lang="fr-CM" sz="2400" b="1" dirty="0">
              <a:latin typeface="Times New Roman" panose="02020603050405020304" pitchFamily="18" charset="0"/>
              <a:cs typeface="Times New Roman" panose="02020603050405020304" pitchFamily="18" charset="0"/>
            </a:endParaRPr>
          </a:p>
        </p:txBody>
      </p:sp>
      <p:sp>
        <p:nvSpPr>
          <p:cNvPr id="4" name="Rectangle 1"/>
          <p:cNvSpPr>
            <a:spLocks noChangeArrowheads="1"/>
          </p:cNvSpPr>
          <p:nvPr/>
        </p:nvSpPr>
        <p:spPr bwMode="auto">
          <a:xfrm>
            <a:off x="185196" y="642774"/>
            <a:ext cx="13762298" cy="6324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 La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Classe</a:t>
            </a: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C’est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moule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ou</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modèle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d'un objet.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Dans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votre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projet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Les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Attributs</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sont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données</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Les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Méthodes</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sont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actions que la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classe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peut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réaliser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lireMetriquesBrutes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L'Association</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(Lien simple)</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Il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s'agit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d'une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relation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générale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entre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deux</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classes.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3. La </a:t>
            </a:r>
            <a:r>
              <a:rPr kumimoji="0" lang="en-US" altLang="en-US" sz="16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Multiplicité</a:t>
            </a: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Cardinalité</a:t>
            </a: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sont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chiffres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 0..*, 1..1)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écrits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aux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extrémités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des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lignes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4. La </a:t>
            </a:r>
            <a:r>
              <a:rPr kumimoji="0" lang="en-US" altLang="en-US" sz="16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Dépendance</a:t>
            </a:r>
            <a:endPar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Représentée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par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une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flèche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pointillés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elle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indique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qu'une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classe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besoin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d'une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autre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pour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fonctionner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ponctuellement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sans pour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autant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la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posséder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5. </a:t>
            </a:r>
            <a:r>
              <a:rPr kumimoji="0" lang="en-US" altLang="en-US" sz="16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L'Agrégation</a:t>
            </a:r>
            <a:r>
              <a:rPr kumimoji="0" lang="en-US" alt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et la Composition</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sont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des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formes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fortes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d'association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représentées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par un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losange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L'Agrégation</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Losange</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vide) :</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Une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classe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fait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partie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d'un tout,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mais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peut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exister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ailleurs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La Composition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Losange</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plein</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composant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est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propriété</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du tout. </a:t>
            </a:r>
          </a:p>
        </p:txBody>
      </p:sp>
    </p:spTree>
    <p:extLst>
      <p:ext uri="{BB962C8B-B14F-4D97-AF65-F5344CB8AC3E}">
        <p14:creationId xmlns:p14="http://schemas.microsoft.com/office/powerpoint/2010/main" val="40039811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68232" y="-150471"/>
            <a:ext cx="6349463" cy="738664"/>
          </a:xfrm>
          <a:prstGeom prst="rect">
            <a:avLst/>
          </a:prstGeom>
        </p:spPr>
        <p:txBody>
          <a:bodyPr wrap="square">
            <a:spAutoFit/>
          </a:bodyPr>
          <a:lstStyle/>
          <a:p>
            <a:pPr>
              <a:lnSpc>
                <a:spcPct val="150000"/>
              </a:lnSpc>
            </a:pPr>
            <a:r>
              <a:rPr lang="en-US" sz="2800" b="1" dirty="0" smtClean="0">
                <a:latin typeface="Times New Roman" panose="02020603050405020304" pitchFamily="18" charset="0"/>
                <a:cs typeface="Times New Roman" panose="02020603050405020304" pitchFamily="18" charset="0"/>
              </a:rPr>
              <a:t>IV. DIAGRAMME DE CLASSE</a:t>
            </a:r>
            <a:endParaRPr lang="fr-FR" sz="2800" b="1" dirty="0">
              <a:latin typeface="Times New Roman" panose="02020603050405020304" pitchFamily="18" charset="0"/>
              <a:cs typeface="Times New Roman" panose="02020603050405020304" pitchFamily="18" charset="0"/>
            </a:endParaRPr>
          </a:p>
        </p:txBody>
      </p:sp>
      <p:pic>
        <p:nvPicPr>
          <p:cNvPr id="7" name="Image 6"/>
          <p:cNvPicPr>
            <a:picLocks noChangeAspect="1"/>
          </p:cNvPicPr>
          <p:nvPr/>
        </p:nvPicPr>
        <p:blipFill>
          <a:blip r:embed="rId2"/>
          <a:stretch>
            <a:fillRect/>
          </a:stretch>
        </p:blipFill>
        <p:spPr>
          <a:xfrm>
            <a:off x="1502229" y="1371827"/>
            <a:ext cx="9457508" cy="4767715"/>
          </a:xfrm>
          <a:prstGeom prst="rect">
            <a:avLst/>
          </a:prstGeom>
        </p:spPr>
      </p:pic>
    </p:spTree>
    <p:extLst>
      <p:ext uri="{BB962C8B-B14F-4D97-AF65-F5344CB8AC3E}">
        <p14:creationId xmlns:p14="http://schemas.microsoft.com/office/powerpoint/2010/main" val="1282713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1692130" y="131618"/>
            <a:ext cx="8689976" cy="800100"/>
          </a:xfrm>
          <a:prstGeom prst="rect">
            <a:avLst/>
          </a:prstGeom>
        </p:spPr>
        <p:txBody>
          <a:bodyPr>
            <a:normAutofit/>
          </a:bodyPr>
          <a:lst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r>
              <a:rPr lang="fr-FR" sz="3200" dirty="0" smtClean="0"/>
              <a:t>CONCLUSION</a:t>
            </a:r>
            <a:endParaRPr lang="fr-FR" sz="3200" dirty="0"/>
          </a:p>
        </p:txBody>
      </p:sp>
      <p:sp>
        <p:nvSpPr>
          <p:cNvPr id="3" name="Rectangle 2"/>
          <p:cNvSpPr/>
          <p:nvPr/>
        </p:nvSpPr>
        <p:spPr>
          <a:xfrm>
            <a:off x="489527" y="1009640"/>
            <a:ext cx="10668000" cy="458074"/>
          </a:xfrm>
          <a:prstGeom prst="rect">
            <a:avLst/>
          </a:prstGeom>
        </p:spPr>
        <p:txBody>
          <a:bodyPr wrap="square">
            <a:spAutoFit/>
          </a:bodyPr>
          <a:lstStyle/>
          <a:p>
            <a:pPr algn="just">
              <a:lnSpc>
                <a:spcPct val="150000"/>
              </a:lnSpc>
            </a:pPr>
            <a:r>
              <a:rPr lang="fr-FR" dirty="0" smtClean="0">
                <a:latin typeface="Times New Roman" panose="02020603050405020304" pitchFamily="18" charset="0"/>
                <a:cs typeface="Times New Roman" panose="02020603050405020304" pitchFamily="18" charset="0"/>
              </a:rPr>
              <a:t>	</a:t>
            </a:r>
            <a:endParaRPr lang="fr-CM" dirty="0">
              <a:latin typeface="Times New Roman" panose="02020603050405020304" pitchFamily="18" charset="0"/>
              <a:cs typeface="Times New Roman" panose="02020603050405020304" pitchFamily="18" charset="0"/>
            </a:endParaRPr>
          </a:p>
        </p:txBody>
      </p:sp>
      <p:sp>
        <p:nvSpPr>
          <p:cNvPr id="4" name="Rectangle 3"/>
          <p:cNvSpPr/>
          <p:nvPr/>
        </p:nvSpPr>
        <p:spPr>
          <a:xfrm>
            <a:off x="844952" y="1467714"/>
            <a:ext cx="10312575" cy="2951064"/>
          </a:xfrm>
          <a:prstGeom prst="rect">
            <a:avLst/>
          </a:prstGeom>
        </p:spPr>
        <p:txBody>
          <a:bodyPr wrap="square">
            <a:spAutoFit/>
          </a:bodyPr>
          <a:lstStyle/>
          <a:p>
            <a:pPr algn="just">
              <a:lnSpc>
                <a:spcPct val="150000"/>
              </a:lnSpc>
            </a:pPr>
            <a:r>
              <a:rPr lang="fr-FR" dirty="0" smtClean="0">
                <a:latin typeface="Times New Roman" panose="02020603050405020304" pitchFamily="18" charset="0"/>
                <a:cs typeface="Times New Roman" panose="02020603050405020304" pitchFamily="18" charset="0"/>
              </a:rPr>
              <a:t>	La </a:t>
            </a:r>
            <a:r>
              <a:rPr lang="fr-FR" dirty="0">
                <a:latin typeface="Times New Roman" panose="02020603050405020304" pitchFamily="18" charset="0"/>
                <a:cs typeface="Times New Roman" panose="02020603050405020304" pitchFamily="18" charset="0"/>
              </a:rPr>
              <a:t>phase de conception du </a:t>
            </a:r>
            <a:r>
              <a:rPr lang="fr-FR" b="1" dirty="0" err="1">
                <a:latin typeface="Times New Roman" panose="02020603050405020304" pitchFamily="18" charset="0"/>
                <a:cs typeface="Times New Roman" panose="02020603050405020304" pitchFamily="18" charset="0"/>
              </a:rPr>
              <a:t>Multicore</a:t>
            </a:r>
            <a:r>
              <a:rPr lang="fr-FR" b="1" dirty="0">
                <a:latin typeface="Times New Roman" panose="02020603050405020304" pitchFamily="18" charset="0"/>
                <a:cs typeface="Times New Roman" panose="02020603050405020304" pitchFamily="18" charset="0"/>
              </a:rPr>
              <a:t> Monitor</a:t>
            </a:r>
            <a:r>
              <a:rPr lang="fr-FR" dirty="0">
                <a:latin typeface="Times New Roman" panose="02020603050405020304" pitchFamily="18" charset="0"/>
                <a:cs typeface="Times New Roman" panose="02020603050405020304" pitchFamily="18" charset="0"/>
              </a:rPr>
              <a:t> a permis de traduire les exigences fonctionnelles en une architecture logicielle robuste et modulaire. À travers la modélisation des vues statiques (classes) et dynamiques (séquences), nous avons assuré une séparation claire entre la collecte de données bas-niveau sur </a:t>
            </a:r>
            <a:r>
              <a:rPr lang="fr-FR" dirty="0" err="1">
                <a:latin typeface="Times New Roman" panose="02020603050405020304" pitchFamily="18" charset="0"/>
                <a:cs typeface="Times New Roman" panose="02020603050405020304" pitchFamily="18" charset="0"/>
              </a:rPr>
              <a:t>openSUSE</a:t>
            </a:r>
            <a:r>
              <a:rPr lang="fr-FR" dirty="0">
                <a:latin typeface="Times New Roman" panose="02020603050405020304" pitchFamily="18" charset="0"/>
                <a:cs typeface="Times New Roman" panose="02020603050405020304" pitchFamily="18" charset="0"/>
              </a:rPr>
              <a:t> et l'interface utilisateur en </a:t>
            </a:r>
            <a:r>
              <a:rPr lang="fr-FR" dirty="0" err="1">
                <a:latin typeface="Times New Roman" panose="02020603050405020304" pitchFamily="18" charset="0"/>
                <a:cs typeface="Times New Roman" panose="02020603050405020304" pitchFamily="18" charset="0"/>
              </a:rPr>
              <a:t>Qt</a:t>
            </a:r>
            <a:r>
              <a:rPr lang="fr-FR" dirty="0">
                <a:latin typeface="Times New Roman" panose="02020603050405020304" pitchFamily="18" charset="0"/>
                <a:cs typeface="Times New Roman" panose="02020603050405020304" pitchFamily="18" charset="0"/>
              </a:rPr>
              <a:t>. Cette structure garantit non seulement la réactivité du monitoring en temps réel, mais offre également une grande facilité de maintenance et d'évolution. L'architecture ainsi définie constitue une base solide pour l'étape de développement, permettant une implémentation structurée et conforme aux attentes de performance du système.</a:t>
            </a:r>
          </a:p>
        </p:txBody>
      </p:sp>
    </p:spTree>
    <p:extLst>
      <p:ext uri="{BB962C8B-B14F-4D97-AF65-F5344CB8AC3E}">
        <p14:creationId xmlns:p14="http://schemas.microsoft.com/office/powerpoint/2010/main" val="13729228"/>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Ronds dans l’eau">
  <a:themeElements>
    <a:clrScheme name="Ronds dans l’eau">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Ronds dans l’eau">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onds dans l’eau">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Ronds dans l’eau</Template>
  <TotalTime>6586</TotalTime>
  <Words>520</Words>
  <Application>Microsoft Office PowerPoint</Application>
  <PresentationFormat>Grand écran</PresentationFormat>
  <Paragraphs>92</Paragraphs>
  <Slides>16</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Arial</vt:lpstr>
      <vt:lpstr>Calibri</vt:lpstr>
      <vt:lpstr>Times New Roman</vt:lpstr>
      <vt:lpstr>Tw Cen MT</vt:lpstr>
      <vt:lpstr>Wingdings</vt:lpstr>
      <vt:lpstr>Ronds dans l’eau</vt:lpstr>
      <vt:lpstr>Présentation PowerPoint</vt:lpstr>
      <vt:lpstr>Dossier De conception</vt:lpstr>
      <vt:lpstr>SOMMAIRE </vt:lpstr>
      <vt:lpstr>INTRODUCTION</vt:lpstr>
      <vt:lpstr>I. Contexte ET OBJECTIFS</vt:lpstr>
      <vt:lpstr>Présentation PowerPoint</vt:lpstr>
      <vt:lpstr>II. PERIMETRE FONCTIONNEL</vt:lpstr>
      <vt:lpstr>III. DIAGRAMME DE SEQUENCE</vt:lpstr>
      <vt:lpstr>Présentation PowerPoint</vt:lpstr>
      <vt:lpstr>Présentation PowerPoint</vt:lpstr>
      <vt:lpstr>Présentation PowerPoint</vt:lpstr>
      <vt:lpstr>Présentation PowerPoint</vt:lpstr>
      <vt:lpstr>Présentation PowerPoint</vt:lpstr>
      <vt:lpstr>QUELQUES NOTION DU DIAGRAMME DE CLASSE</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CAHIER DES CHARGES</dc:title>
  <dc:creator>LENOVO USERS</dc:creator>
  <cp:lastModifiedBy>Jason BARDE</cp:lastModifiedBy>
  <cp:revision>92</cp:revision>
  <dcterms:created xsi:type="dcterms:W3CDTF">2025-11-27T05:12:06Z</dcterms:created>
  <dcterms:modified xsi:type="dcterms:W3CDTF">2026-01-24T09:42:23Z</dcterms:modified>
</cp:coreProperties>
</file>