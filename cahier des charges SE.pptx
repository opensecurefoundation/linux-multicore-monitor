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2" r:id="rId1"/>
  </p:sldMasterIdLst>
  <p:sldIdLst>
    <p:sldId id="268" r:id="rId2"/>
    <p:sldId id="256" r:id="rId3"/>
    <p:sldId id="257" r:id="rId4"/>
    <p:sldId id="263" r:id="rId5"/>
    <p:sldId id="269" r:id="rId6"/>
    <p:sldId id="265" r:id="rId7"/>
    <p:sldId id="259" r:id="rId8"/>
    <p:sldId id="260" r:id="rId9"/>
    <p:sldId id="261" r:id="rId10"/>
    <p:sldId id="267" r:id="rId11"/>
    <p:sldId id="262" r:id="rId12"/>
    <p:sldId id="270" r:id="rId13"/>
    <p:sldId id="266" r:id="rId14"/>
    <p:sldId id="272" r:id="rId15"/>
    <p:sldId id="273" r:id="rId16"/>
    <p:sldId id="274" r:id="rId17"/>
    <p:sldId id="275" r:id="rId18"/>
    <p:sldId id="264" r:id="rId19"/>
    <p:sldId id="276"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3" autoAdjust="0"/>
    <p:restoredTop sz="94660"/>
  </p:normalViewPr>
  <p:slideViewPr>
    <p:cSldViewPr snapToGrid="0">
      <p:cViewPr varScale="1">
        <p:scale>
          <a:sx n="63" d="100"/>
          <a:sy n="63" d="100"/>
        </p:scale>
        <p:origin x="81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fr-FR" smtClean="0"/>
              <a:t>Modifiez le style du titre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23/01/2026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690010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23/01/2026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850563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fr-FR" smtClean="0"/>
              <a:t>Modifiez le style du titre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9A2ADD78-B297-491E-B195-029A9672D6CB}" type="datetimeFigureOut">
              <a:rPr lang="fr-FR" smtClean="0"/>
              <a:t>23/01/2026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439696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645845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913795" y="2912232"/>
            <a:ext cx="5107208" cy="287896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172200" y="2912232"/>
            <a:ext cx="5095357" cy="287896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9A2ADD78-B297-491E-B195-029A9672D6CB}" type="datetimeFigureOut">
              <a:rPr lang="fr-FR" smtClean="0"/>
              <a:t>23/01/2026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409840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9A2ADD78-B297-491E-B195-029A9672D6CB}" type="datetimeFigureOut">
              <a:rPr lang="fr-FR" smtClean="0"/>
              <a:t>23/01/2026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908071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2ADD78-B297-491E-B195-029A9672D6CB}" type="datetimeFigureOut">
              <a:rPr lang="fr-FR" smtClean="0"/>
              <a:t>23/01/2026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998036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fr-FR" smtClean="0"/>
              <a:t>Modifiez le style du titre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254675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515135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736223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fr-FR" smtClean="0"/>
              <a:t>Modifiez le style du titre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486332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fr-FR" smtClean="0"/>
              <a:t>Modifiez le style du titre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4108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fr-FR" smtClean="0"/>
              <a:t>Modifiez le style du titre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23/01/2026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000296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fr-FR" smtClean="0"/>
              <a:t>Modifiez le style du titre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3" name="Date Placeholder 2"/>
          <p:cNvSpPr>
            <a:spLocks noGrp="1"/>
          </p:cNvSpPr>
          <p:nvPr>
            <p:ph type="dt" sz="half" idx="10"/>
          </p:nvPr>
        </p:nvSpPr>
        <p:spPr/>
        <p:txBody>
          <a:bodyPr/>
          <a:lstStyle/>
          <a:p>
            <a:fld id="{9A2ADD78-B297-491E-B195-029A9672D6CB}" type="datetimeFigureOut">
              <a:rPr lang="fr-FR" smtClean="0"/>
              <a:t>23/01/2026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281591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fr-FR" smtClean="0"/>
              <a:t>Modifiez le style du titre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3" name="Date Placeholder 2"/>
          <p:cNvSpPr>
            <a:spLocks noGrp="1"/>
          </p:cNvSpPr>
          <p:nvPr>
            <p:ph type="dt" sz="half" idx="10"/>
          </p:nvPr>
        </p:nvSpPr>
        <p:spPr/>
        <p:txBody>
          <a:bodyPr/>
          <a:lstStyle/>
          <a:p>
            <a:fld id="{9A2ADD78-B297-491E-B195-029A9672D6CB}" type="datetimeFigureOut">
              <a:rPr lang="fr-FR" smtClean="0"/>
              <a:t>23/01/2026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3929873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23/01/2026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6710798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fr-FR" smtClean="0"/>
              <a:t>Modifiez le style du titre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23/01/2026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195056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A2ADD78-B297-491E-B195-029A9672D6CB}" type="datetimeFigureOut">
              <a:rPr lang="fr-FR" smtClean="0"/>
              <a:t>23/01/2026</a:t>
            </a:fld>
            <a:endParaRPr lang="fr-FR"/>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74B4EB8-B4D5-4C7A-8C6C-6F7C354B366B}" type="slidenum">
              <a:rPr lang="fr-FR" smtClean="0"/>
              <a:t>‹N°›</a:t>
            </a:fld>
            <a:endParaRPr lang="fr-FR"/>
          </a:p>
        </p:txBody>
      </p:sp>
    </p:spTree>
    <p:extLst>
      <p:ext uri="{BB962C8B-B14F-4D97-AF65-F5344CB8AC3E}">
        <p14:creationId xmlns:p14="http://schemas.microsoft.com/office/powerpoint/2010/main" val="1488904762"/>
      </p:ext>
    </p:extLst>
  </p:cSld>
  <p:clrMap bg1="dk1" tx1="lt1" bg2="dk2" tx2="lt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807720" y="2426375"/>
            <a:ext cx="3540760" cy="3693319"/>
          </a:xfrm>
          <a:prstGeom prst="rect">
            <a:avLst/>
          </a:prstGeom>
          <a:noFill/>
        </p:spPr>
        <p:txBody>
          <a:bodyPr wrap="square" rtlCol="0">
            <a:spAutoFit/>
          </a:bodyPr>
          <a:lstStyle/>
          <a:p>
            <a:endParaRPr lang="fr-CM" dirty="0"/>
          </a:p>
          <a:p>
            <a:endParaRPr lang="fr-CM" dirty="0" smtClean="0"/>
          </a:p>
          <a:p>
            <a:endParaRPr lang="fr-CM" dirty="0" smtClean="0"/>
          </a:p>
          <a:p>
            <a:r>
              <a:rPr lang="fr-CM" dirty="0" smtClean="0">
                <a:latin typeface="Times New Roman" panose="02020603050405020304" pitchFamily="18" charset="0"/>
                <a:cs typeface="Times New Roman" panose="02020603050405020304" pitchFamily="18" charset="0"/>
              </a:rPr>
              <a:t>Rédigé et présenté par:</a:t>
            </a:r>
          </a:p>
          <a:p>
            <a:endParaRPr lang="fr-CM" dirty="0">
              <a:latin typeface="Times New Roman" panose="02020603050405020304" pitchFamily="18" charset="0"/>
              <a:cs typeface="Times New Roman" panose="02020603050405020304" pitchFamily="18" charset="0"/>
            </a:endParaRPr>
          </a:p>
          <a:p>
            <a:pPr>
              <a:lnSpc>
                <a:spcPct val="150000"/>
              </a:lnSpc>
            </a:pPr>
            <a:r>
              <a:rPr lang="fr-CM" b="1" dirty="0" smtClean="0">
                <a:latin typeface="Times New Roman" panose="02020603050405020304" pitchFamily="18" charset="0"/>
                <a:cs typeface="Times New Roman" panose="02020603050405020304" pitchFamily="18" charset="0"/>
              </a:rPr>
              <a:t>BALA ZAM Marc Philippe</a:t>
            </a:r>
          </a:p>
          <a:p>
            <a:pPr>
              <a:lnSpc>
                <a:spcPct val="150000"/>
              </a:lnSpc>
            </a:pPr>
            <a:r>
              <a:rPr lang="fr-CM" b="1" dirty="0" smtClean="0">
                <a:latin typeface="Times New Roman" panose="02020603050405020304" pitchFamily="18" charset="0"/>
                <a:cs typeface="Times New Roman" panose="02020603050405020304" pitchFamily="18" charset="0"/>
              </a:rPr>
              <a:t>BARDE </a:t>
            </a:r>
            <a:r>
              <a:rPr lang="fr-CM" b="1" dirty="0" err="1" smtClean="0">
                <a:latin typeface="Times New Roman" panose="02020603050405020304" pitchFamily="18" charset="0"/>
                <a:cs typeface="Times New Roman" panose="02020603050405020304" pitchFamily="18" charset="0"/>
              </a:rPr>
              <a:t>BARDE</a:t>
            </a:r>
            <a:r>
              <a:rPr lang="fr-CM" b="1" dirty="0" smtClean="0">
                <a:latin typeface="Times New Roman" panose="02020603050405020304" pitchFamily="18" charset="0"/>
                <a:cs typeface="Times New Roman" panose="02020603050405020304" pitchFamily="18" charset="0"/>
              </a:rPr>
              <a:t> </a:t>
            </a:r>
            <a:r>
              <a:rPr lang="fr-CM" b="1" dirty="0" err="1" smtClean="0">
                <a:latin typeface="Times New Roman" panose="02020603050405020304" pitchFamily="18" charset="0"/>
                <a:cs typeface="Times New Roman" panose="02020603050405020304" pitchFamily="18" charset="0"/>
              </a:rPr>
              <a:t>Bebeto</a:t>
            </a:r>
            <a:r>
              <a:rPr lang="fr-CM" b="1" dirty="0" smtClean="0">
                <a:latin typeface="Times New Roman" panose="02020603050405020304" pitchFamily="18" charset="0"/>
                <a:cs typeface="Times New Roman" panose="02020603050405020304" pitchFamily="18" charset="0"/>
              </a:rPr>
              <a:t>  Jason</a:t>
            </a:r>
          </a:p>
          <a:p>
            <a:endParaRPr lang="fr-CM" dirty="0"/>
          </a:p>
          <a:p>
            <a:endParaRPr lang="fr-CM" dirty="0" smtClean="0">
              <a:latin typeface="Times New Roman" panose="02020603050405020304" pitchFamily="18" charset="0"/>
              <a:cs typeface="Times New Roman" panose="02020603050405020304" pitchFamily="18" charset="0"/>
            </a:endParaRPr>
          </a:p>
          <a:p>
            <a:r>
              <a:rPr lang="fr-CM" dirty="0" smtClean="0">
                <a:latin typeface="Times New Roman" panose="02020603050405020304" pitchFamily="18" charset="0"/>
                <a:cs typeface="Times New Roman" panose="02020603050405020304" pitchFamily="18" charset="0"/>
              </a:rPr>
              <a:t>Étudiants en M1 SSI</a:t>
            </a:r>
          </a:p>
          <a:p>
            <a:endParaRPr lang="fr-CM" dirty="0" smtClean="0"/>
          </a:p>
          <a:p>
            <a:endParaRPr lang="fr-CM" dirty="0" smtClean="0"/>
          </a:p>
        </p:txBody>
      </p:sp>
      <p:sp>
        <p:nvSpPr>
          <p:cNvPr id="3" name="ZoneTexte 2"/>
          <p:cNvSpPr txBox="1"/>
          <p:nvPr/>
        </p:nvSpPr>
        <p:spPr>
          <a:xfrm>
            <a:off x="6776720" y="4891534"/>
            <a:ext cx="5567680" cy="369332"/>
          </a:xfrm>
          <a:prstGeom prst="rect">
            <a:avLst/>
          </a:prstGeom>
          <a:noFill/>
        </p:spPr>
        <p:txBody>
          <a:bodyPr wrap="square" rtlCol="0">
            <a:spAutoFit/>
          </a:bodyPr>
          <a:lstStyle/>
          <a:p>
            <a:r>
              <a:rPr lang="fr-FR" b="1" dirty="0">
                <a:latin typeface="Times New Roman" panose="02020603050405020304" pitchFamily="18" charset="0"/>
                <a:cs typeface="Times New Roman" panose="02020603050405020304" pitchFamily="18" charset="0"/>
              </a:rPr>
              <a:t>Sous la supervision de : </a:t>
            </a:r>
            <a:r>
              <a:rPr lang="fr-FR" b="1" dirty="0" smtClean="0">
                <a:latin typeface="Times New Roman" panose="02020603050405020304" pitchFamily="18" charset="0"/>
                <a:cs typeface="Times New Roman" panose="02020603050405020304" pitchFamily="18" charset="0"/>
              </a:rPr>
              <a:t>M. NGUIMBUS Emmanuel</a:t>
            </a:r>
            <a:endParaRPr lang="en-US" b="1"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4257040" y="66706"/>
            <a:ext cx="3474720" cy="584775"/>
          </a:xfrm>
          <a:prstGeom prst="rect">
            <a:avLst/>
          </a:prstGeom>
          <a:noFill/>
        </p:spPr>
        <p:txBody>
          <a:bodyPr wrap="square" rtlCol="0">
            <a:spAutoFit/>
          </a:bodyPr>
          <a:lstStyle/>
          <a:p>
            <a:pPr algn="ctr"/>
            <a:r>
              <a:rPr lang="fr-CM" sz="3200" b="1" u="sng" dirty="0" smtClean="0">
                <a:latin typeface="Times New Roman" panose="02020603050405020304" pitchFamily="18" charset="0"/>
                <a:cs typeface="Times New Roman" panose="02020603050405020304" pitchFamily="18" charset="0"/>
              </a:rPr>
              <a:t>THÈME</a:t>
            </a:r>
            <a:endParaRPr lang="en-US" sz="3200" b="1" u="sng" dirty="0">
              <a:latin typeface="Times New Roman" panose="02020603050405020304" pitchFamily="18" charset="0"/>
              <a:cs typeface="Times New Roman" panose="02020603050405020304" pitchFamily="18" charset="0"/>
            </a:endParaRPr>
          </a:p>
        </p:txBody>
      </p:sp>
      <p:sp>
        <p:nvSpPr>
          <p:cNvPr id="7" name="Parchemin horizontal 6"/>
          <p:cNvSpPr/>
          <p:nvPr/>
        </p:nvSpPr>
        <p:spPr>
          <a:xfrm>
            <a:off x="1625600" y="743844"/>
            <a:ext cx="9123680" cy="2283836"/>
          </a:xfrm>
          <a:prstGeom prst="horizontalScroll">
            <a:avLst/>
          </a:prstGeom>
          <a:solidFill>
            <a:schemeClr val="accent3">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fr-CM" sz="2000" b="1" dirty="0" smtClean="0">
                <a:latin typeface="Times New Roman" panose="02020603050405020304" pitchFamily="18" charset="0"/>
                <a:cs typeface="Times New Roman" panose="02020603050405020304" pitchFamily="18" charset="0"/>
              </a:rPr>
              <a:t>CONCEPTION  </a:t>
            </a:r>
            <a:r>
              <a:rPr lang="fr-CM" sz="2000" b="1" dirty="0">
                <a:latin typeface="Times New Roman" panose="02020603050405020304" pitchFamily="18" charset="0"/>
                <a:cs typeface="Times New Roman" panose="02020603050405020304" pitchFamily="18" charset="0"/>
              </a:rPr>
              <a:t>ET MISE EN ŒUVRE MULTICORE </a:t>
            </a:r>
            <a:r>
              <a:rPr lang="fr-CM" sz="2000" b="1" dirty="0" smtClean="0">
                <a:latin typeface="Times New Roman" panose="02020603050405020304" pitchFamily="18" charset="0"/>
                <a:cs typeface="Times New Roman" panose="02020603050405020304" pitchFamily="18" charset="0"/>
              </a:rPr>
              <a:t>MONITOR </a:t>
            </a:r>
            <a:r>
              <a:rPr lang="fr-CM" sz="2000" b="1" dirty="0">
                <a:latin typeface="Times New Roman" panose="02020603050405020304" pitchFamily="18" charset="0"/>
                <a:cs typeface="Times New Roman" panose="02020603050405020304" pitchFamily="18" charset="0"/>
              </a:rPr>
              <a:t>, UN MONITEUR EN TEMPS </a:t>
            </a:r>
            <a:r>
              <a:rPr lang="fr-CM" sz="2000" b="1" dirty="0" smtClean="0">
                <a:latin typeface="Times New Roman" panose="02020603050405020304" pitchFamily="18" charset="0"/>
                <a:cs typeface="Times New Roman" panose="02020603050405020304" pitchFamily="18" charset="0"/>
              </a:rPr>
              <a:t>RÉEL  </a:t>
            </a:r>
            <a:r>
              <a:rPr lang="fr-CM" sz="2000" b="1" dirty="0">
                <a:latin typeface="Times New Roman" panose="02020603050405020304" pitchFamily="18" charset="0"/>
                <a:cs typeface="Times New Roman" panose="02020603050405020304" pitchFamily="18" charset="0"/>
              </a:rPr>
              <a:t>DE PERFORMANCE MULTIPROCESSEUR : cas de Linux </a:t>
            </a:r>
            <a:r>
              <a:rPr lang="fr-CM" sz="2000" b="1" dirty="0" err="1">
                <a:latin typeface="Times New Roman" panose="02020603050405020304" pitchFamily="18" charset="0"/>
                <a:cs typeface="Times New Roman" panose="02020603050405020304" pitchFamily="18" charset="0"/>
              </a:rPr>
              <a:t>OpenSUSE</a:t>
            </a:r>
            <a:r>
              <a:rPr lang="fr-CM" sz="2000" b="1" dirty="0">
                <a:latin typeface="Times New Roman" panose="02020603050405020304" pitchFamily="18" charset="0"/>
                <a:cs typeface="Times New Roman" panose="02020603050405020304" pitchFamily="18" charset="0"/>
              </a:rPr>
              <a:t>.</a:t>
            </a:r>
          </a:p>
        </p:txBody>
      </p:sp>
      <p:sp>
        <p:nvSpPr>
          <p:cNvPr id="9" name="Ruban courbé vers le bas 8"/>
          <p:cNvSpPr/>
          <p:nvPr/>
        </p:nvSpPr>
        <p:spPr>
          <a:xfrm>
            <a:off x="2260600" y="5841818"/>
            <a:ext cx="7853680" cy="758952"/>
          </a:xfrm>
          <a:prstGeom prst="ellipseRibbon">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ANNÉE ACADEMIQUE: 2025-2026 </a:t>
            </a:r>
          </a:p>
        </p:txBody>
      </p:sp>
    </p:spTree>
    <p:extLst>
      <p:ext uri="{BB962C8B-B14F-4D97-AF65-F5344CB8AC3E}">
        <p14:creationId xmlns:p14="http://schemas.microsoft.com/office/powerpoint/2010/main" val="7785395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839912" y="2717800"/>
            <a:ext cx="8689976" cy="800100"/>
          </a:xfrm>
        </p:spPr>
        <p:txBody>
          <a:bodyPr>
            <a:normAutofit/>
          </a:bodyPr>
          <a:lstStyle/>
          <a:p>
            <a:r>
              <a:rPr lang="fr-FR" dirty="0" smtClean="0"/>
              <a:t>CAHIER DES CHARGES</a:t>
            </a:r>
            <a:endParaRPr lang="fr-FR" dirty="0"/>
          </a:p>
        </p:txBody>
      </p:sp>
    </p:spTree>
    <p:extLst>
      <p:ext uri="{BB962C8B-B14F-4D97-AF65-F5344CB8AC3E}">
        <p14:creationId xmlns:p14="http://schemas.microsoft.com/office/powerpoint/2010/main" val="23912083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1235" y="0"/>
            <a:ext cx="10353761" cy="711200"/>
          </a:xfrm>
        </p:spPr>
        <p:txBody>
          <a:bodyPr>
            <a:noAutofit/>
          </a:bodyPr>
          <a:lstStyle/>
          <a:p>
            <a:r>
              <a:rPr lang="en-US" sz="4800" u="sng" dirty="0" smtClean="0"/>
              <a:t>SOMMAIRE</a:t>
            </a:r>
            <a:r>
              <a:rPr lang="en-US" sz="4800" dirty="0" smtClean="0"/>
              <a:t> </a:t>
            </a:r>
            <a:endParaRPr lang="fr-FR" sz="4800" dirty="0"/>
          </a:p>
        </p:txBody>
      </p:sp>
      <p:sp>
        <p:nvSpPr>
          <p:cNvPr id="5" name="ZoneTexte 4"/>
          <p:cNvSpPr txBox="1"/>
          <p:nvPr/>
        </p:nvSpPr>
        <p:spPr>
          <a:xfrm>
            <a:off x="169536" y="980440"/>
            <a:ext cx="6373504" cy="5632311"/>
          </a:xfrm>
          <a:prstGeom prst="rect">
            <a:avLst/>
          </a:prstGeom>
          <a:noFill/>
        </p:spPr>
        <p:txBody>
          <a:bodyPr wrap="square" rtlCol="0">
            <a:spAutoFit/>
          </a:bodyPr>
          <a:lstStyle/>
          <a:p>
            <a:pPr algn="just">
              <a:lnSpc>
                <a:spcPct val="150000"/>
              </a:lnSpc>
            </a:pPr>
            <a:r>
              <a:rPr lang="en-US" sz="2000" b="1" dirty="0" smtClean="0">
                <a:latin typeface="Times New Roman" panose="02020603050405020304" pitchFamily="18" charset="0"/>
                <a:cs typeface="Times New Roman" panose="02020603050405020304" pitchFamily="18" charset="0"/>
              </a:rPr>
              <a:t>INTRODUCTION</a:t>
            </a:r>
          </a:p>
          <a:p>
            <a:pPr algn="just">
              <a:lnSpc>
                <a:spcPct val="150000"/>
              </a:lnSpc>
            </a:pPr>
            <a:r>
              <a:rPr lang="en-US" sz="2000" b="1" dirty="0" smtClean="0">
                <a:latin typeface="Times New Roman" panose="02020603050405020304" pitchFamily="18" charset="0"/>
                <a:cs typeface="Times New Roman" panose="02020603050405020304" pitchFamily="18" charset="0"/>
              </a:rPr>
              <a:t>I. Contexte </a:t>
            </a:r>
          </a:p>
          <a:p>
            <a:pPr algn="just">
              <a:lnSpc>
                <a:spcPct val="150000"/>
              </a:lnSpc>
            </a:pPr>
            <a:r>
              <a:rPr lang="en-US" sz="2000" b="1" dirty="0" smtClean="0">
                <a:latin typeface="Times New Roman" panose="02020603050405020304" pitchFamily="18" charset="0"/>
                <a:cs typeface="Times New Roman" panose="02020603050405020304" pitchFamily="18" charset="0"/>
              </a:rPr>
              <a:t>II. </a:t>
            </a:r>
            <a:r>
              <a:rPr lang="fr-FR" sz="2000" b="1" dirty="0" smtClean="0">
                <a:latin typeface="Times New Roman" panose="02020603050405020304" pitchFamily="18" charset="0"/>
                <a:cs typeface="Times New Roman" panose="02020603050405020304" pitchFamily="18" charset="0"/>
              </a:rPr>
              <a:t>Objectifs</a:t>
            </a:r>
          </a:p>
          <a:p>
            <a:pPr algn="just">
              <a:lnSpc>
                <a:spcPct val="150000"/>
              </a:lnSpc>
            </a:pPr>
            <a:r>
              <a:rPr lang="fr-CM" sz="2000" b="1" dirty="0" smtClean="0">
                <a:latin typeface="Times New Roman" panose="02020603050405020304" pitchFamily="18" charset="0"/>
                <a:cs typeface="Times New Roman" panose="02020603050405020304" pitchFamily="18" charset="0"/>
              </a:rPr>
              <a:t>	1. Objectif Général</a:t>
            </a:r>
          </a:p>
          <a:p>
            <a:pPr algn="just">
              <a:lnSpc>
                <a:spcPct val="150000"/>
              </a:lnSpc>
            </a:pPr>
            <a:r>
              <a:rPr lang="fr-CM" sz="2000" b="1" dirty="0">
                <a:latin typeface="Times New Roman" panose="02020603050405020304" pitchFamily="18" charset="0"/>
                <a:cs typeface="Times New Roman" panose="02020603050405020304" pitchFamily="18" charset="0"/>
              </a:rPr>
              <a:t>	</a:t>
            </a:r>
            <a:r>
              <a:rPr lang="fr-CM" sz="2000" b="1" dirty="0" smtClean="0">
                <a:latin typeface="Times New Roman" panose="02020603050405020304" pitchFamily="18" charset="0"/>
                <a:cs typeface="Times New Roman" panose="02020603050405020304" pitchFamily="18" charset="0"/>
              </a:rPr>
              <a:t>2. Objectifs Spécifiques</a:t>
            </a:r>
            <a:endParaRPr lang="en-US" sz="2000" b="1" dirty="0" smtClean="0">
              <a:latin typeface="Times New Roman" panose="02020603050405020304" pitchFamily="18" charset="0"/>
              <a:cs typeface="Times New Roman" panose="02020603050405020304" pitchFamily="18" charset="0"/>
            </a:endParaRPr>
          </a:p>
          <a:p>
            <a:pPr algn="just">
              <a:lnSpc>
                <a:spcPct val="150000"/>
              </a:lnSpc>
            </a:pPr>
            <a:r>
              <a:rPr lang="en-US" sz="2000" b="1" dirty="0" smtClean="0">
                <a:latin typeface="Times New Roman" panose="02020603050405020304" pitchFamily="18" charset="0"/>
                <a:cs typeface="Times New Roman" panose="02020603050405020304" pitchFamily="18" charset="0"/>
              </a:rPr>
              <a:t>III. Expression des </a:t>
            </a:r>
            <a:r>
              <a:rPr lang="en-US" sz="2000" b="1" dirty="0" err="1" smtClean="0">
                <a:latin typeface="Times New Roman" panose="02020603050405020304" pitchFamily="18" charset="0"/>
                <a:cs typeface="Times New Roman" panose="02020603050405020304" pitchFamily="18" charset="0"/>
              </a:rPr>
              <a:t>Besoins</a:t>
            </a:r>
            <a:r>
              <a:rPr lang="en-US" sz="2000" b="1"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Utilisateurs</a:t>
            </a:r>
            <a:endParaRPr lang="en-US" sz="2000" b="1" dirty="0" smtClean="0">
              <a:latin typeface="Times New Roman" panose="02020603050405020304" pitchFamily="18" charset="0"/>
              <a:cs typeface="Times New Roman" panose="02020603050405020304" pitchFamily="18" charset="0"/>
            </a:endParaRPr>
          </a:p>
          <a:p>
            <a:pPr algn="just">
              <a:lnSpc>
                <a:spcPct val="150000"/>
              </a:lnSpc>
            </a:pPr>
            <a:r>
              <a:rPr lang="fr-CM" sz="2000" b="1" dirty="0" smtClean="0">
                <a:latin typeface="Times New Roman" panose="02020603050405020304" pitchFamily="18" charset="0"/>
                <a:cs typeface="Times New Roman" panose="02020603050405020304" pitchFamily="18" charset="0"/>
              </a:rPr>
              <a:t>	1. Besoins Fonctionnels</a:t>
            </a:r>
          </a:p>
          <a:p>
            <a:pPr algn="just">
              <a:lnSpc>
                <a:spcPct val="150000"/>
              </a:lnSpc>
            </a:pPr>
            <a:r>
              <a:rPr lang="fr-CM" sz="2000" b="1" dirty="0" smtClean="0">
                <a:latin typeface="Times New Roman" panose="02020603050405020304" pitchFamily="18" charset="0"/>
                <a:cs typeface="Times New Roman" panose="02020603050405020304" pitchFamily="18" charset="0"/>
              </a:rPr>
              <a:t>	2. Besoins </a:t>
            </a:r>
            <a:r>
              <a:rPr lang="fr-CM" sz="2000" b="1" dirty="0">
                <a:latin typeface="Times New Roman" panose="02020603050405020304" pitchFamily="18" charset="0"/>
                <a:cs typeface="Times New Roman" panose="02020603050405020304" pitchFamily="18" charset="0"/>
              </a:rPr>
              <a:t>N</a:t>
            </a:r>
            <a:r>
              <a:rPr lang="fr-CM" sz="2000" b="1" dirty="0" smtClean="0">
                <a:latin typeface="Times New Roman" panose="02020603050405020304" pitchFamily="18" charset="0"/>
                <a:cs typeface="Times New Roman" panose="02020603050405020304" pitchFamily="18" charset="0"/>
              </a:rPr>
              <a:t>on Fonctionnels</a:t>
            </a:r>
          </a:p>
          <a:p>
            <a:pPr algn="just">
              <a:lnSpc>
                <a:spcPct val="150000"/>
              </a:lnSpc>
            </a:pPr>
            <a:r>
              <a:rPr lang="en-US" sz="2000" b="1" dirty="0" smtClean="0">
                <a:latin typeface="Times New Roman" panose="02020603050405020304" pitchFamily="18" charset="0"/>
                <a:cs typeface="Times New Roman" panose="02020603050405020304" pitchFamily="18" charset="0"/>
              </a:rPr>
              <a:t>IV. Planification du </a:t>
            </a:r>
            <a:r>
              <a:rPr lang="en-US" sz="2000" b="1" dirty="0" err="1" smtClean="0">
                <a:latin typeface="Times New Roman" panose="02020603050405020304" pitchFamily="18" charset="0"/>
                <a:cs typeface="Times New Roman" panose="02020603050405020304" pitchFamily="18" charset="0"/>
              </a:rPr>
              <a:t>projet</a:t>
            </a:r>
            <a:endParaRPr lang="en-US" sz="2000" b="1" dirty="0" smtClean="0">
              <a:latin typeface="Times New Roman" panose="02020603050405020304" pitchFamily="18" charset="0"/>
              <a:cs typeface="Times New Roman" panose="02020603050405020304" pitchFamily="18" charset="0"/>
            </a:endParaRPr>
          </a:p>
          <a:p>
            <a:pPr algn="just">
              <a:lnSpc>
                <a:spcPct val="150000"/>
              </a:lnSpc>
            </a:pPr>
            <a:r>
              <a:rPr lang="en-US" sz="2000" b="1" dirty="0" smtClean="0">
                <a:latin typeface="Times New Roman" panose="02020603050405020304" pitchFamily="18" charset="0"/>
                <a:cs typeface="Times New Roman" panose="02020603050405020304" pitchFamily="18" charset="0"/>
              </a:rPr>
              <a:t>	1. </a:t>
            </a:r>
            <a:r>
              <a:rPr lang="en-US" sz="2000" b="1" dirty="0" err="1" smtClean="0">
                <a:latin typeface="Times New Roman" panose="02020603050405020304" pitchFamily="18" charset="0"/>
                <a:cs typeface="Times New Roman" panose="02020603050405020304" pitchFamily="18" charset="0"/>
              </a:rPr>
              <a:t>Diagramme</a:t>
            </a:r>
            <a:r>
              <a:rPr lang="en-US" sz="2000" b="1" dirty="0" smtClean="0">
                <a:latin typeface="Times New Roman" panose="02020603050405020304" pitchFamily="18" charset="0"/>
                <a:cs typeface="Times New Roman" panose="02020603050405020304" pitchFamily="18" charset="0"/>
              </a:rPr>
              <a:t> de GANTT</a:t>
            </a:r>
          </a:p>
          <a:p>
            <a:pPr algn="just">
              <a:lnSpc>
                <a:spcPct val="150000"/>
              </a:lnSpc>
            </a:pPr>
            <a:endParaRPr lang="en-US" sz="2000" b="1" dirty="0">
              <a:latin typeface="Times New Roman" panose="02020603050405020304" pitchFamily="18" charset="0"/>
              <a:cs typeface="Times New Roman" panose="02020603050405020304" pitchFamily="18" charset="0"/>
            </a:endParaRPr>
          </a:p>
          <a:p>
            <a:pPr algn="just">
              <a:lnSpc>
                <a:spcPct val="150000"/>
              </a:lnSpc>
            </a:pPr>
            <a:endParaRPr lang="en-US" sz="2000" b="1" dirty="0" smtClean="0">
              <a:latin typeface="Times New Roman" panose="02020603050405020304" pitchFamily="18" charset="0"/>
              <a:cs typeface="Times New Roman" panose="02020603050405020304" pitchFamily="18" charset="0"/>
            </a:endParaRPr>
          </a:p>
        </p:txBody>
      </p:sp>
      <p:sp>
        <p:nvSpPr>
          <p:cNvPr id="3" name="ZoneTexte 2"/>
          <p:cNvSpPr txBox="1"/>
          <p:nvPr/>
        </p:nvSpPr>
        <p:spPr>
          <a:xfrm>
            <a:off x="7985760" y="980440"/>
            <a:ext cx="5100436" cy="2862322"/>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V. Estimation du Coût</a:t>
            </a:r>
            <a:r>
              <a:rPr lang="fr-FR"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du </a:t>
            </a:r>
            <a:r>
              <a:rPr lang="en-US" sz="2000" b="1" dirty="0" err="1">
                <a:latin typeface="Times New Roman" panose="02020603050405020304" pitchFamily="18" charset="0"/>
                <a:cs typeface="Times New Roman" panose="02020603050405020304" pitchFamily="18" charset="0"/>
              </a:rPr>
              <a:t>projet</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	1.Ressources </a:t>
            </a:r>
            <a:r>
              <a:rPr lang="en-US" sz="2000" b="1" dirty="0" err="1">
                <a:latin typeface="Times New Roman" panose="02020603050405020304" pitchFamily="18" charset="0"/>
                <a:cs typeface="Times New Roman" panose="02020603050405020304" pitchFamily="18" charset="0"/>
              </a:rPr>
              <a:t>Matérielles</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	2.Ressources </a:t>
            </a:r>
            <a:r>
              <a:rPr lang="en-US" sz="2000" b="1" dirty="0" err="1" smtClean="0">
                <a:latin typeface="Times New Roman" panose="02020603050405020304" pitchFamily="18" charset="0"/>
                <a:cs typeface="Times New Roman" panose="02020603050405020304" pitchFamily="18" charset="0"/>
              </a:rPr>
              <a:t>Logicielles</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3. </a:t>
            </a:r>
            <a:r>
              <a:rPr lang="en-US" sz="2000" b="1" dirty="0" err="1">
                <a:latin typeface="Times New Roman" panose="02020603050405020304" pitchFamily="18" charset="0"/>
                <a:cs typeface="Times New Roman" panose="02020603050405020304" pitchFamily="18" charset="0"/>
              </a:rPr>
              <a:t>Ressources</a:t>
            </a:r>
            <a:r>
              <a:rPr lang="en-US" sz="2000" b="1" dirty="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Humaines</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smtClean="0">
                <a:latin typeface="Times New Roman" panose="02020603050405020304" pitchFamily="18" charset="0"/>
                <a:cs typeface="Times New Roman" panose="02020603050405020304" pitchFamily="18" charset="0"/>
              </a:rPr>
              <a:t>VI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Livrables</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CONCLUSION </a:t>
            </a:r>
          </a:p>
        </p:txBody>
      </p:sp>
    </p:spTree>
    <p:extLst>
      <p:ext uri="{BB962C8B-B14F-4D97-AF65-F5344CB8AC3E}">
        <p14:creationId xmlns:p14="http://schemas.microsoft.com/office/powerpoint/2010/main" val="102108674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0" end="0"/>
                                            </p:txEl>
                                          </p:spTgt>
                                        </p:tgtEl>
                                        <p:attrNameLst>
                                          <p:attrName>style.visibility</p:attrName>
                                        </p:attrNameLst>
                                      </p:cBhvr>
                                      <p:to>
                                        <p:strVal val="visible"/>
                                      </p:to>
                                    </p:set>
                                    <p:anim calcmode="lin" valueType="num">
                                      <p:cBhvr additive="base">
                                        <p:cTn id="6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 end="1"/>
                                            </p:txEl>
                                          </p:spTgt>
                                        </p:tgtEl>
                                        <p:attrNameLst>
                                          <p:attrName>style.visibility</p:attrName>
                                        </p:attrNameLst>
                                      </p:cBhvr>
                                      <p:to>
                                        <p:strVal val="visible"/>
                                      </p:to>
                                    </p:set>
                                    <p:anim calcmode="lin" valueType="num">
                                      <p:cBhvr additive="base">
                                        <p:cTn id="7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3">
                                            <p:txEl>
                                              <p:pRg st="2" end="2"/>
                                            </p:txEl>
                                          </p:spTgt>
                                        </p:tgtEl>
                                        <p:attrNameLst>
                                          <p:attrName>style.visibility</p:attrName>
                                        </p:attrNameLst>
                                      </p:cBhvr>
                                      <p:to>
                                        <p:strVal val="visible"/>
                                      </p:to>
                                    </p:set>
                                    <p:anim calcmode="lin" valueType="num">
                                      <p:cBhvr additive="base">
                                        <p:cTn id="7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3">
                                            <p:txEl>
                                              <p:pRg st="3" end="3"/>
                                            </p:txEl>
                                          </p:spTgt>
                                        </p:tgtEl>
                                        <p:attrNameLst>
                                          <p:attrName>style.visibility</p:attrName>
                                        </p:attrNameLst>
                                      </p:cBhvr>
                                      <p:to>
                                        <p:strVal val="visible"/>
                                      </p:to>
                                    </p:set>
                                    <p:anim calcmode="lin" valueType="num">
                                      <p:cBhvr additive="base">
                                        <p:cTn id="8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3">
                                            <p:txEl>
                                              <p:pRg st="4" end="4"/>
                                            </p:txEl>
                                          </p:spTgt>
                                        </p:tgtEl>
                                        <p:attrNameLst>
                                          <p:attrName>style.visibility</p:attrName>
                                        </p:attrNameLst>
                                      </p:cBhvr>
                                      <p:to>
                                        <p:strVal val="visible"/>
                                      </p:to>
                                    </p:set>
                                    <p:anim calcmode="lin" valueType="num">
                                      <p:cBhvr additive="base">
                                        <p:cTn id="8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3">
                                            <p:txEl>
                                              <p:pRg st="5" end="5"/>
                                            </p:txEl>
                                          </p:spTgt>
                                        </p:tgtEl>
                                        <p:attrNameLst>
                                          <p:attrName>style.visibility</p:attrName>
                                        </p:attrNameLst>
                                      </p:cBhvr>
                                      <p:to>
                                        <p:strVal val="visible"/>
                                      </p:to>
                                    </p:set>
                                    <p:anim calcmode="lin" valueType="num">
                                      <p:cBhvr additive="base">
                                        <p:cTn id="9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839912" y="2717800"/>
            <a:ext cx="8689976" cy="800100"/>
          </a:xfrm>
        </p:spPr>
        <p:txBody>
          <a:bodyPr>
            <a:normAutofit/>
          </a:bodyPr>
          <a:lstStyle/>
          <a:p>
            <a:r>
              <a:rPr lang="en-US" dirty="0" smtClean="0"/>
              <a:t>INTRODUCTION</a:t>
            </a:r>
            <a:endParaRPr lang="fr-FR" dirty="0"/>
          </a:p>
        </p:txBody>
      </p:sp>
    </p:spTree>
    <p:extLst>
      <p:ext uri="{BB962C8B-B14F-4D97-AF65-F5344CB8AC3E}">
        <p14:creationId xmlns:p14="http://schemas.microsoft.com/office/powerpoint/2010/main" val="3792547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680" y="959510"/>
            <a:ext cx="6939280" cy="1338828"/>
          </a:xfrm>
          <a:prstGeom prst="rect">
            <a:avLst/>
          </a:prstGeom>
        </p:spPr>
        <p:txBody>
          <a:bodyPr wrap="square">
            <a:spAutoFit/>
          </a:bodyPr>
          <a:lstStyle/>
          <a:p>
            <a:pPr>
              <a:lnSpc>
                <a:spcPct val="150000"/>
              </a:lnSpc>
            </a:pPr>
            <a:r>
              <a:rPr lang="fr-FR" b="1" dirty="0">
                <a:latin typeface="Times New Roman" panose="02020603050405020304" pitchFamily="18" charset="0"/>
                <a:cs typeface="Times New Roman" panose="02020603050405020304" pitchFamily="18" charset="0"/>
              </a:rPr>
              <a:t>1. </a:t>
            </a:r>
            <a:r>
              <a:rPr lang="fr-FR" b="1" u="sng" dirty="0" err="1">
                <a:latin typeface="Times New Roman" panose="02020603050405020304" pitchFamily="18" charset="0"/>
                <a:cs typeface="Times New Roman" panose="02020603050405020304" pitchFamily="18" charset="0"/>
              </a:rPr>
              <a:t>MultiCore</a:t>
            </a:r>
            <a:endParaRPr lang="fr-FR" b="1" u="sng" dirty="0">
              <a:latin typeface="Times New Roman" panose="02020603050405020304" pitchFamily="18" charset="0"/>
              <a:cs typeface="Times New Roman" panose="02020603050405020304" pitchFamily="18" charset="0"/>
            </a:endParaRPr>
          </a:p>
          <a:p>
            <a:pPr>
              <a:lnSpc>
                <a:spcPct val="150000"/>
              </a:lnSpc>
            </a:pPr>
            <a:r>
              <a:rPr lang="fr-FR" dirty="0" smtClean="0">
                <a:latin typeface="Times New Roman" panose="02020603050405020304" pitchFamily="18" charset="0"/>
                <a:cs typeface="Times New Roman" panose="02020603050405020304" pitchFamily="18" charset="0"/>
              </a:rPr>
              <a:t>Architecture </a:t>
            </a:r>
            <a:r>
              <a:rPr lang="fr-FR" dirty="0">
                <a:latin typeface="Times New Roman" panose="02020603050405020304" pitchFamily="18" charset="0"/>
                <a:cs typeface="Times New Roman" panose="02020603050405020304" pitchFamily="18" charset="0"/>
              </a:rPr>
              <a:t>de processeur utilisant </a:t>
            </a:r>
            <a:r>
              <a:rPr lang="fr-FR" b="1" dirty="0">
                <a:latin typeface="Times New Roman" panose="02020603050405020304" pitchFamily="18" charset="0"/>
                <a:cs typeface="Times New Roman" panose="02020603050405020304" pitchFamily="18" charset="0"/>
              </a:rPr>
              <a:t>plusieurs cœurs</a:t>
            </a:r>
            <a:r>
              <a:rPr lang="fr-FR" dirty="0">
                <a:latin typeface="Times New Roman" panose="02020603050405020304" pitchFamily="18" charset="0"/>
                <a:cs typeface="Times New Roman" panose="02020603050405020304" pitchFamily="18" charset="0"/>
              </a:rPr>
              <a:t> de calcul indépendants sur une seule puce.</a:t>
            </a:r>
          </a:p>
        </p:txBody>
      </p:sp>
      <p:sp>
        <p:nvSpPr>
          <p:cNvPr id="5" name="Rectangle 4"/>
          <p:cNvSpPr/>
          <p:nvPr/>
        </p:nvSpPr>
        <p:spPr>
          <a:xfrm>
            <a:off x="4688840" y="2298338"/>
            <a:ext cx="7244080" cy="1338828"/>
          </a:xfrm>
          <a:prstGeom prst="rect">
            <a:avLst/>
          </a:prstGeom>
        </p:spPr>
        <p:txBody>
          <a:bodyPr wrap="square">
            <a:spAutoFit/>
          </a:bodyPr>
          <a:lstStyle/>
          <a:p>
            <a:pPr>
              <a:lnSpc>
                <a:spcPct val="150000"/>
              </a:lnSpc>
            </a:pPr>
            <a:r>
              <a:rPr lang="fr-FR" b="1" dirty="0" smtClean="0">
                <a:latin typeface="Times New Roman" panose="02020603050405020304" pitchFamily="18" charset="0"/>
                <a:cs typeface="Times New Roman" panose="02020603050405020304" pitchFamily="18" charset="0"/>
              </a:rPr>
              <a:t>2. </a:t>
            </a:r>
            <a:r>
              <a:rPr lang="fr-FR" b="1" u="sng" dirty="0" smtClean="0">
                <a:latin typeface="Times New Roman" panose="02020603050405020304" pitchFamily="18" charset="0"/>
                <a:cs typeface="Times New Roman" panose="02020603050405020304" pitchFamily="18" charset="0"/>
              </a:rPr>
              <a:t>Moniteur </a:t>
            </a:r>
            <a:r>
              <a:rPr lang="fr-FR" b="1" u="sng" dirty="0">
                <a:latin typeface="Times New Roman" panose="02020603050405020304" pitchFamily="18" charset="0"/>
                <a:cs typeface="Times New Roman" panose="02020603050405020304" pitchFamily="18" charset="0"/>
              </a:rPr>
              <a:t>Temps Réel</a:t>
            </a:r>
          </a:p>
          <a:p>
            <a:pPr>
              <a:lnSpc>
                <a:spcPct val="150000"/>
              </a:lnSpc>
            </a:pPr>
            <a:r>
              <a:rPr lang="fr-FR" dirty="0" smtClean="0">
                <a:latin typeface="Times New Roman" panose="02020603050405020304" pitchFamily="18" charset="0"/>
                <a:cs typeface="Times New Roman" panose="02020603050405020304" pitchFamily="18" charset="0"/>
              </a:rPr>
              <a:t>Système </a:t>
            </a:r>
            <a:r>
              <a:rPr lang="fr-FR" dirty="0">
                <a:latin typeface="Times New Roman" panose="02020603050405020304" pitchFamily="18" charset="0"/>
                <a:cs typeface="Times New Roman" panose="02020603050405020304" pitchFamily="18" charset="0"/>
              </a:rPr>
              <a:t>capable de collecter et d'afficher les données avec un </a:t>
            </a:r>
            <a:r>
              <a:rPr lang="fr-FR" b="1" dirty="0">
                <a:latin typeface="Times New Roman" panose="02020603050405020304" pitchFamily="18" charset="0"/>
                <a:cs typeface="Times New Roman" panose="02020603050405020304" pitchFamily="18" charset="0"/>
              </a:rPr>
              <a:t>délai minimal</a:t>
            </a:r>
            <a:r>
              <a:rPr lang="fr-FR" dirty="0">
                <a:latin typeface="Times New Roman" panose="02020603050405020304" pitchFamily="18" charset="0"/>
                <a:cs typeface="Times New Roman" panose="02020603050405020304" pitchFamily="18" charset="0"/>
              </a:rPr>
              <a:t> (quasi-instantané) pour permettre une surveillance en direct.</a:t>
            </a:r>
          </a:p>
        </p:txBody>
      </p:sp>
      <p:sp>
        <p:nvSpPr>
          <p:cNvPr id="6" name="Rectangle 5"/>
          <p:cNvSpPr/>
          <p:nvPr/>
        </p:nvSpPr>
        <p:spPr>
          <a:xfrm>
            <a:off x="101600" y="3791801"/>
            <a:ext cx="9519920" cy="1338828"/>
          </a:xfrm>
          <a:prstGeom prst="rect">
            <a:avLst/>
          </a:prstGeom>
        </p:spPr>
        <p:txBody>
          <a:bodyPr wrap="square">
            <a:spAutoFit/>
          </a:bodyPr>
          <a:lstStyle/>
          <a:p>
            <a:pPr>
              <a:lnSpc>
                <a:spcPct val="150000"/>
              </a:lnSpc>
            </a:pPr>
            <a:r>
              <a:rPr lang="fr-FR" b="1" dirty="0">
                <a:latin typeface="Times New Roman" panose="02020603050405020304" pitchFamily="18" charset="0"/>
                <a:cs typeface="Times New Roman" panose="02020603050405020304" pitchFamily="18" charset="0"/>
              </a:rPr>
              <a:t>3</a:t>
            </a:r>
            <a:r>
              <a:rPr lang="fr-FR" b="1" dirty="0" smtClean="0">
                <a:latin typeface="Times New Roman" panose="02020603050405020304" pitchFamily="18" charset="0"/>
                <a:cs typeface="Times New Roman" panose="02020603050405020304" pitchFamily="18" charset="0"/>
              </a:rPr>
              <a:t>. </a:t>
            </a:r>
            <a:r>
              <a:rPr lang="fr-FR" b="1" u="sng" dirty="0" smtClean="0">
                <a:latin typeface="Times New Roman" panose="02020603050405020304" pitchFamily="18" charset="0"/>
                <a:cs typeface="Times New Roman" panose="02020603050405020304" pitchFamily="18" charset="0"/>
              </a:rPr>
              <a:t>Performance Multiprocesseur</a:t>
            </a:r>
          </a:p>
          <a:p>
            <a:pPr>
              <a:lnSpc>
                <a:spcPct val="150000"/>
              </a:lnSpc>
            </a:pPr>
            <a:r>
              <a:rPr lang="fr-FR" dirty="0" smtClean="0">
                <a:latin typeface="Times New Roman" panose="02020603050405020304" pitchFamily="18" charset="0"/>
                <a:cs typeface="Times New Roman" panose="02020603050405020304" pitchFamily="18" charset="0"/>
              </a:rPr>
              <a:t>Mesure de l'efficacité avec laquelle le système d'exploitation </a:t>
            </a:r>
            <a:r>
              <a:rPr lang="fr-FR" b="1" dirty="0" smtClean="0">
                <a:latin typeface="Times New Roman" panose="02020603050405020304" pitchFamily="18" charset="0"/>
                <a:cs typeface="Times New Roman" panose="02020603050405020304" pitchFamily="18" charset="0"/>
              </a:rPr>
              <a:t>répartit les tâches</a:t>
            </a:r>
            <a:r>
              <a:rPr lang="fr-FR" dirty="0" smtClean="0">
                <a:latin typeface="Times New Roman" panose="02020603050405020304" pitchFamily="18" charset="0"/>
                <a:cs typeface="Times New Roman" panose="02020603050405020304" pitchFamily="18" charset="0"/>
              </a:rPr>
              <a:t> entre les différents cœurs.</a:t>
            </a:r>
            <a:endParaRPr lang="fr-FR" dirty="0">
              <a:latin typeface="Times New Roman" panose="02020603050405020304" pitchFamily="18" charset="0"/>
              <a:cs typeface="Times New Roman" panose="02020603050405020304" pitchFamily="18" charset="0"/>
            </a:endParaRPr>
          </a:p>
        </p:txBody>
      </p:sp>
      <p:sp>
        <p:nvSpPr>
          <p:cNvPr id="7" name="Rectangle 6"/>
          <p:cNvSpPr/>
          <p:nvPr/>
        </p:nvSpPr>
        <p:spPr>
          <a:xfrm>
            <a:off x="4861560" y="5285264"/>
            <a:ext cx="7071360" cy="1338828"/>
          </a:xfrm>
          <a:prstGeom prst="rect">
            <a:avLst/>
          </a:prstGeom>
        </p:spPr>
        <p:txBody>
          <a:bodyPr wrap="square">
            <a:spAutoFit/>
          </a:bodyPr>
          <a:lstStyle/>
          <a:p>
            <a:pPr>
              <a:lnSpc>
                <a:spcPct val="150000"/>
              </a:lnSpc>
            </a:pPr>
            <a:r>
              <a:rPr lang="fr-FR" b="1" dirty="0">
                <a:latin typeface="Times New Roman" panose="02020603050405020304" pitchFamily="18" charset="0"/>
                <a:cs typeface="Times New Roman" panose="02020603050405020304" pitchFamily="18" charset="0"/>
              </a:rPr>
              <a:t>4. </a:t>
            </a:r>
            <a:r>
              <a:rPr lang="fr-FR" b="1" u="sng" dirty="0">
                <a:latin typeface="Times New Roman" panose="02020603050405020304" pitchFamily="18" charset="0"/>
                <a:cs typeface="Times New Roman" panose="02020603050405020304" pitchFamily="18" charset="0"/>
              </a:rPr>
              <a:t>Linux </a:t>
            </a:r>
            <a:r>
              <a:rPr lang="fr-FR" b="1" u="sng" dirty="0" err="1">
                <a:latin typeface="Times New Roman" panose="02020603050405020304" pitchFamily="18" charset="0"/>
                <a:cs typeface="Times New Roman" panose="02020603050405020304" pitchFamily="18" charset="0"/>
              </a:rPr>
              <a:t>openSUSE</a:t>
            </a:r>
            <a:endParaRPr lang="fr-FR" b="1" u="sng" dirty="0">
              <a:latin typeface="Times New Roman" panose="02020603050405020304" pitchFamily="18" charset="0"/>
              <a:cs typeface="Times New Roman" panose="02020603050405020304" pitchFamily="18" charset="0"/>
            </a:endParaRPr>
          </a:p>
          <a:p>
            <a:pPr>
              <a:lnSpc>
                <a:spcPct val="150000"/>
              </a:lnSpc>
            </a:pPr>
            <a:r>
              <a:rPr lang="fr-FR" dirty="0" smtClean="0">
                <a:latin typeface="Times New Roman" panose="02020603050405020304" pitchFamily="18" charset="0"/>
                <a:cs typeface="Times New Roman" panose="02020603050405020304" pitchFamily="18" charset="0"/>
              </a:rPr>
              <a:t>Le </a:t>
            </a:r>
            <a:r>
              <a:rPr lang="fr-FR" dirty="0">
                <a:latin typeface="Times New Roman" panose="02020603050405020304" pitchFamily="18" charset="0"/>
                <a:cs typeface="Times New Roman" panose="02020603050405020304" pitchFamily="18" charset="0"/>
              </a:rPr>
              <a:t>système d'exploitation spécifique (une distribution Linux) utilisé comme environnement cible.</a:t>
            </a:r>
          </a:p>
        </p:txBody>
      </p:sp>
      <p:sp>
        <p:nvSpPr>
          <p:cNvPr id="8" name="Titre 1"/>
          <p:cNvSpPr txBox="1">
            <a:spLocks/>
          </p:cNvSpPr>
          <p:nvPr/>
        </p:nvSpPr>
        <p:spPr>
          <a:xfrm>
            <a:off x="1717992" y="0"/>
            <a:ext cx="8689976" cy="65024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r>
              <a:rPr lang="en-US" dirty="0" smtClean="0"/>
              <a:t>Mots </a:t>
            </a:r>
            <a:r>
              <a:rPr lang="en-US" dirty="0" err="1" smtClean="0"/>
              <a:t>clés</a:t>
            </a:r>
            <a:endParaRPr lang="fr-FR" dirty="0"/>
          </a:p>
        </p:txBody>
      </p:sp>
    </p:spTree>
    <p:extLst>
      <p:ext uri="{BB962C8B-B14F-4D97-AF65-F5344CB8AC3E}">
        <p14:creationId xmlns:p14="http://schemas.microsoft.com/office/powerpoint/2010/main" val="123463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80">
                                          <p:stCondLst>
                                            <p:cond delay="0"/>
                                          </p:stCondLst>
                                        </p:cTn>
                                        <p:tgtEl>
                                          <p:spTgt spid="4">
                                            <p:txEl>
                                              <p:pRg st="0" end="0"/>
                                            </p:txEl>
                                          </p:spTgt>
                                        </p:tgtEl>
                                      </p:cBhvr>
                                    </p:animEffect>
                                    <p:anim calcmode="lin" valueType="num">
                                      <p:cBhvr>
                                        <p:cTn id="8"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xEl>
                                              <p:pRg st="0" end="0"/>
                                            </p:txEl>
                                          </p:spTgt>
                                        </p:tgtEl>
                                      </p:cBhvr>
                                      <p:to x="100000" y="60000"/>
                                    </p:animScale>
                                    <p:animScale>
                                      <p:cBhvr>
                                        <p:cTn id="14" dur="166" decel="50000">
                                          <p:stCondLst>
                                            <p:cond delay="676"/>
                                          </p:stCondLst>
                                        </p:cTn>
                                        <p:tgtEl>
                                          <p:spTgt spid="4">
                                            <p:txEl>
                                              <p:pRg st="0" end="0"/>
                                            </p:txEl>
                                          </p:spTgt>
                                        </p:tgtEl>
                                      </p:cBhvr>
                                      <p:to x="100000" y="100000"/>
                                    </p:animScale>
                                    <p:animScale>
                                      <p:cBhvr>
                                        <p:cTn id="15" dur="26">
                                          <p:stCondLst>
                                            <p:cond delay="1312"/>
                                          </p:stCondLst>
                                        </p:cTn>
                                        <p:tgtEl>
                                          <p:spTgt spid="4">
                                            <p:txEl>
                                              <p:pRg st="0" end="0"/>
                                            </p:txEl>
                                          </p:spTgt>
                                        </p:tgtEl>
                                      </p:cBhvr>
                                      <p:to x="100000" y="80000"/>
                                    </p:animScale>
                                    <p:animScale>
                                      <p:cBhvr>
                                        <p:cTn id="16" dur="166" decel="50000">
                                          <p:stCondLst>
                                            <p:cond delay="1338"/>
                                          </p:stCondLst>
                                        </p:cTn>
                                        <p:tgtEl>
                                          <p:spTgt spid="4">
                                            <p:txEl>
                                              <p:pRg st="0" end="0"/>
                                            </p:txEl>
                                          </p:spTgt>
                                        </p:tgtEl>
                                      </p:cBhvr>
                                      <p:to x="100000" y="100000"/>
                                    </p:animScale>
                                    <p:animScale>
                                      <p:cBhvr>
                                        <p:cTn id="17" dur="26">
                                          <p:stCondLst>
                                            <p:cond delay="1642"/>
                                          </p:stCondLst>
                                        </p:cTn>
                                        <p:tgtEl>
                                          <p:spTgt spid="4">
                                            <p:txEl>
                                              <p:pRg st="0" end="0"/>
                                            </p:txEl>
                                          </p:spTgt>
                                        </p:tgtEl>
                                      </p:cBhvr>
                                      <p:to x="100000" y="90000"/>
                                    </p:animScale>
                                    <p:animScale>
                                      <p:cBhvr>
                                        <p:cTn id="18" dur="166" decel="50000">
                                          <p:stCondLst>
                                            <p:cond delay="1668"/>
                                          </p:stCondLst>
                                        </p:cTn>
                                        <p:tgtEl>
                                          <p:spTgt spid="4">
                                            <p:txEl>
                                              <p:pRg st="0" end="0"/>
                                            </p:txEl>
                                          </p:spTgt>
                                        </p:tgtEl>
                                      </p:cBhvr>
                                      <p:to x="100000" y="100000"/>
                                    </p:animScale>
                                    <p:animScale>
                                      <p:cBhvr>
                                        <p:cTn id="19" dur="26">
                                          <p:stCondLst>
                                            <p:cond delay="1808"/>
                                          </p:stCondLst>
                                        </p:cTn>
                                        <p:tgtEl>
                                          <p:spTgt spid="4">
                                            <p:txEl>
                                              <p:pRg st="0" end="0"/>
                                            </p:txEl>
                                          </p:spTgt>
                                        </p:tgtEl>
                                      </p:cBhvr>
                                      <p:to x="100000" y="95000"/>
                                    </p:animScale>
                                    <p:animScale>
                                      <p:cBhvr>
                                        <p:cTn id="20" dur="166" decel="50000">
                                          <p:stCondLst>
                                            <p:cond delay="1834"/>
                                          </p:stCondLst>
                                        </p:cTn>
                                        <p:tgtEl>
                                          <p:spTgt spid="4">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wipe(down)">
                                      <p:cBhvr>
                                        <p:cTn id="25" dur="580">
                                          <p:stCondLst>
                                            <p:cond delay="0"/>
                                          </p:stCondLst>
                                        </p:cTn>
                                        <p:tgtEl>
                                          <p:spTgt spid="5">
                                            <p:txEl>
                                              <p:pRg st="0" end="0"/>
                                            </p:txEl>
                                          </p:spTgt>
                                        </p:tgtEl>
                                      </p:cBhvr>
                                    </p:animEffect>
                                    <p:anim calcmode="lin" valueType="num">
                                      <p:cBhvr>
                                        <p:cTn id="26" dur="1822" tmFilter="0,0; 0.14,0.36; 0.43,0.73; 0.71,0.91; 1.0,1.0">
                                          <p:stCondLst>
                                            <p:cond delay="0"/>
                                          </p:stCondLst>
                                        </p:cTn>
                                        <p:tgtEl>
                                          <p:spTgt spid="5">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5">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5">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5">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5">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5">
                                            <p:txEl>
                                              <p:pRg st="0" end="0"/>
                                            </p:txEl>
                                          </p:spTgt>
                                        </p:tgtEl>
                                      </p:cBhvr>
                                      <p:to x="100000" y="60000"/>
                                    </p:animScale>
                                    <p:animScale>
                                      <p:cBhvr>
                                        <p:cTn id="32" dur="166" decel="50000">
                                          <p:stCondLst>
                                            <p:cond delay="676"/>
                                          </p:stCondLst>
                                        </p:cTn>
                                        <p:tgtEl>
                                          <p:spTgt spid="5">
                                            <p:txEl>
                                              <p:pRg st="0" end="0"/>
                                            </p:txEl>
                                          </p:spTgt>
                                        </p:tgtEl>
                                      </p:cBhvr>
                                      <p:to x="100000" y="100000"/>
                                    </p:animScale>
                                    <p:animScale>
                                      <p:cBhvr>
                                        <p:cTn id="33" dur="26">
                                          <p:stCondLst>
                                            <p:cond delay="1312"/>
                                          </p:stCondLst>
                                        </p:cTn>
                                        <p:tgtEl>
                                          <p:spTgt spid="5">
                                            <p:txEl>
                                              <p:pRg st="0" end="0"/>
                                            </p:txEl>
                                          </p:spTgt>
                                        </p:tgtEl>
                                      </p:cBhvr>
                                      <p:to x="100000" y="80000"/>
                                    </p:animScale>
                                    <p:animScale>
                                      <p:cBhvr>
                                        <p:cTn id="34" dur="166" decel="50000">
                                          <p:stCondLst>
                                            <p:cond delay="1338"/>
                                          </p:stCondLst>
                                        </p:cTn>
                                        <p:tgtEl>
                                          <p:spTgt spid="5">
                                            <p:txEl>
                                              <p:pRg st="0" end="0"/>
                                            </p:txEl>
                                          </p:spTgt>
                                        </p:tgtEl>
                                      </p:cBhvr>
                                      <p:to x="100000" y="100000"/>
                                    </p:animScale>
                                    <p:animScale>
                                      <p:cBhvr>
                                        <p:cTn id="35" dur="26">
                                          <p:stCondLst>
                                            <p:cond delay="1642"/>
                                          </p:stCondLst>
                                        </p:cTn>
                                        <p:tgtEl>
                                          <p:spTgt spid="5">
                                            <p:txEl>
                                              <p:pRg st="0" end="0"/>
                                            </p:txEl>
                                          </p:spTgt>
                                        </p:tgtEl>
                                      </p:cBhvr>
                                      <p:to x="100000" y="90000"/>
                                    </p:animScale>
                                    <p:animScale>
                                      <p:cBhvr>
                                        <p:cTn id="36" dur="166" decel="50000">
                                          <p:stCondLst>
                                            <p:cond delay="1668"/>
                                          </p:stCondLst>
                                        </p:cTn>
                                        <p:tgtEl>
                                          <p:spTgt spid="5">
                                            <p:txEl>
                                              <p:pRg st="0" end="0"/>
                                            </p:txEl>
                                          </p:spTgt>
                                        </p:tgtEl>
                                      </p:cBhvr>
                                      <p:to x="100000" y="100000"/>
                                    </p:animScale>
                                    <p:animScale>
                                      <p:cBhvr>
                                        <p:cTn id="37" dur="26">
                                          <p:stCondLst>
                                            <p:cond delay="1808"/>
                                          </p:stCondLst>
                                        </p:cTn>
                                        <p:tgtEl>
                                          <p:spTgt spid="5">
                                            <p:txEl>
                                              <p:pRg st="0" end="0"/>
                                            </p:txEl>
                                          </p:spTgt>
                                        </p:tgtEl>
                                      </p:cBhvr>
                                      <p:to x="100000" y="95000"/>
                                    </p:animScale>
                                    <p:animScale>
                                      <p:cBhvr>
                                        <p:cTn id="38" dur="166" decel="50000">
                                          <p:stCondLst>
                                            <p:cond delay="1834"/>
                                          </p:stCondLst>
                                        </p:cTn>
                                        <p:tgtEl>
                                          <p:spTgt spid="5">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Effect transition="in" filter="wipe(down)">
                                      <p:cBhvr>
                                        <p:cTn id="43" dur="580">
                                          <p:stCondLst>
                                            <p:cond delay="0"/>
                                          </p:stCondLst>
                                        </p:cTn>
                                        <p:tgtEl>
                                          <p:spTgt spid="6">
                                            <p:txEl>
                                              <p:pRg st="0" end="0"/>
                                            </p:txEl>
                                          </p:spTgt>
                                        </p:tgtEl>
                                      </p:cBhvr>
                                    </p:animEffect>
                                    <p:anim calcmode="lin" valueType="num">
                                      <p:cBhvr>
                                        <p:cTn id="44" dur="1822" tmFilter="0,0; 0.14,0.36; 0.43,0.73; 0.71,0.91; 1.0,1.0">
                                          <p:stCondLst>
                                            <p:cond delay="0"/>
                                          </p:stCondLst>
                                        </p:cTn>
                                        <p:tgtEl>
                                          <p:spTgt spid="6">
                                            <p:txEl>
                                              <p:pRg st="0" end="0"/>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6">
                                            <p:txEl>
                                              <p:pRg st="0" end="0"/>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6">
                                            <p:txEl>
                                              <p:pRg st="0" end="0"/>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6">
                                            <p:txEl>
                                              <p:pRg st="0" end="0"/>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6">
                                            <p:txEl>
                                              <p:pRg st="0" end="0"/>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6">
                                            <p:txEl>
                                              <p:pRg st="0" end="0"/>
                                            </p:txEl>
                                          </p:spTgt>
                                        </p:tgtEl>
                                      </p:cBhvr>
                                      <p:to x="100000" y="60000"/>
                                    </p:animScale>
                                    <p:animScale>
                                      <p:cBhvr>
                                        <p:cTn id="50" dur="166" decel="50000">
                                          <p:stCondLst>
                                            <p:cond delay="676"/>
                                          </p:stCondLst>
                                        </p:cTn>
                                        <p:tgtEl>
                                          <p:spTgt spid="6">
                                            <p:txEl>
                                              <p:pRg st="0" end="0"/>
                                            </p:txEl>
                                          </p:spTgt>
                                        </p:tgtEl>
                                      </p:cBhvr>
                                      <p:to x="100000" y="100000"/>
                                    </p:animScale>
                                    <p:animScale>
                                      <p:cBhvr>
                                        <p:cTn id="51" dur="26">
                                          <p:stCondLst>
                                            <p:cond delay="1312"/>
                                          </p:stCondLst>
                                        </p:cTn>
                                        <p:tgtEl>
                                          <p:spTgt spid="6">
                                            <p:txEl>
                                              <p:pRg st="0" end="0"/>
                                            </p:txEl>
                                          </p:spTgt>
                                        </p:tgtEl>
                                      </p:cBhvr>
                                      <p:to x="100000" y="80000"/>
                                    </p:animScale>
                                    <p:animScale>
                                      <p:cBhvr>
                                        <p:cTn id="52" dur="166" decel="50000">
                                          <p:stCondLst>
                                            <p:cond delay="1338"/>
                                          </p:stCondLst>
                                        </p:cTn>
                                        <p:tgtEl>
                                          <p:spTgt spid="6">
                                            <p:txEl>
                                              <p:pRg st="0" end="0"/>
                                            </p:txEl>
                                          </p:spTgt>
                                        </p:tgtEl>
                                      </p:cBhvr>
                                      <p:to x="100000" y="100000"/>
                                    </p:animScale>
                                    <p:animScale>
                                      <p:cBhvr>
                                        <p:cTn id="53" dur="26">
                                          <p:stCondLst>
                                            <p:cond delay="1642"/>
                                          </p:stCondLst>
                                        </p:cTn>
                                        <p:tgtEl>
                                          <p:spTgt spid="6">
                                            <p:txEl>
                                              <p:pRg st="0" end="0"/>
                                            </p:txEl>
                                          </p:spTgt>
                                        </p:tgtEl>
                                      </p:cBhvr>
                                      <p:to x="100000" y="90000"/>
                                    </p:animScale>
                                    <p:animScale>
                                      <p:cBhvr>
                                        <p:cTn id="54" dur="166" decel="50000">
                                          <p:stCondLst>
                                            <p:cond delay="1668"/>
                                          </p:stCondLst>
                                        </p:cTn>
                                        <p:tgtEl>
                                          <p:spTgt spid="6">
                                            <p:txEl>
                                              <p:pRg st="0" end="0"/>
                                            </p:txEl>
                                          </p:spTgt>
                                        </p:tgtEl>
                                      </p:cBhvr>
                                      <p:to x="100000" y="100000"/>
                                    </p:animScale>
                                    <p:animScale>
                                      <p:cBhvr>
                                        <p:cTn id="55" dur="26">
                                          <p:stCondLst>
                                            <p:cond delay="1808"/>
                                          </p:stCondLst>
                                        </p:cTn>
                                        <p:tgtEl>
                                          <p:spTgt spid="6">
                                            <p:txEl>
                                              <p:pRg st="0" end="0"/>
                                            </p:txEl>
                                          </p:spTgt>
                                        </p:tgtEl>
                                      </p:cBhvr>
                                      <p:to x="100000" y="95000"/>
                                    </p:animScale>
                                    <p:animScale>
                                      <p:cBhvr>
                                        <p:cTn id="56" dur="166" decel="50000">
                                          <p:stCondLst>
                                            <p:cond delay="1834"/>
                                          </p:stCondLst>
                                        </p:cTn>
                                        <p:tgtEl>
                                          <p:spTgt spid="6">
                                            <p:txEl>
                                              <p:pRg st="0" end="0"/>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7">
                                            <p:txEl>
                                              <p:pRg st="0" end="0"/>
                                            </p:txEl>
                                          </p:spTgt>
                                        </p:tgtEl>
                                        <p:attrNameLst>
                                          <p:attrName>style.visibility</p:attrName>
                                        </p:attrNameLst>
                                      </p:cBhvr>
                                      <p:to>
                                        <p:strVal val="visible"/>
                                      </p:to>
                                    </p:set>
                                    <p:animEffect transition="in" filter="wipe(down)">
                                      <p:cBhvr>
                                        <p:cTn id="61" dur="580">
                                          <p:stCondLst>
                                            <p:cond delay="0"/>
                                          </p:stCondLst>
                                        </p:cTn>
                                        <p:tgtEl>
                                          <p:spTgt spid="7">
                                            <p:txEl>
                                              <p:pRg st="0" end="0"/>
                                            </p:txEl>
                                          </p:spTgt>
                                        </p:tgtEl>
                                      </p:cBhvr>
                                    </p:animEffect>
                                    <p:anim calcmode="lin" valueType="num">
                                      <p:cBhvr>
                                        <p:cTn id="62" dur="1822" tmFilter="0,0; 0.14,0.36; 0.43,0.73; 0.71,0.91; 1.0,1.0">
                                          <p:stCondLst>
                                            <p:cond delay="0"/>
                                          </p:stCondLst>
                                        </p:cTn>
                                        <p:tgtEl>
                                          <p:spTgt spid="7">
                                            <p:txEl>
                                              <p:pRg st="0" end="0"/>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7">
                                            <p:txEl>
                                              <p:pRg st="0" end="0"/>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7">
                                            <p:txEl>
                                              <p:pRg st="0" end="0"/>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7">
                                            <p:txEl>
                                              <p:pRg st="0" end="0"/>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7">
                                            <p:txEl>
                                              <p:pRg st="0" end="0"/>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7">
                                            <p:txEl>
                                              <p:pRg st="0" end="0"/>
                                            </p:txEl>
                                          </p:spTgt>
                                        </p:tgtEl>
                                      </p:cBhvr>
                                      <p:to x="100000" y="60000"/>
                                    </p:animScale>
                                    <p:animScale>
                                      <p:cBhvr>
                                        <p:cTn id="68" dur="166" decel="50000">
                                          <p:stCondLst>
                                            <p:cond delay="676"/>
                                          </p:stCondLst>
                                        </p:cTn>
                                        <p:tgtEl>
                                          <p:spTgt spid="7">
                                            <p:txEl>
                                              <p:pRg st="0" end="0"/>
                                            </p:txEl>
                                          </p:spTgt>
                                        </p:tgtEl>
                                      </p:cBhvr>
                                      <p:to x="100000" y="100000"/>
                                    </p:animScale>
                                    <p:animScale>
                                      <p:cBhvr>
                                        <p:cTn id="69" dur="26">
                                          <p:stCondLst>
                                            <p:cond delay="1312"/>
                                          </p:stCondLst>
                                        </p:cTn>
                                        <p:tgtEl>
                                          <p:spTgt spid="7">
                                            <p:txEl>
                                              <p:pRg st="0" end="0"/>
                                            </p:txEl>
                                          </p:spTgt>
                                        </p:tgtEl>
                                      </p:cBhvr>
                                      <p:to x="100000" y="80000"/>
                                    </p:animScale>
                                    <p:animScale>
                                      <p:cBhvr>
                                        <p:cTn id="70" dur="166" decel="50000">
                                          <p:stCondLst>
                                            <p:cond delay="1338"/>
                                          </p:stCondLst>
                                        </p:cTn>
                                        <p:tgtEl>
                                          <p:spTgt spid="7">
                                            <p:txEl>
                                              <p:pRg st="0" end="0"/>
                                            </p:txEl>
                                          </p:spTgt>
                                        </p:tgtEl>
                                      </p:cBhvr>
                                      <p:to x="100000" y="100000"/>
                                    </p:animScale>
                                    <p:animScale>
                                      <p:cBhvr>
                                        <p:cTn id="71" dur="26">
                                          <p:stCondLst>
                                            <p:cond delay="1642"/>
                                          </p:stCondLst>
                                        </p:cTn>
                                        <p:tgtEl>
                                          <p:spTgt spid="7">
                                            <p:txEl>
                                              <p:pRg st="0" end="0"/>
                                            </p:txEl>
                                          </p:spTgt>
                                        </p:tgtEl>
                                      </p:cBhvr>
                                      <p:to x="100000" y="90000"/>
                                    </p:animScale>
                                    <p:animScale>
                                      <p:cBhvr>
                                        <p:cTn id="72" dur="166" decel="50000">
                                          <p:stCondLst>
                                            <p:cond delay="1668"/>
                                          </p:stCondLst>
                                        </p:cTn>
                                        <p:tgtEl>
                                          <p:spTgt spid="7">
                                            <p:txEl>
                                              <p:pRg st="0" end="0"/>
                                            </p:txEl>
                                          </p:spTgt>
                                        </p:tgtEl>
                                      </p:cBhvr>
                                      <p:to x="100000" y="100000"/>
                                    </p:animScale>
                                    <p:animScale>
                                      <p:cBhvr>
                                        <p:cTn id="73" dur="26">
                                          <p:stCondLst>
                                            <p:cond delay="1808"/>
                                          </p:stCondLst>
                                        </p:cTn>
                                        <p:tgtEl>
                                          <p:spTgt spid="7">
                                            <p:txEl>
                                              <p:pRg st="0" end="0"/>
                                            </p:txEl>
                                          </p:spTgt>
                                        </p:tgtEl>
                                      </p:cBhvr>
                                      <p:to x="100000" y="95000"/>
                                    </p:animScale>
                                    <p:animScale>
                                      <p:cBhvr>
                                        <p:cTn id="74" dur="166" decel="50000">
                                          <p:stCondLst>
                                            <p:cond delay="1834"/>
                                          </p:stCondLst>
                                        </p:cTn>
                                        <p:tgtEl>
                                          <p:spTgt spid="7">
                                            <p:txEl>
                                              <p:pRg st="0" end="0"/>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45" presetClass="entr" presetSubtype="0" fill="hold" nodeType="clickEffect">
                                  <p:stCondLst>
                                    <p:cond delay="0"/>
                                  </p:stCondLst>
                                  <p:childTnLst>
                                    <p:set>
                                      <p:cBhvr>
                                        <p:cTn id="78" dur="1" fill="hold">
                                          <p:stCondLst>
                                            <p:cond delay="0"/>
                                          </p:stCondLst>
                                        </p:cTn>
                                        <p:tgtEl>
                                          <p:spTgt spid="4">
                                            <p:txEl>
                                              <p:pRg st="1" end="1"/>
                                            </p:txEl>
                                          </p:spTgt>
                                        </p:tgtEl>
                                        <p:attrNameLst>
                                          <p:attrName>style.visibility</p:attrName>
                                        </p:attrNameLst>
                                      </p:cBhvr>
                                      <p:to>
                                        <p:strVal val="visible"/>
                                      </p:to>
                                    </p:set>
                                    <p:animEffect transition="in" filter="fade">
                                      <p:cBhvr>
                                        <p:cTn id="79" dur="2000"/>
                                        <p:tgtEl>
                                          <p:spTgt spid="4">
                                            <p:txEl>
                                              <p:pRg st="1" end="1"/>
                                            </p:txEl>
                                          </p:spTgt>
                                        </p:tgtEl>
                                      </p:cBhvr>
                                    </p:animEffect>
                                    <p:anim calcmode="lin" valueType="num">
                                      <p:cBhvr>
                                        <p:cTn id="80" dur="2000" fill="hold"/>
                                        <p:tgtEl>
                                          <p:spTgt spid="4">
                                            <p:txEl>
                                              <p:pRg st="1" end="1"/>
                                            </p:txEl>
                                          </p:spTgt>
                                        </p:tgtEl>
                                        <p:attrNameLst>
                                          <p:attrName>ppt_w</p:attrName>
                                        </p:attrNameLst>
                                      </p:cBhvr>
                                      <p:tavLst>
                                        <p:tav tm="0" fmla="#ppt_w*sin(2.5*pi*$)">
                                          <p:val>
                                            <p:fltVal val="0"/>
                                          </p:val>
                                        </p:tav>
                                        <p:tav tm="100000">
                                          <p:val>
                                            <p:fltVal val="1"/>
                                          </p:val>
                                        </p:tav>
                                      </p:tavLst>
                                    </p:anim>
                                    <p:anim calcmode="lin" valueType="num">
                                      <p:cBhvr>
                                        <p:cTn id="81" dur="2000" fill="hold"/>
                                        <p:tgtEl>
                                          <p:spTgt spid="4">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45" presetClass="entr" presetSubtype="0" fill="hold" nodeType="clickEffect">
                                  <p:stCondLst>
                                    <p:cond delay="0"/>
                                  </p:stCondLst>
                                  <p:childTnLst>
                                    <p:set>
                                      <p:cBhvr>
                                        <p:cTn id="85" dur="1" fill="hold">
                                          <p:stCondLst>
                                            <p:cond delay="0"/>
                                          </p:stCondLst>
                                        </p:cTn>
                                        <p:tgtEl>
                                          <p:spTgt spid="5">
                                            <p:txEl>
                                              <p:pRg st="1" end="1"/>
                                            </p:txEl>
                                          </p:spTgt>
                                        </p:tgtEl>
                                        <p:attrNameLst>
                                          <p:attrName>style.visibility</p:attrName>
                                        </p:attrNameLst>
                                      </p:cBhvr>
                                      <p:to>
                                        <p:strVal val="visible"/>
                                      </p:to>
                                    </p:set>
                                    <p:animEffect transition="in" filter="fade">
                                      <p:cBhvr>
                                        <p:cTn id="86" dur="2000"/>
                                        <p:tgtEl>
                                          <p:spTgt spid="5">
                                            <p:txEl>
                                              <p:pRg st="1" end="1"/>
                                            </p:txEl>
                                          </p:spTgt>
                                        </p:tgtEl>
                                      </p:cBhvr>
                                    </p:animEffect>
                                    <p:anim calcmode="lin" valueType="num">
                                      <p:cBhvr>
                                        <p:cTn id="87" dur="2000" fill="hold"/>
                                        <p:tgtEl>
                                          <p:spTgt spid="5">
                                            <p:txEl>
                                              <p:pRg st="1" end="1"/>
                                            </p:txEl>
                                          </p:spTgt>
                                        </p:tgtEl>
                                        <p:attrNameLst>
                                          <p:attrName>ppt_w</p:attrName>
                                        </p:attrNameLst>
                                      </p:cBhvr>
                                      <p:tavLst>
                                        <p:tav tm="0" fmla="#ppt_w*sin(2.5*pi*$)">
                                          <p:val>
                                            <p:fltVal val="0"/>
                                          </p:val>
                                        </p:tav>
                                        <p:tav tm="100000">
                                          <p:val>
                                            <p:fltVal val="1"/>
                                          </p:val>
                                        </p:tav>
                                      </p:tavLst>
                                    </p:anim>
                                    <p:anim calcmode="lin" valueType="num">
                                      <p:cBhvr>
                                        <p:cTn id="88" dur="2000" fill="hold"/>
                                        <p:tgtEl>
                                          <p:spTgt spid="5">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45" presetClass="entr" presetSubtype="0" fill="hold" nodeType="clickEffect">
                                  <p:stCondLst>
                                    <p:cond delay="0"/>
                                  </p:stCondLst>
                                  <p:childTnLst>
                                    <p:set>
                                      <p:cBhvr>
                                        <p:cTn id="92" dur="1" fill="hold">
                                          <p:stCondLst>
                                            <p:cond delay="0"/>
                                          </p:stCondLst>
                                        </p:cTn>
                                        <p:tgtEl>
                                          <p:spTgt spid="6">
                                            <p:txEl>
                                              <p:pRg st="1" end="1"/>
                                            </p:txEl>
                                          </p:spTgt>
                                        </p:tgtEl>
                                        <p:attrNameLst>
                                          <p:attrName>style.visibility</p:attrName>
                                        </p:attrNameLst>
                                      </p:cBhvr>
                                      <p:to>
                                        <p:strVal val="visible"/>
                                      </p:to>
                                    </p:set>
                                    <p:animEffect transition="in" filter="fade">
                                      <p:cBhvr>
                                        <p:cTn id="93" dur="2000"/>
                                        <p:tgtEl>
                                          <p:spTgt spid="6">
                                            <p:txEl>
                                              <p:pRg st="1" end="1"/>
                                            </p:txEl>
                                          </p:spTgt>
                                        </p:tgtEl>
                                      </p:cBhvr>
                                    </p:animEffect>
                                    <p:anim calcmode="lin" valueType="num">
                                      <p:cBhvr>
                                        <p:cTn id="94" dur="2000" fill="hold"/>
                                        <p:tgtEl>
                                          <p:spTgt spid="6">
                                            <p:txEl>
                                              <p:pRg st="1" end="1"/>
                                            </p:txEl>
                                          </p:spTgt>
                                        </p:tgtEl>
                                        <p:attrNameLst>
                                          <p:attrName>ppt_w</p:attrName>
                                        </p:attrNameLst>
                                      </p:cBhvr>
                                      <p:tavLst>
                                        <p:tav tm="0" fmla="#ppt_w*sin(2.5*pi*$)">
                                          <p:val>
                                            <p:fltVal val="0"/>
                                          </p:val>
                                        </p:tav>
                                        <p:tav tm="100000">
                                          <p:val>
                                            <p:fltVal val="1"/>
                                          </p:val>
                                        </p:tav>
                                      </p:tavLst>
                                    </p:anim>
                                    <p:anim calcmode="lin" valueType="num">
                                      <p:cBhvr>
                                        <p:cTn id="95" dur="2000" fill="hold"/>
                                        <p:tgtEl>
                                          <p:spTgt spid="6">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96" fill="hold">
                      <p:stCondLst>
                        <p:cond delay="indefinite"/>
                      </p:stCondLst>
                      <p:childTnLst>
                        <p:par>
                          <p:cTn id="97" fill="hold">
                            <p:stCondLst>
                              <p:cond delay="0"/>
                            </p:stCondLst>
                            <p:childTnLst>
                              <p:par>
                                <p:cTn id="98" presetID="45" presetClass="entr" presetSubtype="0" fill="hold" nodeType="clickEffect">
                                  <p:stCondLst>
                                    <p:cond delay="0"/>
                                  </p:stCondLst>
                                  <p:childTnLst>
                                    <p:set>
                                      <p:cBhvr>
                                        <p:cTn id="99" dur="1" fill="hold">
                                          <p:stCondLst>
                                            <p:cond delay="0"/>
                                          </p:stCondLst>
                                        </p:cTn>
                                        <p:tgtEl>
                                          <p:spTgt spid="7">
                                            <p:txEl>
                                              <p:pRg st="1" end="1"/>
                                            </p:txEl>
                                          </p:spTgt>
                                        </p:tgtEl>
                                        <p:attrNameLst>
                                          <p:attrName>style.visibility</p:attrName>
                                        </p:attrNameLst>
                                      </p:cBhvr>
                                      <p:to>
                                        <p:strVal val="visible"/>
                                      </p:to>
                                    </p:set>
                                    <p:animEffect transition="in" filter="fade">
                                      <p:cBhvr>
                                        <p:cTn id="100" dur="2000"/>
                                        <p:tgtEl>
                                          <p:spTgt spid="7">
                                            <p:txEl>
                                              <p:pRg st="1" end="1"/>
                                            </p:txEl>
                                          </p:spTgt>
                                        </p:tgtEl>
                                      </p:cBhvr>
                                    </p:animEffect>
                                    <p:anim calcmode="lin" valueType="num">
                                      <p:cBhvr>
                                        <p:cTn id="101" dur="2000" fill="hold"/>
                                        <p:tgtEl>
                                          <p:spTgt spid="7">
                                            <p:txEl>
                                              <p:pRg st="1" end="1"/>
                                            </p:txEl>
                                          </p:spTgt>
                                        </p:tgtEl>
                                        <p:attrNameLst>
                                          <p:attrName>ppt_w</p:attrName>
                                        </p:attrNameLst>
                                      </p:cBhvr>
                                      <p:tavLst>
                                        <p:tav tm="0" fmla="#ppt_w*sin(2.5*pi*$)">
                                          <p:val>
                                            <p:fltVal val="0"/>
                                          </p:val>
                                        </p:tav>
                                        <p:tav tm="100000">
                                          <p:val>
                                            <p:fltVal val="1"/>
                                          </p:val>
                                        </p:tav>
                                      </p:tavLst>
                                    </p:anim>
                                    <p:anim calcmode="lin" valueType="num">
                                      <p:cBhvr>
                                        <p:cTn id="102" dur="2000" fill="hold"/>
                                        <p:tgtEl>
                                          <p:spTgt spid="7">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04632" y="0"/>
            <a:ext cx="8689976" cy="800100"/>
          </a:xfrm>
        </p:spPr>
        <p:txBody>
          <a:bodyPr>
            <a:normAutofit/>
          </a:bodyPr>
          <a:lstStyle/>
          <a:p>
            <a:r>
              <a:rPr lang="en-US" dirty="0" smtClean="0"/>
              <a:t>I. Contexte</a:t>
            </a:r>
            <a:endParaRPr lang="fr-FR" dirty="0"/>
          </a:p>
        </p:txBody>
      </p:sp>
      <p:sp>
        <p:nvSpPr>
          <p:cNvPr id="3" name="ZoneTexte 2"/>
          <p:cNvSpPr txBox="1"/>
          <p:nvPr/>
        </p:nvSpPr>
        <p:spPr>
          <a:xfrm>
            <a:off x="969005" y="3173160"/>
            <a:ext cx="10597279" cy="579582"/>
          </a:xfrm>
          <a:prstGeom prst="rect">
            <a:avLst/>
          </a:prstGeom>
          <a:noFill/>
        </p:spPr>
        <p:txBody>
          <a:bodyPr wrap="square" rtlCol="0">
            <a:spAutoFit/>
          </a:bodyPr>
          <a:lstStyle/>
          <a:p>
            <a:pPr algn="just">
              <a:lnSpc>
                <a:spcPct val="150000"/>
              </a:lnSpc>
            </a:pPr>
            <a:r>
              <a:rPr lang="fr-FR" sz="2400" dirty="0" smtClean="0">
                <a:latin typeface="Times New Roman" panose="02020603050405020304" pitchFamily="18" charset="0"/>
                <a:cs typeface="Times New Roman" panose="02020603050405020304" pitchFamily="18" charset="0"/>
              </a:rPr>
              <a:t>	</a:t>
            </a:r>
            <a:endParaRPr lang="fr-FR" dirty="0"/>
          </a:p>
        </p:txBody>
      </p:sp>
      <p:sp>
        <p:nvSpPr>
          <p:cNvPr id="5" name="Rectangle 2"/>
          <p:cNvSpPr>
            <a:spLocks noChangeArrowheads="1"/>
          </p:cNvSpPr>
          <p:nvPr/>
        </p:nvSpPr>
        <p:spPr bwMode="auto">
          <a:xfrm>
            <a:off x="599440" y="1352813"/>
            <a:ext cx="1079785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1600" dirty="0" smtClean="0">
                <a:latin typeface="Times New Roman" panose="02020603050405020304" pitchFamily="18" charset="0"/>
                <a:cs typeface="Times New Roman" panose="02020603050405020304" pitchFamily="18" charset="0"/>
              </a:rPr>
              <a:t>	</a:t>
            </a:r>
            <a:r>
              <a:rPr lang="en-US" altLang="en-US" sz="2000" dirty="0" err="1" smtClean="0">
                <a:latin typeface="Times New Roman" panose="02020603050405020304" pitchFamily="18" charset="0"/>
                <a:cs typeface="Times New Roman" panose="02020603050405020304" pitchFamily="18" charset="0"/>
              </a:rPr>
              <a:t>Dans</a:t>
            </a:r>
            <a:r>
              <a:rPr lang="en-US" altLang="en-US" sz="2000" dirty="0" smtClean="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un </a:t>
            </a:r>
            <a:r>
              <a:rPr lang="en-US" altLang="en-US" sz="2000" dirty="0" err="1">
                <a:latin typeface="Times New Roman" panose="02020603050405020304" pitchFamily="18" charset="0"/>
                <a:cs typeface="Times New Roman" panose="02020603050405020304" pitchFamily="18" charset="0"/>
              </a:rPr>
              <a:t>environnement</a:t>
            </a:r>
            <a:r>
              <a:rPr lang="en-US" altLang="en-US" sz="2000" dirty="0">
                <a:latin typeface="Times New Roman" panose="02020603050405020304" pitchFamily="18" charset="0"/>
                <a:cs typeface="Times New Roman" panose="02020603050405020304" pitchFamily="18" charset="0"/>
              </a:rPr>
              <a:t> Linux, </a:t>
            </a:r>
            <a:r>
              <a:rPr lang="en-US" altLang="en-US" sz="2000" dirty="0" err="1">
                <a:latin typeface="Times New Roman" panose="02020603050405020304" pitchFamily="18" charset="0"/>
                <a:cs typeface="Times New Roman" panose="02020603050405020304" pitchFamily="18" charset="0"/>
              </a:rPr>
              <a:t>l'ordonnanceur</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scheduler</a:t>
            </a:r>
            <a:r>
              <a:rPr lang="en-US" altLang="en-US" sz="2000" dirty="0">
                <a:latin typeface="Times New Roman" panose="02020603050405020304" pitchFamily="18" charset="0"/>
                <a:cs typeface="Times New Roman" panose="02020603050405020304" pitchFamily="18" charset="0"/>
              </a:rPr>
              <a:t>) du </a:t>
            </a:r>
            <a:r>
              <a:rPr lang="en-US" altLang="en-US" sz="2000" dirty="0" err="1">
                <a:latin typeface="Times New Roman" panose="02020603050405020304" pitchFamily="18" charset="0"/>
                <a:cs typeface="Times New Roman" panose="02020603050405020304" pitchFamily="18" charset="0"/>
              </a:rPr>
              <a:t>noyau</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est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responsable</a:t>
            </a:r>
            <a:r>
              <a:rPr lang="en-US" altLang="en-US" sz="2000" dirty="0">
                <a:latin typeface="Times New Roman" panose="02020603050405020304" pitchFamily="18" charset="0"/>
                <a:cs typeface="Times New Roman" panose="02020603050405020304" pitchFamily="18" charset="0"/>
              </a:rPr>
              <a:t> de </a:t>
            </a:r>
            <a:r>
              <a:rPr lang="en-US" altLang="en-US" sz="2000" dirty="0" err="1">
                <a:latin typeface="Times New Roman" panose="02020603050405020304" pitchFamily="18" charset="0"/>
                <a:cs typeface="Times New Roman" panose="02020603050405020304" pitchFamily="18" charset="0"/>
              </a:rPr>
              <a:t>cette</a:t>
            </a:r>
            <a:r>
              <a:rPr lang="en-US" altLang="en-US" sz="2000" dirty="0">
                <a:latin typeface="Times New Roman" panose="02020603050405020304" pitchFamily="18" charset="0"/>
                <a:cs typeface="Times New Roman" panose="02020603050405020304" pitchFamily="18" charset="0"/>
              </a:rPr>
              <a:t> répartition. </a:t>
            </a:r>
            <a:r>
              <a:rPr lang="en-US" altLang="en-US" sz="2000" dirty="0" err="1">
                <a:latin typeface="Times New Roman" panose="02020603050405020304" pitchFamily="18" charset="0"/>
                <a:cs typeface="Times New Roman" panose="02020603050405020304" pitchFamily="18" charset="0"/>
              </a:rPr>
              <a:t>Cependant</a:t>
            </a:r>
            <a:r>
              <a:rPr lang="en-US" altLang="en-US" sz="2000" dirty="0">
                <a:latin typeface="Times New Roman" panose="02020603050405020304" pitchFamily="18" charset="0"/>
                <a:cs typeface="Times New Roman" panose="02020603050405020304" pitchFamily="18" charset="0"/>
              </a:rPr>
              <a:t>, sans </a:t>
            </a:r>
            <a:r>
              <a:rPr lang="en-US" altLang="en-US" sz="2000" dirty="0" err="1">
                <a:latin typeface="Times New Roman" panose="02020603050405020304" pitchFamily="18" charset="0"/>
                <a:cs typeface="Times New Roman" panose="02020603050405020304" pitchFamily="18" charset="0"/>
              </a:rPr>
              <a:t>outils</a:t>
            </a:r>
            <a:r>
              <a:rPr lang="en-US" altLang="en-US" sz="2000" dirty="0">
                <a:latin typeface="Times New Roman" panose="02020603050405020304" pitchFamily="18" charset="0"/>
                <a:cs typeface="Times New Roman" panose="02020603050405020304" pitchFamily="18" charset="0"/>
              </a:rPr>
              <a:t> de </a:t>
            </a:r>
            <a:r>
              <a:rPr lang="en-US" altLang="en-US" sz="2000" dirty="0" err="1">
                <a:latin typeface="Times New Roman" panose="02020603050405020304" pitchFamily="18" charset="0"/>
                <a:cs typeface="Times New Roman" panose="02020603050405020304" pitchFamily="18" charset="0"/>
              </a:rPr>
              <a:t>visualisation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détaillés</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il</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est</a:t>
            </a:r>
            <a:r>
              <a:rPr lang="en-US" altLang="en-US" sz="2000" dirty="0">
                <a:latin typeface="Times New Roman" panose="02020603050405020304" pitchFamily="18" charset="0"/>
                <a:cs typeface="Times New Roman" panose="02020603050405020304" pitchFamily="18" charset="0"/>
              </a:rPr>
              <a:t> difficile pour les </a:t>
            </a:r>
            <a:r>
              <a:rPr lang="en-US" altLang="en-US" sz="2000" dirty="0" err="1">
                <a:latin typeface="Times New Roman" panose="02020603050405020304" pitchFamily="18" charset="0"/>
                <a:cs typeface="Times New Roman" panose="02020603050405020304" pitchFamily="18" charset="0"/>
              </a:rPr>
              <a:t>administrateurs</a:t>
            </a:r>
            <a:r>
              <a:rPr lang="en-US" altLang="en-US" sz="2000" dirty="0">
                <a:latin typeface="Times New Roman" panose="02020603050405020304" pitchFamily="18" charset="0"/>
                <a:cs typeface="Times New Roman" panose="02020603050405020304" pitchFamily="18" charset="0"/>
              </a:rPr>
              <a:t> et les </a:t>
            </a:r>
            <a:r>
              <a:rPr lang="en-US" altLang="en-US" sz="2000" dirty="0" err="1">
                <a:latin typeface="Times New Roman" panose="02020603050405020304" pitchFamily="18" charset="0"/>
                <a:cs typeface="Times New Roman" panose="02020603050405020304" pitchFamily="18" charset="0"/>
              </a:rPr>
              <a:t>développeurs</a:t>
            </a:r>
            <a:r>
              <a:rPr lang="en-US" altLang="en-US" sz="2000" dirty="0">
                <a:latin typeface="Times New Roman" panose="02020603050405020304" pitchFamily="18" charset="0"/>
                <a:cs typeface="Times New Roman" panose="02020603050405020304" pitchFamily="18" charset="0"/>
              </a:rPr>
              <a:t> de </a:t>
            </a:r>
            <a:r>
              <a:rPr lang="en-US" altLang="en-US" sz="2000" dirty="0" err="1">
                <a:latin typeface="Times New Roman" panose="02020603050405020304" pitchFamily="18" charset="0"/>
                <a:cs typeface="Times New Roman" panose="02020603050405020304" pitchFamily="18" charset="0"/>
              </a:rPr>
              <a:t>déterminer</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si</a:t>
            </a:r>
            <a:r>
              <a:rPr lang="en-US" altLang="en-US" sz="2000" dirty="0">
                <a:latin typeface="Times New Roman" panose="02020603050405020304" pitchFamily="18" charset="0"/>
                <a:cs typeface="Times New Roman" panose="02020603050405020304" pitchFamily="18" charset="0"/>
              </a:rPr>
              <a:t> la charge </a:t>
            </a:r>
            <a:r>
              <a:rPr lang="fr-CM" altLang="en-US" sz="2000" dirty="0" smtClean="0">
                <a:latin typeface="Times New Roman" panose="02020603050405020304" pitchFamily="18" charset="0"/>
                <a:cs typeface="Times New Roman" panose="02020603050405020304" pitchFamily="18" charset="0"/>
              </a:rPr>
              <a:t>est</a:t>
            </a:r>
            <a:r>
              <a:rPr lang="en-US" altLang="en-US" sz="2000" dirty="0" smtClean="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bien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équilibrée</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symétrie</a:t>
            </a:r>
            <a:r>
              <a:rPr lang="en-US" altLang="en-US" sz="2000" dirty="0">
                <a:latin typeface="Times New Roman" panose="02020603050405020304" pitchFamily="18" charset="0"/>
                <a:cs typeface="Times New Roman" panose="02020603050405020304" pitchFamily="18" charset="0"/>
              </a:rPr>
              <a:t> de charge) </a:t>
            </a:r>
            <a:r>
              <a:rPr lang="en-US" altLang="en-US" sz="2000" dirty="0" err="1">
                <a:latin typeface="Times New Roman" panose="02020603050405020304" pitchFamily="18" charset="0"/>
                <a:cs typeface="Times New Roman" panose="02020603050405020304" pitchFamily="18" charset="0"/>
              </a:rPr>
              <a:t>ou</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si</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certains</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processus</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monopolisent</a:t>
            </a:r>
            <a:r>
              <a:rPr lang="en-US" altLang="en-US" sz="2000" dirty="0">
                <a:latin typeface="Times New Roman" panose="02020603050405020304" pitchFamily="18" charset="0"/>
                <a:cs typeface="Times New Roman" panose="02020603050405020304" pitchFamily="18" charset="0"/>
              </a:rPr>
              <a:t> des </a:t>
            </a:r>
            <a:r>
              <a:rPr lang="en-US" altLang="en-US" sz="2000" dirty="0" err="1">
                <a:latin typeface="Times New Roman" panose="02020603050405020304" pitchFamily="18" charset="0"/>
                <a:cs typeface="Times New Roman" panose="02020603050405020304" pitchFamily="18" charset="0"/>
              </a:rPr>
              <a:t>cœurs</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spécifiques</a:t>
            </a:r>
            <a:r>
              <a:rPr lang="en-US" altLang="en-US" sz="2000" dirty="0">
                <a:latin typeface="Times New Roman" panose="02020603050405020304" pitchFamily="18" charset="0"/>
                <a:cs typeface="Times New Roman" panose="02020603050405020304" pitchFamily="18" charset="0"/>
              </a:rPr>
              <a:t>. Des </a:t>
            </a:r>
            <a:r>
              <a:rPr lang="en-US" altLang="en-US" sz="2000" dirty="0" err="1">
                <a:latin typeface="Times New Roman" panose="02020603050405020304" pitchFamily="18" charset="0"/>
                <a:cs typeface="Times New Roman" panose="02020603050405020304" pitchFamily="18" charset="0"/>
              </a:rPr>
              <a:t>outils</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comme</a:t>
            </a:r>
            <a:r>
              <a:rPr lang="en-US" altLang="en-US" sz="2000" dirty="0">
                <a:latin typeface="Times New Roman" panose="02020603050405020304" pitchFamily="18" charset="0"/>
                <a:cs typeface="Times New Roman" panose="02020603050405020304" pitchFamily="18" charset="0"/>
              </a:rPr>
              <a:t> top </a:t>
            </a:r>
            <a:r>
              <a:rPr lang="en-US" altLang="en-US" sz="2000" dirty="0" err="1">
                <a:latin typeface="Times New Roman" panose="02020603050405020304" pitchFamily="18" charset="0"/>
                <a:cs typeface="Times New Roman" panose="02020603050405020304" pitchFamily="18" charset="0"/>
              </a:rPr>
              <a:t>ou</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htop</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fournissent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une</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vue</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globale</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mais</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une</a:t>
            </a:r>
            <a:r>
              <a:rPr lang="en-US" altLang="en-US" sz="2000" dirty="0">
                <a:latin typeface="Times New Roman" panose="02020603050405020304" pitchFamily="18" charset="0"/>
                <a:cs typeface="Times New Roman" panose="02020603050405020304" pitchFamily="18" charset="0"/>
              </a:rPr>
              <a:t> surveillance </a:t>
            </a:r>
            <a:r>
              <a:rPr lang="en-US" altLang="en-US" sz="2000" dirty="0" err="1">
                <a:latin typeface="Times New Roman" panose="02020603050405020304" pitchFamily="18" charset="0"/>
                <a:cs typeface="Times New Roman" panose="02020603050405020304" pitchFamily="18" charset="0"/>
              </a:rPr>
              <a:t>dédiée</a:t>
            </a:r>
            <a:r>
              <a:rPr lang="en-US" altLang="en-US" sz="2000" dirty="0">
                <a:latin typeface="Times New Roman" panose="02020603050405020304" pitchFamily="18" charset="0"/>
                <a:cs typeface="Times New Roman" panose="02020603050405020304" pitchFamily="18" charset="0"/>
              </a:rPr>
              <a:t> et </a:t>
            </a:r>
            <a:r>
              <a:rPr lang="en-US" altLang="en-US" sz="2000" dirty="0" err="1">
                <a:latin typeface="Times New Roman" panose="02020603050405020304" pitchFamily="18" charset="0"/>
                <a:cs typeface="Times New Roman" panose="02020603050405020304" pitchFamily="18" charset="0"/>
              </a:rPr>
              <a:t>persistante</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historique</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est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nécessaire</a:t>
            </a:r>
            <a:r>
              <a:rPr lang="en-US" altLang="en-US" sz="2000" dirty="0">
                <a:latin typeface="Times New Roman" panose="02020603050405020304" pitchFamily="18" charset="0"/>
                <a:cs typeface="Times New Roman" panose="02020603050405020304" pitchFamily="18" charset="0"/>
              </a:rPr>
              <a:t> pour </a:t>
            </a:r>
            <a:r>
              <a:rPr lang="en-US" altLang="en-US" sz="2000" dirty="0" err="1">
                <a:latin typeface="Times New Roman" panose="02020603050405020304" pitchFamily="18" charset="0"/>
                <a:cs typeface="Times New Roman" panose="02020603050405020304" pitchFamily="18" charset="0"/>
              </a:rPr>
              <a:t>l'analyse</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approfondie</a:t>
            </a:r>
            <a:r>
              <a:rPr lang="en-US" altLang="en-US" sz="2000"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80466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 calcmode="lin" valueType="num">
                                      <p:cBhvr>
                                        <p:cTn id="25"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0755" y="2621281"/>
            <a:ext cx="10353761" cy="650240"/>
          </a:xfrm>
        </p:spPr>
        <p:txBody>
          <a:bodyPr>
            <a:normAutofit fontScale="90000"/>
          </a:bodyPr>
          <a:lstStyle/>
          <a:p>
            <a:r>
              <a:rPr lang="fr-FR" sz="4800" dirty="0" smtClean="0"/>
              <a:t>II</a:t>
            </a:r>
            <a:r>
              <a:rPr lang="en-US" sz="4800" dirty="0" smtClean="0"/>
              <a:t>. </a:t>
            </a:r>
            <a:r>
              <a:rPr lang="en-US" sz="5300" dirty="0" smtClean="0"/>
              <a:t>Objectifs</a:t>
            </a:r>
            <a:endParaRPr lang="fr-FR" sz="5300" dirty="0"/>
          </a:p>
        </p:txBody>
      </p:sp>
    </p:spTree>
    <p:extLst>
      <p:ext uri="{BB962C8B-B14F-4D97-AF65-F5344CB8AC3E}">
        <p14:creationId xmlns:p14="http://schemas.microsoft.com/office/powerpoint/2010/main" val="305650125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80321" y="111761"/>
            <a:ext cx="10353761" cy="599439"/>
          </a:xfrm>
        </p:spPr>
        <p:txBody>
          <a:bodyPr/>
          <a:lstStyle/>
          <a:p>
            <a:r>
              <a:rPr lang="fr-FR" dirty="0" smtClean="0"/>
              <a:t>II</a:t>
            </a:r>
            <a:r>
              <a:rPr lang="en-US" dirty="0" smtClean="0"/>
              <a:t>. </a:t>
            </a:r>
            <a:r>
              <a:rPr lang="en-US" dirty="0"/>
              <a:t>Objectifs</a:t>
            </a:r>
            <a:endParaRPr lang="fr-FR" dirty="0"/>
          </a:p>
        </p:txBody>
      </p:sp>
      <p:sp>
        <p:nvSpPr>
          <p:cNvPr id="4" name="ZoneTexte 3"/>
          <p:cNvSpPr txBox="1"/>
          <p:nvPr/>
        </p:nvSpPr>
        <p:spPr>
          <a:xfrm>
            <a:off x="680320" y="411480"/>
            <a:ext cx="10963039" cy="5324535"/>
          </a:xfrm>
          <a:prstGeom prst="rect">
            <a:avLst/>
          </a:prstGeom>
          <a:noFill/>
        </p:spPr>
        <p:txBody>
          <a:bodyPr wrap="square" rtlCol="0">
            <a:spAutoFit/>
          </a:bodyPr>
          <a:lstStyle/>
          <a:p>
            <a:pPr algn="ctr"/>
            <a:endParaRPr lang="en-US" sz="3200" dirty="0" smtClean="0"/>
          </a:p>
          <a:p>
            <a:pPr algn="just">
              <a:lnSpc>
                <a:spcPct val="150000"/>
              </a:lnSpc>
            </a:pPr>
            <a:r>
              <a:rPr lang="en-US" sz="3200" b="1" dirty="0" smtClean="0">
                <a:latin typeface="Times New Roman" panose="02020603050405020304" pitchFamily="18" charset="0"/>
                <a:cs typeface="Times New Roman" panose="02020603050405020304" pitchFamily="18" charset="0"/>
              </a:rPr>
              <a:t>1. </a:t>
            </a:r>
            <a:r>
              <a:rPr lang="en-US" sz="2800" b="1" dirty="0" err="1">
                <a:latin typeface="Times New Roman" panose="02020603050405020304" pitchFamily="18" charset="0"/>
                <a:cs typeface="Times New Roman" panose="02020603050405020304" pitchFamily="18" charset="0"/>
              </a:rPr>
              <a:t>O</a:t>
            </a:r>
            <a:r>
              <a:rPr lang="en-US" sz="2800" b="1" dirty="0" err="1" smtClean="0">
                <a:latin typeface="Times New Roman" panose="02020603050405020304" pitchFamily="18" charset="0"/>
                <a:cs typeface="Times New Roman" panose="02020603050405020304" pitchFamily="18" charset="0"/>
              </a:rPr>
              <a:t>bjectif</a:t>
            </a:r>
            <a:r>
              <a:rPr lang="en-US" sz="2800" b="1" dirty="0" smtClean="0">
                <a:latin typeface="Times New Roman" panose="02020603050405020304" pitchFamily="18" charset="0"/>
                <a:cs typeface="Times New Roman" panose="02020603050405020304" pitchFamily="18" charset="0"/>
              </a:rPr>
              <a:t> g</a:t>
            </a:r>
            <a:r>
              <a:rPr lang="fr-FR" sz="2800" b="1" dirty="0" smtClean="0">
                <a:latin typeface="Times New Roman" panose="02020603050405020304" pitchFamily="18" charset="0"/>
                <a:cs typeface="Times New Roman" panose="02020603050405020304" pitchFamily="18" charset="0"/>
              </a:rPr>
              <a:t>é</a:t>
            </a:r>
            <a:r>
              <a:rPr lang="en-US" sz="2800" b="1" dirty="0" err="1" smtClean="0">
                <a:latin typeface="Times New Roman" panose="02020603050405020304" pitchFamily="18" charset="0"/>
                <a:cs typeface="Times New Roman" panose="02020603050405020304" pitchFamily="18" charset="0"/>
              </a:rPr>
              <a:t>néral</a:t>
            </a:r>
            <a:endParaRPr lang="en-US" sz="2800" b="1" dirty="0" smtClean="0">
              <a:latin typeface="Times New Roman" panose="02020603050405020304" pitchFamily="18" charset="0"/>
              <a:cs typeface="Times New Roman" panose="02020603050405020304" pitchFamily="18" charset="0"/>
            </a:endParaRPr>
          </a:p>
          <a:p>
            <a:pPr algn="just">
              <a:lnSpc>
                <a:spcPct val="150000"/>
              </a:lnSpc>
            </a:pP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fr-FR" sz="2000" dirty="0" smtClean="0">
                <a:latin typeface="Times New Roman" panose="02020603050405020304" pitchFamily="18" charset="0"/>
                <a:cs typeface="Times New Roman" panose="02020603050405020304" pitchFamily="18" charset="0"/>
              </a:rPr>
              <a:t>	L’objectif </a:t>
            </a:r>
            <a:r>
              <a:rPr lang="fr-FR" sz="2000" dirty="0">
                <a:latin typeface="Times New Roman" panose="02020603050405020304" pitchFamily="18" charset="0"/>
                <a:cs typeface="Times New Roman" panose="02020603050405020304" pitchFamily="18" charset="0"/>
              </a:rPr>
              <a:t>général de ce projet est de concevoir un moniteur temps réel qui sera capable de visualiser la répartition des charges et la performance sur plusieurs cœurs de CPU. Il s’agira donc de concevoir un moniteur temps réel de performance multiprocesseur sous </a:t>
            </a:r>
            <a:r>
              <a:rPr lang="fr-FR" sz="2000" dirty="0" err="1">
                <a:latin typeface="Times New Roman" panose="02020603050405020304" pitchFamily="18" charset="0"/>
                <a:cs typeface="Times New Roman" panose="02020603050405020304" pitchFamily="18" charset="0"/>
              </a:rPr>
              <a:t>openSUSE</a:t>
            </a:r>
            <a:r>
              <a:rPr lang="fr-FR" sz="2000" dirty="0">
                <a:latin typeface="Times New Roman" panose="02020603050405020304" pitchFamily="18" charset="0"/>
                <a:cs typeface="Times New Roman" panose="02020603050405020304" pitchFamily="18" charset="0"/>
              </a:rPr>
              <a:t>. Ce moniteur nous permettra de surveiller les performances de chaque cœur d’un processeur. A travers cette initiative, il nous faudra construire un outil logiciel performant capable d’interagir avec les différents cœurs d’un processeur, et tout ceci en temps </a:t>
            </a:r>
            <a:r>
              <a:rPr lang="fr-FR" sz="2000" dirty="0" smtClean="0">
                <a:latin typeface="Times New Roman" panose="02020603050405020304" pitchFamily="18" charset="0"/>
                <a:cs typeface="Times New Roman" panose="02020603050405020304" pitchFamily="18" charset="0"/>
              </a:rPr>
              <a:t>réel.</a:t>
            </a:r>
            <a:endParaRPr lang="en-US" sz="2000" dirty="0" smtClean="0">
              <a:latin typeface="Times New Roman" panose="02020603050405020304" pitchFamily="18" charset="0"/>
              <a:cs typeface="Times New Roman" panose="02020603050405020304" pitchFamily="18" charset="0"/>
            </a:endParaRPr>
          </a:p>
          <a:p>
            <a:pPr algn="just"/>
            <a:endParaRPr lang="en-US" sz="3200" dirty="0" smtClean="0"/>
          </a:p>
          <a:p>
            <a:endParaRPr lang="fr-FR" dirty="0"/>
          </a:p>
        </p:txBody>
      </p:sp>
    </p:spTree>
    <p:extLst>
      <p:ext uri="{BB962C8B-B14F-4D97-AF65-F5344CB8AC3E}">
        <p14:creationId xmlns:p14="http://schemas.microsoft.com/office/powerpoint/2010/main" val="4291684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80">
                                          <p:stCondLst>
                                            <p:cond delay="0"/>
                                          </p:stCondLst>
                                        </p:cTn>
                                        <p:tgtEl>
                                          <p:spTgt spid="4">
                                            <p:txEl>
                                              <p:pRg st="1" end="1"/>
                                            </p:txEl>
                                          </p:spTgt>
                                        </p:tgtEl>
                                      </p:cBhvr>
                                    </p:animEffect>
                                    <p:anim calcmode="lin" valueType="num">
                                      <p:cBhvr>
                                        <p:cTn id="8" dur="1822" tmFilter="0,0; 0.14,0.36; 0.43,0.73; 0.71,0.91; 1.0,1.0">
                                          <p:stCondLst>
                                            <p:cond delay="0"/>
                                          </p:stCondLst>
                                        </p:cTn>
                                        <p:tgtEl>
                                          <p:spTgt spid="4">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xEl>
                                              <p:pRg st="1" end="1"/>
                                            </p:txEl>
                                          </p:spTgt>
                                        </p:tgtEl>
                                      </p:cBhvr>
                                      <p:to x="100000" y="60000"/>
                                    </p:animScale>
                                    <p:animScale>
                                      <p:cBhvr>
                                        <p:cTn id="14" dur="166" decel="50000">
                                          <p:stCondLst>
                                            <p:cond delay="676"/>
                                          </p:stCondLst>
                                        </p:cTn>
                                        <p:tgtEl>
                                          <p:spTgt spid="4">
                                            <p:txEl>
                                              <p:pRg st="1" end="1"/>
                                            </p:txEl>
                                          </p:spTgt>
                                        </p:tgtEl>
                                      </p:cBhvr>
                                      <p:to x="100000" y="100000"/>
                                    </p:animScale>
                                    <p:animScale>
                                      <p:cBhvr>
                                        <p:cTn id="15" dur="26">
                                          <p:stCondLst>
                                            <p:cond delay="1312"/>
                                          </p:stCondLst>
                                        </p:cTn>
                                        <p:tgtEl>
                                          <p:spTgt spid="4">
                                            <p:txEl>
                                              <p:pRg st="1" end="1"/>
                                            </p:txEl>
                                          </p:spTgt>
                                        </p:tgtEl>
                                      </p:cBhvr>
                                      <p:to x="100000" y="80000"/>
                                    </p:animScale>
                                    <p:animScale>
                                      <p:cBhvr>
                                        <p:cTn id="16" dur="166" decel="50000">
                                          <p:stCondLst>
                                            <p:cond delay="1338"/>
                                          </p:stCondLst>
                                        </p:cTn>
                                        <p:tgtEl>
                                          <p:spTgt spid="4">
                                            <p:txEl>
                                              <p:pRg st="1" end="1"/>
                                            </p:txEl>
                                          </p:spTgt>
                                        </p:tgtEl>
                                      </p:cBhvr>
                                      <p:to x="100000" y="100000"/>
                                    </p:animScale>
                                    <p:animScale>
                                      <p:cBhvr>
                                        <p:cTn id="17" dur="26">
                                          <p:stCondLst>
                                            <p:cond delay="1642"/>
                                          </p:stCondLst>
                                        </p:cTn>
                                        <p:tgtEl>
                                          <p:spTgt spid="4">
                                            <p:txEl>
                                              <p:pRg st="1" end="1"/>
                                            </p:txEl>
                                          </p:spTgt>
                                        </p:tgtEl>
                                      </p:cBhvr>
                                      <p:to x="100000" y="90000"/>
                                    </p:animScale>
                                    <p:animScale>
                                      <p:cBhvr>
                                        <p:cTn id="18" dur="166" decel="50000">
                                          <p:stCondLst>
                                            <p:cond delay="1668"/>
                                          </p:stCondLst>
                                        </p:cTn>
                                        <p:tgtEl>
                                          <p:spTgt spid="4">
                                            <p:txEl>
                                              <p:pRg st="1" end="1"/>
                                            </p:txEl>
                                          </p:spTgt>
                                        </p:tgtEl>
                                      </p:cBhvr>
                                      <p:to x="100000" y="100000"/>
                                    </p:animScale>
                                    <p:animScale>
                                      <p:cBhvr>
                                        <p:cTn id="19" dur="26">
                                          <p:stCondLst>
                                            <p:cond delay="1808"/>
                                          </p:stCondLst>
                                        </p:cTn>
                                        <p:tgtEl>
                                          <p:spTgt spid="4">
                                            <p:txEl>
                                              <p:pRg st="1" end="1"/>
                                            </p:txEl>
                                          </p:spTgt>
                                        </p:tgtEl>
                                      </p:cBhvr>
                                      <p:to x="100000" y="95000"/>
                                    </p:animScale>
                                    <p:animScale>
                                      <p:cBhvr>
                                        <p:cTn id="20" dur="166" decel="50000">
                                          <p:stCondLst>
                                            <p:cond delay="1834"/>
                                          </p:stCondLst>
                                        </p:cTn>
                                        <p:tgtEl>
                                          <p:spTgt spid="4">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p:cTn id="25" dur="10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6" dur="1000" fill="hold"/>
                                        <p:tgtEl>
                                          <p:spTgt spid="4">
                                            <p:txEl>
                                              <p:pRg st="3" end="3"/>
                                            </p:txEl>
                                          </p:spTgt>
                                        </p:tgtEl>
                                        <p:attrNameLst>
                                          <p:attrName>ppt_h</p:attrName>
                                        </p:attrNameLst>
                                      </p:cBhvr>
                                      <p:tavLst>
                                        <p:tav tm="0">
                                          <p:val>
                                            <p:fltVal val="0"/>
                                          </p:val>
                                        </p:tav>
                                        <p:tav tm="100000">
                                          <p:val>
                                            <p:strVal val="#ppt_h"/>
                                          </p:val>
                                        </p:tav>
                                      </p:tavLst>
                                    </p:anim>
                                    <p:anim calcmode="lin" valueType="num">
                                      <p:cBhvr>
                                        <p:cTn id="27" dur="1000" fill="hold"/>
                                        <p:tgtEl>
                                          <p:spTgt spid="4">
                                            <p:txEl>
                                              <p:pRg st="3" end="3"/>
                                            </p:txEl>
                                          </p:spTgt>
                                        </p:tgtEl>
                                        <p:attrNameLst>
                                          <p:attrName>style.rotation</p:attrName>
                                        </p:attrNameLst>
                                      </p:cBhvr>
                                      <p:tavLst>
                                        <p:tav tm="0">
                                          <p:val>
                                            <p:fltVal val="90"/>
                                          </p:val>
                                        </p:tav>
                                        <p:tav tm="100000">
                                          <p:val>
                                            <p:fltVal val="0"/>
                                          </p:val>
                                        </p:tav>
                                      </p:tavLst>
                                    </p:anim>
                                    <p:animEffect transition="in" filter="fade">
                                      <p:cBhvr>
                                        <p:cTn id="28"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44275" y="0"/>
            <a:ext cx="10353761" cy="924560"/>
          </a:xfrm>
        </p:spPr>
        <p:txBody>
          <a:bodyPr/>
          <a:lstStyle/>
          <a:p>
            <a:r>
              <a:rPr lang="fr-FR" dirty="0" smtClean="0"/>
              <a:t>II</a:t>
            </a:r>
            <a:r>
              <a:rPr lang="en-US" dirty="0" smtClean="0"/>
              <a:t>. Objectifs</a:t>
            </a:r>
            <a:endParaRPr lang="fr-FR" dirty="0"/>
          </a:p>
        </p:txBody>
      </p:sp>
      <p:sp>
        <p:nvSpPr>
          <p:cNvPr id="4" name="ZoneTexte 3"/>
          <p:cNvSpPr txBox="1"/>
          <p:nvPr/>
        </p:nvSpPr>
        <p:spPr>
          <a:xfrm>
            <a:off x="1147681" y="924560"/>
            <a:ext cx="9252782" cy="4555093"/>
          </a:xfrm>
          <a:prstGeom prst="rect">
            <a:avLst/>
          </a:prstGeom>
          <a:noFill/>
        </p:spPr>
        <p:txBody>
          <a:bodyPr wrap="square" rtlCol="0">
            <a:spAutoFit/>
          </a:bodyPr>
          <a:lstStyle/>
          <a:p>
            <a:pPr algn="just">
              <a:lnSpc>
                <a:spcPct val="150000"/>
              </a:lnSpc>
            </a:pPr>
            <a:r>
              <a:rPr lang="en-US" sz="3200" b="1" dirty="0" smtClean="0">
                <a:latin typeface="Times New Roman" panose="02020603050405020304" pitchFamily="18" charset="0"/>
                <a:cs typeface="Times New Roman" panose="02020603050405020304" pitchFamily="18" charset="0"/>
              </a:rPr>
              <a:t>2. </a:t>
            </a:r>
            <a:r>
              <a:rPr lang="en-US" sz="3200" b="1" dirty="0" err="1" smtClean="0">
                <a:latin typeface="Times New Roman" panose="02020603050405020304" pitchFamily="18" charset="0"/>
                <a:cs typeface="Times New Roman" panose="02020603050405020304" pitchFamily="18" charset="0"/>
              </a:rPr>
              <a:t>Objectifs</a:t>
            </a:r>
            <a:r>
              <a:rPr lang="en-US" sz="3200" b="1" dirty="0" smtClean="0">
                <a:latin typeface="Times New Roman" panose="02020603050405020304" pitchFamily="18" charset="0"/>
                <a:cs typeface="Times New Roman" panose="02020603050405020304" pitchFamily="18" charset="0"/>
              </a:rPr>
              <a:t> </a:t>
            </a:r>
            <a:r>
              <a:rPr lang="en-US" sz="3200" b="1" dirty="0" err="1" smtClean="0">
                <a:latin typeface="Times New Roman" panose="02020603050405020304" pitchFamily="18" charset="0"/>
                <a:cs typeface="Times New Roman" panose="02020603050405020304" pitchFamily="18" charset="0"/>
              </a:rPr>
              <a:t>spécifiques</a:t>
            </a:r>
            <a:endParaRPr lang="en-US" sz="3200" b="1" dirty="0" smtClean="0">
              <a:latin typeface="Times New Roman" panose="02020603050405020304" pitchFamily="18" charset="0"/>
              <a:cs typeface="Times New Roman" panose="02020603050405020304" pitchFamily="18" charset="0"/>
            </a:endParaRPr>
          </a:p>
          <a:p>
            <a:pPr algn="just">
              <a:lnSpc>
                <a:spcPct val="150000"/>
              </a:lnSpc>
            </a:pPr>
            <a:endParaRPr lang="en-US" sz="3200" dirty="0" smtClean="0"/>
          </a:p>
          <a:p>
            <a:pPr marL="285750" lvl="0" indent="-285750">
              <a:lnSpc>
                <a:spcPct val="200000"/>
              </a:lnSpc>
              <a:buFont typeface="Wingdings" panose="05000000000000000000" pitchFamily="2" charset="2"/>
              <a:buChar char="q"/>
            </a:pPr>
            <a:r>
              <a:rPr lang="fr-FR" dirty="0" smtClean="0">
                <a:latin typeface="Times New Roman" panose="02020603050405020304" pitchFamily="18" charset="0"/>
                <a:cs typeface="Times New Roman" panose="02020603050405020304" pitchFamily="18" charset="0"/>
              </a:rPr>
              <a:t>visualisation </a:t>
            </a:r>
            <a:r>
              <a:rPr lang="fr-FR" dirty="0">
                <a:latin typeface="Times New Roman" panose="02020603050405020304" pitchFamily="18" charset="0"/>
                <a:cs typeface="Times New Roman" panose="02020603050405020304" pitchFamily="18" charset="0"/>
              </a:rPr>
              <a:t>des performances des cœurs du processeur </a:t>
            </a:r>
            <a:r>
              <a:rPr lang="fr-FR" dirty="0" smtClean="0">
                <a:latin typeface="Times New Roman" panose="02020603050405020304" pitchFamily="18" charset="0"/>
                <a:cs typeface="Times New Roman" panose="02020603050405020304" pitchFamily="18" charset="0"/>
              </a:rPr>
              <a:t>;</a:t>
            </a:r>
          </a:p>
          <a:p>
            <a:pPr marL="285750" lvl="0" indent="-285750">
              <a:lnSpc>
                <a:spcPct val="200000"/>
              </a:lnSpc>
              <a:buFont typeface="Wingdings" panose="05000000000000000000" pitchFamily="2" charset="2"/>
              <a:buChar char="q"/>
            </a:pPr>
            <a:r>
              <a:rPr lang="fr-FR" dirty="0" err="1" smtClean="0">
                <a:latin typeface="Times New Roman" panose="02020603050405020304" pitchFamily="18" charset="0"/>
                <a:cs typeface="Times New Roman" panose="02020603050405020304" pitchFamily="18" charset="0"/>
              </a:rPr>
              <a:t>Récupéreration</a:t>
            </a:r>
            <a:r>
              <a:rPr lang="fr-FR" dirty="0" smtClean="0">
                <a:latin typeface="Times New Roman" panose="02020603050405020304" pitchFamily="18" charset="0"/>
                <a:cs typeface="Times New Roman" panose="02020603050405020304" pitchFamily="18" charset="0"/>
              </a:rPr>
              <a:t> des </a:t>
            </a:r>
            <a:r>
              <a:rPr lang="fr-FR" dirty="0">
                <a:latin typeface="Times New Roman" panose="02020603050405020304" pitchFamily="18" charset="0"/>
                <a:cs typeface="Times New Roman" panose="02020603050405020304" pitchFamily="18" charset="0"/>
              </a:rPr>
              <a:t>données de répartition des charges à afficher sur le Dashboard </a:t>
            </a:r>
            <a:r>
              <a:rPr lang="fr-FR" dirty="0" smtClean="0">
                <a:latin typeface="Times New Roman" panose="02020603050405020304" pitchFamily="18" charset="0"/>
                <a:cs typeface="Times New Roman" panose="02020603050405020304" pitchFamily="18" charset="0"/>
              </a:rPr>
              <a:t>;</a:t>
            </a:r>
          </a:p>
          <a:p>
            <a:pPr marL="285750" lvl="0" indent="-285750">
              <a:lnSpc>
                <a:spcPct val="200000"/>
              </a:lnSpc>
              <a:buFont typeface="Wingdings" panose="05000000000000000000" pitchFamily="2" charset="2"/>
              <a:buChar char="q"/>
            </a:pPr>
            <a:r>
              <a:rPr lang="fr-FR" dirty="0" smtClean="0">
                <a:latin typeface="Times New Roman" panose="02020603050405020304" pitchFamily="18" charset="0"/>
                <a:cs typeface="Times New Roman" panose="02020603050405020304" pitchFamily="18" charset="0"/>
              </a:rPr>
              <a:t>visualisation </a:t>
            </a:r>
            <a:r>
              <a:rPr lang="fr-FR" dirty="0">
                <a:latin typeface="Times New Roman" panose="02020603050405020304" pitchFamily="18" charset="0"/>
                <a:cs typeface="Times New Roman" panose="02020603050405020304" pitchFamily="18" charset="0"/>
              </a:rPr>
              <a:t>la quantité de travail de chaque cœur du processeur en temps réel </a:t>
            </a:r>
            <a:r>
              <a:rPr lang="fr-FR" dirty="0" smtClean="0">
                <a:latin typeface="Times New Roman" panose="02020603050405020304" pitchFamily="18" charset="0"/>
                <a:cs typeface="Times New Roman" panose="02020603050405020304" pitchFamily="18" charset="0"/>
              </a:rPr>
              <a:t>;</a:t>
            </a:r>
          </a:p>
          <a:p>
            <a:pPr marL="285750" lvl="0" indent="-285750">
              <a:lnSpc>
                <a:spcPct val="200000"/>
              </a:lnSpc>
              <a:buFont typeface="Wingdings" panose="05000000000000000000" pitchFamily="2" charset="2"/>
              <a:buChar char="q"/>
            </a:pPr>
            <a:r>
              <a:rPr lang="fr-FR" dirty="0" smtClean="0">
                <a:latin typeface="Times New Roman" panose="02020603050405020304" pitchFamily="18" charset="0"/>
                <a:cs typeface="Times New Roman" panose="02020603050405020304" pitchFamily="18" charset="0"/>
              </a:rPr>
              <a:t>Surveillance </a:t>
            </a:r>
            <a:r>
              <a:rPr lang="fr-FR" dirty="0">
                <a:latin typeface="Times New Roman" panose="02020603050405020304" pitchFamily="18" charset="0"/>
                <a:cs typeface="Times New Roman" panose="02020603050405020304" pitchFamily="18" charset="0"/>
              </a:rPr>
              <a:t>l’activité des cœurs du processeur.</a:t>
            </a:r>
          </a:p>
          <a:p>
            <a:pPr algn="just"/>
            <a:endParaRPr lang="en-US" sz="3200" dirty="0" smtClean="0"/>
          </a:p>
          <a:p>
            <a:endParaRPr lang="fr-FR" dirty="0"/>
          </a:p>
        </p:txBody>
      </p:sp>
    </p:spTree>
    <p:extLst>
      <p:ext uri="{BB962C8B-B14F-4D97-AF65-F5344CB8AC3E}">
        <p14:creationId xmlns:p14="http://schemas.microsoft.com/office/powerpoint/2010/main" val="21796156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80">
                                          <p:stCondLst>
                                            <p:cond delay="0"/>
                                          </p:stCondLst>
                                        </p:cTn>
                                        <p:tgtEl>
                                          <p:spTgt spid="4">
                                            <p:txEl>
                                              <p:pRg st="0" end="0"/>
                                            </p:txEl>
                                          </p:spTgt>
                                        </p:tgtEl>
                                      </p:cBhvr>
                                    </p:animEffect>
                                    <p:anim calcmode="lin" valueType="num">
                                      <p:cBhvr>
                                        <p:cTn id="8"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xEl>
                                              <p:pRg st="0" end="0"/>
                                            </p:txEl>
                                          </p:spTgt>
                                        </p:tgtEl>
                                      </p:cBhvr>
                                      <p:to x="100000" y="60000"/>
                                    </p:animScale>
                                    <p:animScale>
                                      <p:cBhvr>
                                        <p:cTn id="14" dur="166" decel="50000">
                                          <p:stCondLst>
                                            <p:cond delay="676"/>
                                          </p:stCondLst>
                                        </p:cTn>
                                        <p:tgtEl>
                                          <p:spTgt spid="4">
                                            <p:txEl>
                                              <p:pRg st="0" end="0"/>
                                            </p:txEl>
                                          </p:spTgt>
                                        </p:tgtEl>
                                      </p:cBhvr>
                                      <p:to x="100000" y="100000"/>
                                    </p:animScale>
                                    <p:animScale>
                                      <p:cBhvr>
                                        <p:cTn id="15" dur="26">
                                          <p:stCondLst>
                                            <p:cond delay="1312"/>
                                          </p:stCondLst>
                                        </p:cTn>
                                        <p:tgtEl>
                                          <p:spTgt spid="4">
                                            <p:txEl>
                                              <p:pRg st="0" end="0"/>
                                            </p:txEl>
                                          </p:spTgt>
                                        </p:tgtEl>
                                      </p:cBhvr>
                                      <p:to x="100000" y="80000"/>
                                    </p:animScale>
                                    <p:animScale>
                                      <p:cBhvr>
                                        <p:cTn id="16" dur="166" decel="50000">
                                          <p:stCondLst>
                                            <p:cond delay="1338"/>
                                          </p:stCondLst>
                                        </p:cTn>
                                        <p:tgtEl>
                                          <p:spTgt spid="4">
                                            <p:txEl>
                                              <p:pRg st="0" end="0"/>
                                            </p:txEl>
                                          </p:spTgt>
                                        </p:tgtEl>
                                      </p:cBhvr>
                                      <p:to x="100000" y="100000"/>
                                    </p:animScale>
                                    <p:animScale>
                                      <p:cBhvr>
                                        <p:cTn id="17" dur="26">
                                          <p:stCondLst>
                                            <p:cond delay="1642"/>
                                          </p:stCondLst>
                                        </p:cTn>
                                        <p:tgtEl>
                                          <p:spTgt spid="4">
                                            <p:txEl>
                                              <p:pRg st="0" end="0"/>
                                            </p:txEl>
                                          </p:spTgt>
                                        </p:tgtEl>
                                      </p:cBhvr>
                                      <p:to x="100000" y="90000"/>
                                    </p:animScale>
                                    <p:animScale>
                                      <p:cBhvr>
                                        <p:cTn id="18" dur="166" decel="50000">
                                          <p:stCondLst>
                                            <p:cond delay="1668"/>
                                          </p:stCondLst>
                                        </p:cTn>
                                        <p:tgtEl>
                                          <p:spTgt spid="4">
                                            <p:txEl>
                                              <p:pRg st="0" end="0"/>
                                            </p:txEl>
                                          </p:spTgt>
                                        </p:tgtEl>
                                      </p:cBhvr>
                                      <p:to x="100000" y="100000"/>
                                    </p:animScale>
                                    <p:animScale>
                                      <p:cBhvr>
                                        <p:cTn id="19" dur="26">
                                          <p:stCondLst>
                                            <p:cond delay="1808"/>
                                          </p:stCondLst>
                                        </p:cTn>
                                        <p:tgtEl>
                                          <p:spTgt spid="4">
                                            <p:txEl>
                                              <p:pRg st="0" end="0"/>
                                            </p:txEl>
                                          </p:spTgt>
                                        </p:tgtEl>
                                      </p:cBhvr>
                                      <p:to x="100000" y="95000"/>
                                    </p:animScale>
                                    <p:animScale>
                                      <p:cBhvr>
                                        <p:cTn id="20" dur="166" decel="50000">
                                          <p:stCondLst>
                                            <p:cond delay="1834"/>
                                          </p:stCondLst>
                                        </p:cTn>
                                        <p:tgtEl>
                                          <p:spTgt spid="4">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500"/>
                                        <p:tgtEl>
                                          <p:spTgt spid="4">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fade">
                                      <p:cBhvr>
                                        <p:cTn id="30" dur="5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500"/>
                                        <p:tgtEl>
                                          <p:spTgt spid="4">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animEffect transition="in" filter="fade">
                                      <p:cBhvr>
                                        <p:cTn id="40"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995680" y="3083560"/>
            <a:ext cx="10052368" cy="800100"/>
          </a:xfrm>
        </p:spPr>
        <p:txBody>
          <a:bodyPr>
            <a:normAutofit fontScale="90000"/>
          </a:bodyPr>
          <a:lstStyle/>
          <a:p>
            <a:pPr>
              <a:lnSpc>
                <a:spcPct val="150000"/>
              </a:lnSpc>
            </a:pPr>
            <a:r>
              <a:rPr lang="en-US" dirty="0" smtClean="0"/>
              <a:t>III. EXPRESSIONS DES BESOINS UTILISATEURS</a:t>
            </a:r>
            <a:endParaRPr lang="fr-FR" dirty="0"/>
          </a:p>
        </p:txBody>
      </p:sp>
    </p:spTree>
    <p:extLst>
      <p:ext uri="{BB962C8B-B14F-4D97-AF65-F5344CB8AC3E}">
        <p14:creationId xmlns:p14="http://schemas.microsoft.com/office/powerpoint/2010/main" val="425639193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26161" y="194428"/>
            <a:ext cx="9982200" cy="1080938"/>
          </a:xfrm>
        </p:spPr>
        <p:txBody>
          <a:bodyPr/>
          <a:lstStyle/>
          <a:p>
            <a:r>
              <a:rPr lang="en-US" dirty="0" smtClean="0"/>
              <a:t>III. EXPRESSIONS DES BESOINS UTILISATEURS</a:t>
            </a:r>
            <a:endParaRPr lang="fr-FR" dirty="0"/>
          </a:p>
        </p:txBody>
      </p:sp>
      <p:sp>
        <p:nvSpPr>
          <p:cNvPr id="4" name="ZoneTexte 3"/>
          <p:cNvSpPr txBox="1"/>
          <p:nvPr/>
        </p:nvSpPr>
        <p:spPr>
          <a:xfrm>
            <a:off x="1447800" y="2657642"/>
            <a:ext cx="10038079" cy="3493264"/>
          </a:xfrm>
          <a:prstGeom prst="rect">
            <a:avLst/>
          </a:prstGeom>
          <a:noFill/>
        </p:spPr>
        <p:txBody>
          <a:bodyPr wrap="square" rtlCol="0">
            <a:spAutoFit/>
          </a:bodyPr>
          <a:lstStyle/>
          <a:p>
            <a:pPr algn="ctr"/>
            <a:endParaRPr lang="en-US" dirty="0" smtClean="0"/>
          </a:p>
          <a:p>
            <a:pPr algn="just"/>
            <a:r>
              <a:rPr lang="fr-FR" dirty="0"/>
              <a:t>La conception de notre moniteur doit répondre aux besoins suivants </a:t>
            </a:r>
            <a:r>
              <a:rPr lang="fr-FR" dirty="0" smtClean="0"/>
              <a:t>:</a:t>
            </a:r>
          </a:p>
          <a:p>
            <a:pPr algn="just">
              <a:lnSpc>
                <a:spcPct val="150000"/>
              </a:lnSpc>
            </a:pPr>
            <a:endParaRPr lang="fr-FR" dirty="0"/>
          </a:p>
          <a:p>
            <a:pPr marL="285750" lvl="0" indent="-285750" algn="just">
              <a:lnSpc>
                <a:spcPct val="150000"/>
              </a:lnSpc>
              <a:buFont typeface="Wingdings" panose="05000000000000000000" pitchFamily="2" charset="2"/>
              <a:buChar char="q"/>
            </a:pPr>
            <a:r>
              <a:rPr lang="fr-FR" dirty="0"/>
              <a:t>La </a:t>
            </a:r>
            <a:r>
              <a:rPr lang="fr-FR" dirty="0" smtClean="0"/>
              <a:t>visualisation en Temps </a:t>
            </a:r>
            <a:r>
              <a:rPr lang="fr-FR" dirty="0"/>
              <a:t>Réel de l'Utilisation par Cœur </a:t>
            </a:r>
            <a:r>
              <a:rPr lang="fr-FR" dirty="0" smtClean="0"/>
              <a:t>;</a:t>
            </a:r>
          </a:p>
          <a:p>
            <a:pPr marL="285750" lvl="0" indent="-285750" algn="just">
              <a:lnSpc>
                <a:spcPct val="150000"/>
              </a:lnSpc>
              <a:buFont typeface="Wingdings" panose="05000000000000000000" pitchFamily="2" charset="2"/>
              <a:buChar char="q"/>
            </a:pPr>
            <a:r>
              <a:rPr lang="fr-FR" dirty="0" smtClean="0"/>
              <a:t>La </a:t>
            </a:r>
            <a:r>
              <a:rPr lang="fr-FR" dirty="0"/>
              <a:t>surveillance de la quantité de travail des cœurs du processeur </a:t>
            </a:r>
            <a:r>
              <a:rPr lang="fr-FR" dirty="0" smtClean="0"/>
              <a:t>;</a:t>
            </a:r>
          </a:p>
          <a:p>
            <a:pPr marL="285750" lvl="0" indent="-285750" algn="just">
              <a:lnSpc>
                <a:spcPct val="150000"/>
              </a:lnSpc>
              <a:buFont typeface="Wingdings" panose="05000000000000000000" pitchFamily="2" charset="2"/>
              <a:buChar char="q"/>
            </a:pPr>
            <a:r>
              <a:rPr lang="fr-FR" dirty="0" smtClean="0"/>
              <a:t>Le </a:t>
            </a:r>
            <a:r>
              <a:rPr lang="fr-FR" dirty="0"/>
              <a:t>diagnostic des cœurs du processeur </a:t>
            </a:r>
            <a:r>
              <a:rPr lang="fr-FR" dirty="0" smtClean="0"/>
              <a:t>;</a:t>
            </a:r>
          </a:p>
          <a:p>
            <a:pPr marL="285750" lvl="0" indent="-285750" algn="just">
              <a:lnSpc>
                <a:spcPct val="150000"/>
              </a:lnSpc>
              <a:buFont typeface="Wingdings" panose="05000000000000000000" pitchFamily="2" charset="2"/>
              <a:buChar char="q"/>
            </a:pPr>
            <a:r>
              <a:rPr lang="en-US" dirty="0"/>
              <a:t>Identification des </a:t>
            </a:r>
            <a:r>
              <a:rPr lang="en-US" dirty="0" err="1"/>
              <a:t>Cœurs</a:t>
            </a:r>
            <a:r>
              <a:rPr lang="fr-FR" dirty="0" smtClean="0"/>
              <a:t>.</a:t>
            </a:r>
          </a:p>
          <a:p>
            <a:pPr algn="just"/>
            <a:endParaRPr lang="en-US" sz="3200" dirty="0" smtClean="0"/>
          </a:p>
          <a:p>
            <a:endParaRPr lang="fr-FR" dirty="0"/>
          </a:p>
        </p:txBody>
      </p:sp>
      <p:sp>
        <p:nvSpPr>
          <p:cNvPr id="3" name="ZoneTexte 2"/>
          <p:cNvSpPr txBox="1"/>
          <p:nvPr/>
        </p:nvSpPr>
        <p:spPr>
          <a:xfrm>
            <a:off x="731519" y="1399682"/>
            <a:ext cx="11043920" cy="872034"/>
          </a:xfrm>
          <a:prstGeom prst="rect">
            <a:avLst/>
          </a:prstGeom>
          <a:noFill/>
        </p:spPr>
        <p:txBody>
          <a:bodyPr wrap="square" rtlCol="0">
            <a:spAutoFit/>
          </a:bodyPr>
          <a:lstStyle/>
          <a:p>
            <a:pPr>
              <a:lnSpc>
                <a:spcPct val="150000"/>
              </a:lnSpc>
            </a:pPr>
            <a:r>
              <a:rPr lang="fr-CM" dirty="0" smtClean="0"/>
              <a:t>	Lorsque nous parlons des besoins ici, il s’agit des différentes fonctionnalités liées au tableau de bord web que nous devons réaliser. Il s’agit entre autre de: </a:t>
            </a:r>
            <a:endParaRPr lang="fr-CM" dirty="0"/>
          </a:p>
        </p:txBody>
      </p:sp>
      <p:sp>
        <p:nvSpPr>
          <p:cNvPr id="5" name="ZoneTexte 4"/>
          <p:cNvSpPr txBox="1"/>
          <p:nvPr/>
        </p:nvSpPr>
        <p:spPr>
          <a:xfrm>
            <a:off x="1447800" y="2396032"/>
            <a:ext cx="5521960" cy="523220"/>
          </a:xfrm>
          <a:prstGeom prst="rect">
            <a:avLst/>
          </a:prstGeom>
          <a:noFill/>
        </p:spPr>
        <p:txBody>
          <a:bodyPr wrap="square" rtlCol="0">
            <a:spAutoFit/>
          </a:bodyPr>
          <a:lstStyle/>
          <a:p>
            <a:r>
              <a:rPr lang="fr-CM" sz="2800" b="1" dirty="0" smtClean="0">
                <a:latin typeface="Times New Roman" panose="02020603050405020304" pitchFamily="18" charset="0"/>
                <a:cs typeface="Times New Roman" panose="02020603050405020304" pitchFamily="18" charset="0"/>
              </a:rPr>
              <a:t>1. Besoins Fonctionnels </a:t>
            </a:r>
            <a:endParaRPr lang="fr-CM"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46217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80">
                                          <p:stCondLst>
                                            <p:cond delay="0"/>
                                          </p:stCondLst>
                                        </p:cTn>
                                        <p:tgtEl>
                                          <p:spTgt spid="5"/>
                                        </p:tgtEl>
                                      </p:cBhvr>
                                    </p:animEffect>
                                    <p:anim calcmode="lin" valueType="num">
                                      <p:cBhvr>
                                        <p:cTn id="13"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8" dur="26">
                                          <p:stCondLst>
                                            <p:cond delay="650"/>
                                          </p:stCondLst>
                                        </p:cTn>
                                        <p:tgtEl>
                                          <p:spTgt spid="5"/>
                                        </p:tgtEl>
                                      </p:cBhvr>
                                      <p:to x="100000" y="60000"/>
                                    </p:animScale>
                                    <p:animScale>
                                      <p:cBhvr>
                                        <p:cTn id="19" dur="166" decel="50000">
                                          <p:stCondLst>
                                            <p:cond delay="676"/>
                                          </p:stCondLst>
                                        </p:cTn>
                                        <p:tgtEl>
                                          <p:spTgt spid="5"/>
                                        </p:tgtEl>
                                      </p:cBhvr>
                                      <p:to x="100000" y="100000"/>
                                    </p:animScale>
                                    <p:animScale>
                                      <p:cBhvr>
                                        <p:cTn id="20" dur="26">
                                          <p:stCondLst>
                                            <p:cond delay="1312"/>
                                          </p:stCondLst>
                                        </p:cTn>
                                        <p:tgtEl>
                                          <p:spTgt spid="5"/>
                                        </p:tgtEl>
                                      </p:cBhvr>
                                      <p:to x="100000" y="80000"/>
                                    </p:animScale>
                                    <p:animScale>
                                      <p:cBhvr>
                                        <p:cTn id="21" dur="166" decel="50000">
                                          <p:stCondLst>
                                            <p:cond delay="1338"/>
                                          </p:stCondLst>
                                        </p:cTn>
                                        <p:tgtEl>
                                          <p:spTgt spid="5"/>
                                        </p:tgtEl>
                                      </p:cBhvr>
                                      <p:to x="100000" y="100000"/>
                                    </p:animScale>
                                    <p:animScale>
                                      <p:cBhvr>
                                        <p:cTn id="22" dur="26">
                                          <p:stCondLst>
                                            <p:cond delay="1642"/>
                                          </p:stCondLst>
                                        </p:cTn>
                                        <p:tgtEl>
                                          <p:spTgt spid="5"/>
                                        </p:tgtEl>
                                      </p:cBhvr>
                                      <p:to x="100000" y="90000"/>
                                    </p:animScale>
                                    <p:animScale>
                                      <p:cBhvr>
                                        <p:cTn id="23" dur="166" decel="50000">
                                          <p:stCondLst>
                                            <p:cond delay="1668"/>
                                          </p:stCondLst>
                                        </p:cTn>
                                        <p:tgtEl>
                                          <p:spTgt spid="5"/>
                                        </p:tgtEl>
                                      </p:cBhvr>
                                      <p:to x="100000" y="100000"/>
                                    </p:animScale>
                                    <p:animScale>
                                      <p:cBhvr>
                                        <p:cTn id="24" dur="26">
                                          <p:stCondLst>
                                            <p:cond delay="1808"/>
                                          </p:stCondLst>
                                        </p:cTn>
                                        <p:tgtEl>
                                          <p:spTgt spid="5"/>
                                        </p:tgtEl>
                                      </p:cBhvr>
                                      <p:to x="100000" y="95000"/>
                                    </p:animScale>
                                    <p:animScale>
                                      <p:cBhvr>
                                        <p:cTn id="25" dur="166" decel="50000">
                                          <p:stCondLst>
                                            <p:cond delay="1834"/>
                                          </p:stCondLst>
                                        </p:cTn>
                                        <p:tgtEl>
                                          <p:spTgt spid="5"/>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fade">
                                      <p:cBhvr>
                                        <p:cTn id="30" dur="500"/>
                                        <p:tgtEl>
                                          <p:spTgt spid="4">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5" presetClass="entr" presetSubtype="0"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2000"/>
                                        <p:tgtEl>
                                          <p:spTgt spid="4">
                                            <p:txEl>
                                              <p:pRg st="3" end="3"/>
                                            </p:txEl>
                                          </p:spTgt>
                                        </p:tgtEl>
                                      </p:cBhvr>
                                    </p:animEffect>
                                    <p:anim calcmode="lin" valueType="num">
                                      <p:cBhvr>
                                        <p:cTn id="36" dur="2000" fill="hold"/>
                                        <p:tgtEl>
                                          <p:spTgt spid="4">
                                            <p:txEl>
                                              <p:pRg st="3" end="3"/>
                                            </p:txEl>
                                          </p:spTgt>
                                        </p:tgtEl>
                                        <p:attrNameLst>
                                          <p:attrName>ppt_w</p:attrName>
                                        </p:attrNameLst>
                                      </p:cBhvr>
                                      <p:tavLst>
                                        <p:tav tm="0" fmla="#ppt_w*sin(2.5*pi*$)">
                                          <p:val>
                                            <p:fltVal val="0"/>
                                          </p:val>
                                        </p:tav>
                                        <p:tav tm="100000">
                                          <p:val>
                                            <p:fltVal val="1"/>
                                          </p:val>
                                        </p:tav>
                                      </p:tavLst>
                                    </p:anim>
                                    <p:anim calcmode="lin" valueType="num">
                                      <p:cBhvr>
                                        <p:cTn id="37" dur="2000" fill="hold"/>
                                        <p:tgtEl>
                                          <p:spTgt spid="4">
                                            <p:txEl>
                                              <p:pRg st="3" end="3"/>
                                            </p:txEl>
                                          </p:spTgt>
                                        </p:tgtEl>
                                        <p:attrNameLst>
                                          <p:attrName>ppt_h</p:attrName>
                                        </p:attrNameLst>
                                      </p:cBhvr>
                                      <p:tavLst>
                                        <p:tav tm="0">
                                          <p:val>
                                            <p:strVal val="#ppt_h"/>
                                          </p:val>
                                        </p:tav>
                                        <p:tav tm="100000">
                                          <p:val>
                                            <p:strVal val="#ppt_h"/>
                                          </p:val>
                                        </p:tav>
                                      </p:tavLst>
                                    </p:anim>
                                  </p:childTnLst>
                                </p:cTn>
                              </p:par>
                              <p:par>
                                <p:cTn id="38" presetID="45" presetClass="entr" presetSubtype="0" fill="hold" nodeType="withEffect">
                                  <p:stCondLst>
                                    <p:cond delay="0"/>
                                  </p:stCondLst>
                                  <p:childTnLst>
                                    <p:set>
                                      <p:cBhvr>
                                        <p:cTn id="39" dur="1" fill="hold">
                                          <p:stCondLst>
                                            <p:cond delay="0"/>
                                          </p:stCondLst>
                                        </p:cTn>
                                        <p:tgtEl>
                                          <p:spTgt spid="4">
                                            <p:txEl>
                                              <p:pRg st="4" end="4"/>
                                            </p:txEl>
                                          </p:spTgt>
                                        </p:tgtEl>
                                        <p:attrNameLst>
                                          <p:attrName>style.visibility</p:attrName>
                                        </p:attrNameLst>
                                      </p:cBhvr>
                                      <p:to>
                                        <p:strVal val="visible"/>
                                      </p:to>
                                    </p:set>
                                    <p:animEffect transition="in" filter="fade">
                                      <p:cBhvr>
                                        <p:cTn id="40" dur="2000"/>
                                        <p:tgtEl>
                                          <p:spTgt spid="4">
                                            <p:txEl>
                                              <p:pRg st="4" end="4"/>
                                            </p:txEl>
                                          </p:spTgt>
                                        </p:tgtEl>
                                      </p:cBhvr>
                                    </p:animEffect>
                                    <p:anim calcmode="lin" valueType="num">
                                      <p:cBhvr>
                                        <p:cTn id="41" dur="2000" fill="hold"/>
                                        <p:tgtEl>
                                          <p:spTgt spid="4">
                                            <p:txEl>
                                              <p:pRg st="4" end="4"/>
                                            </p:txEl>
                                          </p:spTgt>
                                        </p:tgtEl>
                                        <p:attrNameLst>
                                          <p:attrName>ppt_w</p:attrName>
                                        </p:attrNameLst>
                                      </p:cBhvr>
                                      <p:tavLst>
                                        <p:tav tm="0" fmla="#ppt_w*sin(2.5*pi*$)">
                                          <p:val>
                                            <p:fltVal val="0"/>
                                          </p:val>
                                        </p:tav>
                                        <p:tav tm="100000">
                                          <p:val>
                                            <p:fltVal val="1"/>
                                          </p:val>
                                        </p:tav>
                                      </p:tavLst>
                                    </p:anim>
                                    <p:anim calcmode="lin" valueType="num">
                                      <p:cBhvr>
                                        <p:cTn id="42" dur="2000" fill="hold"/>
                                        <p:tgtEl>
                                          <p:spTgt spid="4">
                                            <p:txEl>
                                              <p:pRg st="4" end="4"/>
                                            </p:txEl>
                                          </p:spTgt>
                                        </p:tgtEl>
                                        <p:attrNameLst>
                                          <p:attrName>ppt_h</p:attrName>
                                        </p:attrNameLst>
                                      </p:cBhvr>
                                      <p:tavLst>
                                        <p:tav tm="0">
                                          <p:val>
                                            <p:strVal val="#ppt_h"/>
                                          </p:val>
                                        </p:tav>
                                        <p:tav tm="100000">
                                          <p:val>
                                            <p:strVal val="#ppt_h"/>
                                          </p:val>
                                        </p:tav>
                                      </p:tavLst>
                                    </p:anim>
                                  </p:childTnLst>
                                </p:cTn>
                              </p:par>
                              <p:par>
                                <p:cTn id="43" presetID="45" presetClass="entr" presetSubtype="0" fill="hold" nodeType="with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animEffect transition="in" filter="fade">
                                      <p:cBhvr>
                                        <p:cTn id="45" dur="2000"/>
                                        <p:tgtEl>
                                          <p:spTgt spid="4">
                                            <p:txEl>
                                              <p:pRg st="5" end="5"/>
                                            </p:txEl>
                                          </p:spTgt>
                                        </p:tgtEl>
                                      </p:cBhvr>
                                    </p:animEffect>
                                    <p:anim calcmode="lin" valueType="num">
                                      <p:cBhvr>
                                        <p:cTn id="46" dur="2000" fill="hold"/>
                                        <p:tgtEl>
                                          <p:spTgt spid="4">
                                            <p:txEl>
                                              <p:pRg st="5" end="5"/>
                                            </p:txEl>
                                          </p:spTgt>
                                        </p:tgtEl>
                                        <p:attrNameLst>
                                          <p:attrName>ppt_w</p:attrName>
                                        </p:attrNameLst>
                                      </p:cBhvr>
                                      <p:tavLst>
                                        <p:tav tm="0" fmla="#ppt_w*sin(2.5*pi*$)">
                                          <p:val>
                                            <p:fltVal val="0"/>
                                          </p:val>
                                        </p:tav>
                                        <p:tav tm="100000">
                                          <p:val>
                                            <p:fltVal val="1"/>
                                          </p:val>
                                        </p:tav>
                                      </p:tavLst>
                                    </p:anim>
                                    <p:anim calcmode="lin" valueType="num">
                                      <p:cBhvr>
                                        <p:cTn id="47" dur="2000" fill="hold"/>
                                        <p:tgtEl>
                                          <p:spTgt spid="4">
                                            <p:txEl>
                                              <p:pRg st="5" end="5"/>
                                            </p:txEl>
                                          </p:spTgt>
                                        </p:tgtEl>
                                        <p:attrNameLst>
                                          <p:attrName>ppt_h</p:attrName>
                                        </p:attrNameLst>
                                      </p:cBhvr>
                                      <p:tavLst>
                                        <p:tav tm="0">
                                          <p:val>
                                            <p:strVal val="#ppt_h"/>
                                          </p:val>
                                        </p:tav>
                                        <p:tav tm="100000">
                                          <p:val>
                                            <p:strVal val="#ppt_h"/>
                                          </p:val>
                                        </p:tav>
                                      </p:tavLst>
                                    </p:anim>
                                  </p:childTnLst>
                                </p:cTn>
                              </p:par>
                              <p:par>
                                <p:cTn id="48" presetID="45" presetClass="entr" presetSubtype="0" fill="hold" nodeType="withEffect">
                                  <p:stCondLst>
                                    <p:cond delay="0"/>
                                  </p:stCondLst>
                                  <p:childTnLst>
                                    <p:set>
                                      <p:cBhvr>
                                        <p:cTn id="49" dur="1" fill="hold">
                                          <p:stCondLst>
                                            <p:cond delay="0"/>
                                          </p:stCondLst>
                                        </p:cTn>
                                        <p:tgtEl>
                                          <p:spTgt spid="4">
                                            <p:txEl>
                                              <p:pRg st="6" end="6"/>
                                            </p:txEl>
                                          </p:spTgt>
                                        </p:tgtEl>
                                        <p:attrNameLst>
                                          <p:attrName>style.visibility</p:attrName>
                                        </p:attrNameLst>
                                      </p:cBhvr>
                                      <p:to>
                                        <p:strVal val="visible"/>
                                      </p:to>
                                    </p:set>
                                    <p:animEffect transition="in" filter="fade">
                                      <p:cBhvr>
                                        <p:cTn id="50" dur="2000"/>
                                        <p:tgtEl>
                                          <p:spTgt spid="4">
                                            <p:txEl>
                                              <p:pRg st="6" end="6"/>
                                            </p:txEl>
                                          </p:spTgt>
                                        </p:tgtEl>
                                      </p:cBhvr>
                                    </p:animEffect>
                                    <p:anim calcmode="lin" valueType="num">
                                      <p:cBhvr>
                                        <p:cTn id="51" dur="2000" fill="hold"/>
                                        <p:tgtEl>
                                          <p:spTgt spid="4">
                                            <p:txEl>
                                              <p:pRg st="6" end="6"/>
                                            </p:txEl>
                                          </p:spTgt>
                                        </p:tgtEl>
                                        <p:attrNameLst>
                                          <p:attrName>ppt_w</p:attrName>
                                        </p:attrNameLst>
                                      </p:cBhvr>
                                      <p:tavLst>
                                        <p:tav tm="0" fmla="#ppt_w*sin(2.5*pi*$)">
                                          <p:val>
                                            <p:fltVal val="0"/>
                                          </p:val>
                                        </p:tav>
                                        <p:tav tm="100000">
                                          <p:val>
                                            <p:fltVal val="1"/>
                                          </p:val>
                                        </p:tav>
                                      </p:tavLst>
                                    </p:anim>
                                    <p:anim calcmode="lin" valueType="num">
                                      <p:cBhvr>
                                        <p:cTn id="52" dur="2000" fill="hold"/>
                                        <p:tgtEl>
                                          <p:spTgt spid="4">
                                            <p:txEl>
                                              <p:pRg st="6" end="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016760" y="1856330"/>
            <a:ext cx="5521960" cy="523220"/>
          </a:xfrm>
          <a:prstGeom prst="rect">
            <a:avLst/>
          </a:prstGeom>
          <a:noFill/>
        </p:spPr>
        <p:txBody>
          <a:bodyPr wrap="square" rtlCol="0">
            <a:spAutoFit/>
          </a:bodyPr>
          <a:lstStyle/>
          <a:p>
            <a:r>
              <a:rPr lang="fr-CM" sz="2800" b="1" dirty="0">
                <a:latin typeface="Times New Roman" panose="02020603050405020304" pitchFamily="18" charset="0"/>
                <a:cs typeface="Times New Roman" panose="02020603050405020304" pitchFamily="18" charset="0"/>
              </a:rPr>
              <a:t>2</a:t>
            </a:r>
            <a:r>
              <a:rPr lang="fr-CM" sz="2800" b="1" dirty="0" smtClean="0">
                <a:latin typeface="Times New Roman" panose="02020603050405020304" pitchFamily="18" charset="0"/>
                <a:cs typeface="Times New Roman" panose="02020603050405020304" pitchFamily="18" charset="0"/>
              </a:rPr>
              <a:t>. Besoins Non Fonctionnels </a:t>
            </a:r>
            <a:endParaRPr lang="fr-CM" sz="2800" b="1" dirty="0">
              <a:latin typeface="Times New Roman" panose="02020603050405020304" pitchFamily="18" charset="0"/>
              <a:cs typeface="Times New Roman" panose="02020603050405020304" pitchFamily="18" charset="0"/>
            </a:endParaRPr>
          </a:p>
        </p:txBody>
      </p:sp>
      <p:sp>
        <p:nvSpPr>
          <p:cNvPr id="5" name="Titre 1"/>
          <p:cNvSpPr>
            <a:spLocks noGrp="1"/>
          </p:cNvSpPr>
          <p:nvPr>
            <p:ph type="title"/>
          </p:nvPr>
        </p:nvSpPr>
        <p:spPr>
          <a:xfrm>
            <a:off x="1026161" y="194428"/>
            <a:ext cx="9982200" cy="1080938"/>
          </a:xfrm>
        </p:spPr>
        <p:txBody>
          <a:bodyPr/>
          <a:lstStyle/>
          <a:p>
            <a:r>
              <a:rPr lang="en-US" dirty="0" smtClean="0"/>
              <a:t>III. EXPRESSIONS DES BESOINS UTILISATEURS</a:t>
            </a:r>
            <a:endParaRPr lang="fr-FR" dirty="0"/>
          </a:p>
        </p:txBody>
      </p:sp>
      <p:sp>
        <p:nvSpPr>
          <p:cNvPr id="6" name="ZoneTexte 5"/>
          <p:cNvSpPr txBox="1"/>
          <p:nvPr/>
        </p:nvSpPr>
        <p:spPr>
          <a:xfrm>
            <a:off x="589280" y="1486998"/>
            <a:ext cx="10495280" cy="369332"/>
          </a:xfrm>
          <a:prstGeom prst="rect">
            <a:avLst/>
          </a:prstGeom>
          <a:noFill/>
        </p:spPr>
        <p:txBody>
          <a:bodyPr wrap="square" rtlCol="0">
            <a:spAutoFit/>
          </a:bodyPr>
          <a:lstStyle/>
          <a:p>
            <a:r>
              <a:rPr lang="fr-CM" dirty="0" smtClean="0"/>
              <a:t>Ce sont des besoins en </a:t>
            </a:r>
            <a:r>
              <a:rPr lang="fr-CM" dirty="0" err="1" smtClean="0"/>
              <a:t>matiere</a:t>
            </a:r>
            <a:r>
              <a:rPr lang="fr-CM" dirty="0" smtClean="0"/>
              <a:t> de </a:t>
            </a:r>
            <a:r>
              <a:rPr lang="fr-CM" dirty="0" err="1" smtClean="0"/>
              <a:t>performence</a:t>
            </a:r>
            <a:r>
              <a:rPr lang="fr-CM" dirty="0" smtClean="0"/>
              <a:t> ,de type de </a:t>
            </a:r>
            <a:r>
              <a:rPr lang="fr-CM" dirty="0" err="1" smtClean="0"/>
              <a:t>materiel</a:t>
            </a:r>
            <a:r>
              <a:rPr lang="fr-CM" dirty="0" smtClean="0"/>
              <a:t> ou de conception. </a:t>
            </a:r>
            <a:endParaRPr lang="fr-CM" dirty="0"/>
          </a:p>
        </p:txBody>
      </p:sp>
      <p:sp>
        <p:nvSpPr>
          <p:cNvPr id="8" name="Rectangle 7"/>
          <p:cNvSpPr/>
          <p:nvPr/>
        </p:nvSpPr>
        <p:spPr>
          <a:xfrm>
            <a:off x="680720" y="2379550"/>
            <a:ext cx="11206480" cy="923330"/>
          </a:xfrm>
          <a:prstGeom prst="rect">
            <a:avLst/>
          </a:prstGeom>
        </p:spPr>
        <p:txBody>
          <a:bodyPr wrap="square">
            <a:spAutoFit/>
          </a:bodyPr>
          <a:lstStyle/>
          <a:p>
            <a:pPr marL="285750" lvl="0" indent="-285750" algn="just">
              <a:lnSpc>
                <a:spcPct val="150000"/>
              </a:lnSpc>
              <a:buFont typeface="Wingdings" panose="05000000000000000000" pitchFamily="2" charset="2"/>
              <a:buChar char="q"/>
            </a:pPr>
            <a:r>
              <a:rPr lang="en-US" dirty="0" err="1"/>
              <a:t>Fiabilité</a:t>
            </a:r>
            <a:r>
              <a:rPr lang="en-US" dirty="0"/>
              <a:t> et </a:t>
            </a:r>
            <a:r>
              <a:rPr lang="en-US" dirty="0" err="1" smtClean="0"/>
              <a:t>Disponibilité</a:t>
            </a:r>
            <a:r>
              <a:rPr lang="en-US" dirty="0" smtClean="0"/>
              <a:t>;</a:t>
            </a:r>
            <a:endParaRPr lang="fr-FR" dirty="0" smtClean="0"/>
          </a:p>
          <a:p>
            <a:pPr marL="285750" lvl="0" indent="-285750" algn="just">
              <a:lnSpc>
                <a:spcPct val="150000"/>
              </a:lnSpc>
              <a:buFont typeface="Wingdings" panose="05000000000000000000" pitchFamily="2" charset="2"/>
              <a:buChar char="q"/>
            </a:pPr>
            <a:r>
              <a:rPr lang="en-US" dirty="0" err="1" smtClean="0"/>
              <a:t>Sécurité</a:t>
            </a:r>
            <a:endParaRPr lang="fr-FR" dirty="0"/>
          </a:p>
        </p:txBody>
      </p:sp>
    </p:spTree>
    <p:extLst>
      <p:ext uri="{BB962C8B-B14F-4D97-AF65-F5344CB8AC3E}">
        <p14:creationId xmlns:p14="http://schemas.microsoft.com/office/powerpoint/2010/main" val="26229684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42720" y="2717800"/>
            <a:ext cx="9087168" cy="800100"/>
          </a:xfrm>
        </p:spPr>
        <p:txBody>
          <a:bodyPr>
            <a:normAutofit fontScale="90000"/>
          </a:bodyPr>
          <a:lstStyle/>
          <a:p>
            <a:pPr>
              <a:lnSpc>
                <a:spcPct val="150000"/>
              </a:lnSpc>
            </a:pPr>
            <a:r>
              <a:rPr lang="en-US" dirty="0" smtClean="0"/>
              <a:t>Iv. PLANIFICATION DU PROJET </a:t>
            </a:r>
            <a:endParaRPr lang="fr-FR" dirty="0"/>
          </a:p>
        </p:txBody>
      </p:sp>
    </p:spTree>
    <p:extLst>
      <p:ext uri="{BB962C8B-B14F-4D97-AF65-F5344CB8AC3E}">
        <p14:creationId xmlns:p14="http://schemas.microsoft.com/office/powerpoint/2010/main" val="279595062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3652520" y="191312"/>
            <a:ext cx="5521960" cy="523220"/>
          </a:xfrm>
          <a:prstGeom prst="rect">
            <a:avLst/>
          </a:prstGeom>
          <a:noFill/>
        </p:spPr>
        <p:txBody>
          <a:bodyPr wrap="square" rtlCol="0">
            <a:spAutoFit/>
          </a:bodyPr>
          <a:lstStyle/>
          <a:p>
            <a:r>
              <a:rPr lang="fr-CM" sz="2800" b="1" dirty="0" smtClean="0">
                <a:latin typeface="Times New Roman" panose="02020603050405020304" pitchFamily="18" charset="0"/>
                <a:cs typeface="Times New Roman" panose="02020603050405020304" pitchFamily="18" charset="0"/>
              </a:rPr>
              <a:t>1.Diagramme de GANNT </a:t>
            </a:r>
            <a:endParaRPr lang="fr-CM" sz="2800"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2"/>
          <a:stretch>
            <a:fillRect/>
          </a:stretch>
        </p:blipFill>
        <p:spPr>
          <a:xfrm>
            <a:off x="416560" y="863600"/>
            <a:ext cx="11369041" cy="5313680"/>
          </a:xfrm>
          <a:prstGeom prst="rect">
            <a:avLst/>
          </a:prstGeom>
        </p:spPr>
      </p:pic>
      <p:sp>
        <p:nvSpPr>
          <p:cNvPr id="7" name="ZoneTexte 6"/>
          <p:cNvSpPr txBox="1"/>
          <p:nvPr/>
        </p:nvSpPr>
        <p:spPr>
          <a:xfrm>
            <a:off x="2062480" y="6339840"/>
            <a:ext cx="7112000" cy="369332"/>
          </a:xfrm>
          <a:prstGeom prst="rect">
            <a:avLst/>
          </a:prstGeom>
          <a:noFill/>
        </p:spPr>
        <p:txBody>
          <a:bodyPr wrap="square" rtlCol="0">
            <a:spAutoFit/>
          </a:bodyPr>
          <a:lstStyle/>
          <a:p>
            <a:r>
              <a:rPr lang="fr-CM" dirty="0" smtClean="0"/>
              <a:t>54 jours ( 1 mois 23 jours)</a:t>
            </a:r>
            <a:endParaRPr lang="fr-CM" dirty="0"/>
          </a:p>
        </p:txBody>
      </p:sp>
    </p:spTree>
    <p:extLst>
      <p:ext uri="{BB962C8B-B14F-4D97-AF65-F5344CB8AC3E}">
        <p14:creationId xmlns:p14="http://schemas.microsoft.com/office/powerpoint/2010/main" val="26428185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a:xfrm>
            <a:off x="1493520" y="2453640"/>
            <a:ext cx="9087168" cy="8001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nSpc>
                <a:spcPct val="150000"/>
              </a:lnSpc>
            </a:pPr>
            <a:r>
              <a:rPr lang="en-US" sz="4400" dirty="0" smtClean="0"/>
              <a:t>v. ESTIMATION DU COUT DU PROJET </a:t>
            </a:r>
            <a:endParaRPr lang="fr-FR" sz="4400" dirty="0"/>
          </a:p>
        </p:txBody>
      </p:sp>
    </p:spTree>
    <p:extLst>
      <p:ext uri="{BB962C8B-B14F-4D97-AF65-F5344CB8AC3E}">
        <p14:creationId xmlns:p14="http://schemas.microsoft.com/office/powerpoint/2010/main" val="39063344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129280" y="333552"/>
            <a:ext cx="6553200" cy="523220"/>
          </a:xfrm>
          <a:prstGeom prst="rect">
            <a:avLst/>
          </a:prstGeom>
          <a:noFill/>
        </p:spPr>
        <p:txBody>
          <a:bodyPr wrap="square" rtlCol="0">
            <a:spAutoFit/>
          </a:bodyPr>
          <a:lstStyle/>
          <a:p>
            <a:r>
              <a:rPr lang="fr-CM" sz="2800" b="1" dirty="0" smtClean="0">
                <a:latin typeface="Times New Roman" panose="02020603050405020304" pitchFamily="18" charset="0"/>
                <a:cs typeface="Times New Roman" panose="02020603050405020304" pitchFamily="18" charset="0"/>
              </a:rPr>
              <a:t>1. Ressource </a:t>
            </a:r>
            <a:r>
              <a:rPr lang="fr-CM" sz="2800" b="1" dirty="0" err="1" smtClean="0">
                <a:latin typeface="Times New Roman" panose="02020603050405020304" pitchFamily="18" charset="0"/>
                <a:cs typeface="Times New Roman" panose="02020603050405020304" pitchFamily="18" charset="0"/>
              </a:rPr>
              <a:t>Materielles</a:t>
            </a:r>
            <a:r>
              <a:rPr lang="fr-CM" sz="2800" b="1" dirty="0" smtClean="0">
                <a:latin typeface="Times New Roman" panose="02020603050405020304" pitchFamily="18" charset="0"/>
                <a:cs typeface="Times New Roman" panose="02020603050405020304" pitchFamily="18" charset="0"/>
              </a:rPr>
              <a:t> et Logicielles </a:t>
            </a:r>
            <a:endParaRPr lang="fr-CM" sz="2800" b="1" dirty="0">
              <a:latin typeface="Times New Roman" panose="02020603050405020304" pitchFamily="18" charset="0"/>
              <a:cs typeface="Times New Roman" panose="02020603050405020304" pitchFamily="18"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1088272835"/>
              </p:ext>
            </p:extLst>
          </p:nvPr>
        </p:nvGraphicFramePr>
        <p:xfrm>
          <a:off x="629920" y="1127760"/>
          <a:ext cx="10861040" cy="3376401"/>
        </p:xfrm>
        <a:graphic>
          <a:graphicData uri="http://schemas.openxmlformats.org/drawingml/2006/table">
            <a:tbl>
              <a:tblPr firstRow="1" bandRow="1">
                <a:tableStyleId>{EB344D84-9AFB-497E-A393-DC336BA19D2E}</a:tableStyleId>
              </a:tblPr>
              <a:tblGrid>
                <a:gridCol w="2715260">
                  <a:extLst>
                    <a:ext uri="{9D8B030D-6E8A-4147-A177-3AD203B41FA5}">
                      <a16:colId xmlns:a16="http://schemas.microsoft.com/office/drawing/2014/main" val="3143648451"/>
                    </a:ext>
                  </a:extLst>
                </a:gridCol>
                <a:gridCol w="2715260">
                  <a:extLst>
                    <a:ext uri="{9D8B030D-6E8A-4147-A177-3AD203B41FA5}">
                      <a16:colId xmlns:a16="http://schemas.microsoft.com/office/drawing/2014/main" val="2572369606"/>
                    </a:ext>
                  </a:extLst>
                </a:gridCol>
                <a:gridCol w="2715260">
                  <a:extLst>
                    <a:ext uri="{9D8B030D-6E8A-4147-A177-3AD203B41FA5}">
                      <a16:colId xmlns:a16="http://schemas.microsoft.com/office/drawing/2014/main" val="2794969718"/>
                    </a:ext>
                  </a:extLst>
                </a:gridCol>
                <a:gridCol w="2715260">
                  <a:extLst>
                    <a:ext uri="{9D8B030D-6E8A-4147-A177-3AD203B41FA5}">
                      <a16:colId xmlns:a16="http://schemas.microsoft.com/office/drawing/2014/main" val="3914801373"/>
                    </a:ext>
                  </a:extLst>
                </a:gridCol>
              </a:tblGrid>
              <a:tr h="699266">
                <a:tc>
                  <a:txBody>
                    <a:bodyPr/>
                    <a:lstStyle/>
                    <a:p>
                      <a:r>
                        <a:rPr lang="en-US" dirty="0" err="1">
                          <a:latin typeface="Times New Roman" panose="02020603050405020304" pitchFamily="18" charset="0"/>
                          <a:cs typeface="Times New Roman" panose="02020603050405020304" pitchFamily="18" charset="0"/>
                        </a:rPr>
                        <a:t>Élément</a:t>
                      </a:r>
                      <a:endParaRPr lang="en-US" dirty="0">
                        <a:latin typeface="Times New Roman" panose="02020603050405020304" pitchFamily="18" charset="0"/>
                        <a:cs typeface="Times New Roman" panose="02020603050405020304" pitchFamily="18" charset="0"/>
                      </a:endParaRPr>
                    </a:p>
                  </a:txBody>
                  <a:tcPr anchor="ctr">
                    <a:solidFill>
                      <a:schemeClr val="bg2"/>
                    </a:solidFill>
                  </a:tcPr>
                </a:tc>
                <a:tc>
                  <a:txBody>
                    <a:bodyPr/>
                    <a:lstStyle/>
                    <a:p>
                      <a:r>
                        <a:rPr lang="en-US" dirty="0">
                          <a:latin typeface="Times New Roman" panose="02020603050405020304" pitchFamily="18" charset="0"/>
                          <a:cs typeface="Times New Roman" panose="02020603050405020304" pitchFamily="18" charset="0"/>
                        </a:rPr>
                        <a:t>Description</a:t>
                      </a:r>
                    </a:p>
                  </a:txBody>
                  <a:tcPr anchor="ctr">
                    <a:solidFill>
                      <a:schemeClr val="bg2"/>
                    </a:solidFill>
                  </a:tcPr>
                </a:tc>
                <a:tc>
                  <a:txBody>
                    <a:bodyPr/>
                    <a:lstStyle/>
                    <a:p>
                      <a:r>
                        <a:rPr lang="en-US" dirty="0" err="1">
                          <a:latin typeface="Times New Roman" panose="02020603050405020304" pitchFamily="18" charset="0"/>
                          <a:cs typeface="Times New Roman" panose="02020603050405020304" pitchFamily="18" charset="0"/>
                        </a:rPr>
                        <a:t>Statut</a:t>
                      </a:r>
                      <a:r>
                        <a:rPr lang="en-US" dirty="0">
                          <a:latin typeface="Times New Roman" panose="02020603050405020304" pitchFamily="18" charset="0"/>
                          <a:cs typeface="Times New Roman" panose="02020603050405020304" pitchFamily="18" charset="0"/>
                        </a:rPr>
                        <a:t> &amp; Coût </a:t>
                      </a:r>
                      <a:r>
                        <a:rPr lang="en-US" dirty="0" err="1">
                          <a:latin typeface="Times New Roman" panose="02020603050405020304" pitchFamily="18" charset="0"/>
                          <a:cs typeface="Times New Roman" panose="02020603050405020304" pitchFamily="18" charset="0"/>
                        </a:rPr>
                        <a:t>Estimé</a:t>
                      </a:r>
                      <a:r>
                        <a:rPr lang="en-US" dirty="0">
                          <a:latin typeface="Times New Roman" panose="02020603050405020304" pitchFamily="18" charset="0"/>
                          <a:cs typeface="Times New Roman" panose="02020603050405020304" pitchFamily="18" charset="0"/>
                        </a:rPr>
                        <a:t> (2025)</a:t>
                      </a:r>
                    </a:p>
                  </a:txBody>
                  <a:tcPr anchor="ctr">
                    <a:solidFill>
                      <a:schemeClr val="bg2"/>
                    </a:solidFill>
                  </a:tcPr>
                </a:tc>
                <a:tc>
                  <a:txBody>
                    <a:bodyPr/>
                    <a:lstStyle/>
                    <a:p>
                      <a:r>
                        <a:rPr lang="en-US" dirty="0">
                          <a:latin typeface="Times New Roman" panose="02020603050405020304" pitchFamily="18" charset="0"/>
                          <a:cs typeface="Times New Roman" panose="02020603050405020304" pitchFamily="18" charset="0"/>
                        </a:rPr>
                        <a:t>Justification</a:t>
                      </a:r>
                    </a:p>
                  </a:txBody>
                  <a:tcPr anchor="ctr">
                    <a:solidFill>
                      <a:schemeClr val="bg2"/>
                    </a:solidFill>
                  </a:tcPr>
                </a:tc>
                <a:extLst>
                  <a:ext uri="{0D108BD9-81ED-4DB2-BD59-A6C34878D82A}">
                    <a16:rowId xmlns:a16="http://schemas.microsoft.com/office/drawing/2014/main" val="254145139"/>
                  </a:ext>
                </a:extLst>
              </a:tr>
              <a:tr h="738942">
                <a:tc>
                  <a:txBody>
                    <a:bodyPr/>
                    <a:lstStyle/>
                    <a:p>
                      <a:r>
                        <a:rPr lang="en-US" sz="1600" dirty="0" err="1">
                          <a:latin typeface="Times New Roman" panose="02020603050405020304" pitchFamily="18" charset="0"/>
                          <a:cs typeface="Times New Roman" panose="02020603050405020304" pitchFamily="18" charset="0"/>
                        </a:rPr>
                        <a:t>Système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d'Exploitation</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fr-FR" sz="1600" dirty="0">
                          <a:latin typeface="Times New Roman" panose="02020603050405020304" pitchFamily="18" charset="0"/>
                          <a:cs typeface="Times New Roman" panose="02020603050405020304" pitchFamily="18" charset="0"/>
                        </a:rPr>
                        <a:t>Linux </a:t>
                      </a:r>
                      <a:r>
                        <a:rPr lang="fr-FR" sz="1600" dirty="0" err="1">
                          <a:latin typeface="Times New Roman" panose="02020603050405020304" pitchFamily="18" charset="0"/>
                          <a:cs typeface="Times New Roman" panose="02020603050405020304" pitchFamily="18" charset="0"/>
                        </a:rPr>
                        <a:t>openSUSE</a:t>
                      </a:r>
                      <a:r>
                        <a:rPr lang="fr-FR" sz="1600" dirty="0">
                          <a:latin typeface="Times New Roman" panose="02020603050405020304" pitchFamily="18" charset="0"/>
                          <a:cs typeface="Times New Roman" panose="02020603050405020304" pitchFamily="18" charset="0"/>
                        </a:rPr>
                        <a:t> (collecteur et cible).</a:t>
                      </a:r>
                    </a:p>
                  </a:txBody>
                  <a:tcPr anchor="ctr"/>
                </a:tc>
                <a:tc>
                  <a:txBody>
                    <a:bodyPr/>
                    <a:lstStyle/>
                    <a:p>
                      <a:pPr algn="ct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(Open Source).</a:t>
                      </a:r>
                    </a:p>
                  </a:txBody>
                  <a:tcPr anchor="ctr"/>
                </a:tc>
                <a:tc>
                  <a:txBody>
                    <a:bodyPr/>
                    <a:lstStyle/>
                    <a:p>
                      <a:r>
                        <a:rPr lang="fr-FR" sz="1600">
                          <a:latin typeface="Times New Roman" panose="02020603050405020304" pitchFamily="18" charset="0"/>
                          <a:cs typeface="Times New Roman" panose="02020603050405020304" pitchFamily="18" charset="0"/>
                        </a:rPr>
                        <a:t>Environnement de référence imposé par le thème.</a:t>
                      </a:r>
                    </a:p>
                  </a:txBody>
                  <a:tcPr anchor="ctr"/>
                </a:tc>
                <a:extLst>
                  <a:ext uri="{0D108BD9-81ED-4DB2-BD59-A6C34878D82A}">
                    <a16:rowId xmlns:a16="http://schemas.microsoft.com/office/drawing/2014/main" val="2602631836"/>
                  </a:ext>
                </a:extLst>
              </a:tr>
              <a:tr h="871393">
                <a:tc>
                  <a:txBody>
                    <a:bodyPr/>
                    <a:lstStyle/>
                    <a:p>
                      <a:r>
                        <a:rPr lang="en-US" sz="1600" dirty="0" err="1">
                          <a:latin typeface="Times New Roman" panose="02020603050405020304" pitchFamily="18" charset="0"/>
                          <a:cs typeface="Times New Roman" panose="02020603050405020304" pitchFamily="18" charset="0"/>
                        </a:rPr>
                        <a:t>Langage</a:t>
                      </a:r>
                      <a:r>
                        <a:rPr lang="en-US" sz="1600" dirty="0">
                          <a:latin typeface="Times New Roman" panose="02020603050405020304" pitchFamily="18" charset="0"/>
                          <a:cs typeface="Times New Roman" panose="02020603050405020304" pitchFamily="18" charset="0"/>
                        </a:rPr>
                        <a:t> de Script</a:t>
                      </a:r>
                    </a:p>
                  </a:txBody>
                  <a:tcPr anchor="ctr"/>
                </a:tc>
                <a:tc>
                  <a:txBody>
                    <a:bodyPr/>
                    <a:lstStyle/>
                    <a:p>
                      <a:r>
                        <a:rPr lang="fr-FR" sz="1600" dirty="0">
                          <a:latin typeface="Times New Roman" panose="02020603050405020304" pitchFamily="18" charset="0"/>
                          <a:cs typeface="Times New Roman" panose="02020603050405020304" pitchFamily="18" charset="0"/>
                        </a:rPr>
                        <a:t>Python et ses librairies (</a:t>
                      </a:r>
                      <a:r>
                        <a:rPr lang="fr-FR" sz="1600" dirty="0" err="1">
                          <a:latin typeface="Times New Roman" panose="02020603050405020304" pitchFamily="18" charset="0"/>
                          <a:cs typeface="Times New Roman" panose="02020603050405020304" pitchFamily="18" charset="0"/>
                        </a:rPr>
                        <a:t>influxdb</a:t>
                      </a:r>
                      <a:r>
                        <a:rPr lang="fr-FR" sz="1600" dirty="0">
                          <a:latin typeface="Times New Roman" panose="02020603050405020304" pitchFamily="18" charset="0"/>
                          <a:cs typeface="Times New Roman" panose="02020603050405020304" pitchFamily="18" charset="0"/>
                        </a:rPr>
                        <a:t>-client, etc</a:t>
                      </a:r>
                      <a:r>
                        <a:rPr lang="fr-FR" sz="1600" dirty="0" smtClean="0">
                          <a:latin typeface="Times New Roman" panose="02020603050405020304" pitchFamily="18" charset="0"/>
                          <a:cs typeface="Times New Roman" panose="02020603050405020304" pitchFamily="18" charset="0"/>
                        </a:rPr>
                        <a:t>.),JS(</a:t>
                      </a:r>
                      <a:r>
                        <a:rPr lang="fr-FR" sz="1600" baseline="0" dirty="0" smtClean="0">
                          <a:latin typeface="Times New Roman" panose="02020603050405020304" pitchFamily="18" charset="0"/>
                          <a:cs typeface="Times New Roman" panose="02020603050405020304" pitchFamily="18" charset="0"/>
                        </a:rPr>
                        <a:t> et ses librairies), HTML etc.</a:t>
                      </a:r>
                      <a:endParaRPr lang="fr-FR"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(Open Source).</a:t>
                      </a:r>
                    </a:p>
                  </a:txBody>
                  <a:tcPr anchor="ctr"/>
                </a:tc>
                <a:tc>
                  <a:txBody>
                    <a:bodyPr/>
                    <a:lstStyle/>
                    <a:p>
                      <a:r>
                        <a:rPr lang="fr-FR" sz="1600" dirty="0">
                          <a:latin typeface="Times New Roman" panose="02020603050405020304" pitchFamily="18" charset="0"/>
                          <a:cs typeface="Times New Roman" panose="02020603050405020304" pitchFamily="18" charset="0"/>
                        </a:rPr>
                        <a:t>Langage utilisé pour développer le Collecteur de données.</a:t>
                      </a:r>
                    </a:p>
                  </a:txBody>
                  <a:tcPr anchor="ctr"/>
                </a:tc>
                <a:extLst>
                  <a:ext uri="{0D108BD9-81ED-4DB2-BD59-A6C34878D82A}">
                    <a16:rowId xmlns:a16="http://schemas.microsoft.com/office/drawing/2014/main" val="1561554672"/>
                  </a:ext>
                </a:extLst>
              </a:tr>
              <a:tr h="871393">
                <a:tc>
                  <a:txBody>
                    <a:bodyPr/>
                    <a:lstStyle/>
                    <a:p>
                      <a:r>
                        <a:rPr lang="en-US" sz="1600" dirty="0">
                          <a:latin typeface="Times New Roman" panose="02020603050405020304" pitchFamily="18" charset="0"/>
                          <a:cs typeface="Times New Roman" panose="02020603050405020304" pitchFamily="18" charset="0"/>
                        </a:rPr>
                        <a:t>Poste de </a:t>
                      </a:r>
                      <a:r>
                        <a:rPr lang="en-US" sz="1600" dirty="0" err="1">
                          <a:latin typeface="Times New Roman" panose="02020603050405020304" pitchFamily="18" charset="0"/>
                          <a:cs typeface="Times New Roman" panose="02020603050405020304" pitchFamily="18" charset="0"/>
                        </a:rPr>
                        <a:t>Développement</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fr-FR" sz="1600" dirty="0" smtClean="0">
                          <a:latin typeface="Times New Roman" panose="02020603050405020304" pitchFamily="18" charset="0"/>
                          <a:cs typeface="Times New Roman" panose="02020603050405020304" pitchFamily="18" charset="0"/>
                        </a:rPr>
                        <a:t>Ordinateurs Lenovo T460</a:t>
                      </a:r>
                      <a:r>
                        <a:rPr lang="fr-FR" sz="1600" baseline="0" dirty="0" smtClean="0">
                          <a:latin typeface="Times New Roman" panose="02020603050405020304" pitchFamily="18" charset="0"/>
                          <a:cs typeface="Times New Roman" panose="02020603050405020304" pitchFamily="18" charset="0"/>
                        </a:rPr>
                        <a:t>s et Yoga11</a:t>
                      </a:r>
                      <a:r>
                        <a:rPr lang="fr-FR" sz="1600" dirty="0" smtClean="0">
                          <a:latin typeface="Times New Roman" panose="02020603050405020304" pitchFamily="18" charset="0"/>
                          <a:cs typeface="Times New Roman" panose="02020603050405020304" pitchFamily="18" charset="0"/>
                        </a:rPr>
                        <a:t> (2)</a:t>
                      </a:r>
                      <a:r>
                        <a:rPr lang="fr-FR" sz="1600" baseline="0" dirty="0" smtClean="0">
                          <a:latin typeface="Times New Roman" panose="02020603050405020304" pitchFamily="18" charset="0"/>
                          <a:cs typeface="Times New Roman" panose="02020603050405020304" pitchFamily="18" charset="0"/>
                        </a:rPr>
                        <a:t> </a:t>
                      </a:r>
                      <a:r>
                        <a:rPr lang="fr-FR" sz="1600" dirty="0" smtClean="0">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de travail pour les membres de l'équipe (codage Python, configuration).</a:t>
                      </a:r>
                    </a:p>
                  </a:txBody>
                  <a:tcPr anchor="ctr"/>
                </a:tc>
                <a:tc>
                  <a:txBody>
                    <a:bodyPr/>
                    <a:lstStyle/>
                    <a:p>
                      <a:pPr algn="ctr"/>
                      <a:r>
                        <a:rPr lang="en-US" sz="1600" dirty="0" smtClean="0">
                          <a:latin typeface="Times New Roman" panose="02020603050405020304" pitchFamily="18" charset="0"/>
                          <a:cs typeface="Times New Roman" panose="02020603050405020304" pitchFamily="18" charset="0"/>
                        </a:rPr>
                        <a:t>300.</a:t>
                      </a:r>
                      <a:r>
                        <a:rPr lang="en-US" sz="1600" baseline="0" dirty="0" smtClean="0">
                          <a:latin typeface="Times New Roman" panose="02020603050405020304" pitchFamily="18" charset="0"/>
                          <a:cs typeface="Times New Roman" panose="02020603050405020304" pitchFamily="18" charset="0"/>
                        </a:rPr>
                        <a:t> 000fcfa</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fr-FR" sz="1600" dirty="0">
                          <a:latin typeface="Times New Roman" panose="02020603050405020304" pitchFamily="18" charset="0"/>
                          <a:cs typeface="Times New Roman" panose="02020603050405020304" pitchFamily="18" charset="0"/>
                        </a:rPr>
                        <a:t>Nécessaire pour les </a:t>
                      </a:r>
                      <a:r>
                        <a:rPr lang="fr-FR" sz="1600" dirty="0" smtClean="0">
                          <a:latin typeface="Times New Roman" panose="02020603050405020304" pitchFamily="18" charset="0"/>
                          <a:cs typeface="Times New Roman" panose="02020603050405020304" pitchFamily="18" charset="0"/>
                        </a:rPr>
                        <a:t>phases </a:t>
                      </a:r>
                      <a:endParaRPr lang="fr-FR"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48710699"/>
                  </a:ext>
                </a:extLst>
              </a:tr>
            </a:tbl>
          </a:graphicData>
        </a:graphic>
      </p:graphicFrame>
    </p:spTree>
    <p:extLst>
      <p:ext uri="{BB962C8B-B14F-4D97-AF65-F5344CB8AC3E}">
        <p14:creationId xmlns:p14="http://schemas.microsoft.com/office/powerpoint/2010/main" val="20143702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heel(1)">
                                      <p:cBhvr>
                                        <p:cTn id="14"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20147" y="115054"/>
            <a:ext cx="5602688" cy="523220"/>
          </a:xfrm>
          <a:prstGeom prst="rect">
            <a:avLst/>
          </a:prstGeom>
        </p:spPr>
        <p:txBody>
          <a:bodyPr wrap="none">
            <a:spAutoFit/>
          </a:bodyPr>
          <a:lstStyle/>
          <a:p>
            <a:r>
              <a:rPr lang="fr-CM" sz="2800" b="1" dirty="0" smtClean="0">
                <a:latin typeface="Times New Roman" panose="02020603050405020304" pitchFamily="18" charset="0"/>
                <a:cs typeface="Times New Roman" panose="02020603050405020304" pitchFamily="18" charset="0"/>
              </a:rPr>
              <a:t>2. </a:t>
            </a:r>
            <a:r>
              <a:rPr lang="fr-CM" sz="2800" b="1" dirty="0">
                <a:latin typeface="Times New Roman" panose="02020603050405020304" pitchFamily="18" charset="0"/>
                <a:cs typeface="Times New Roman" panose="02020603050405020304" pitchFamily="18" charset="0"/>
              </a:rPr>
              <a:t>Ressource </a:t>
            </a:r>
            <a:r>
              <a:rPr lang="fr-CM" sz="2800" b="1" dirty="0" smtClean="0">
                <a:latin typeface="Times New Roman" panose="02020603050405020304" pitchFamily="18" charset="0"/>
                <a:cs typeface="Times New Roman" panose="02020603050405020304" pitchFamily="18" charset="0"/>
              </a:rPr>
              <a:t>Ressources Humaines </a:t>
            </a:r>
            <a:endParaRPr lang="fr-CM" sz="2800" b="1" dirty="0">
              <a:latin typeface="Times New Roman" panose="02020603050405020304" pitchFamily="18" charset="0"/>
              <a:cs typeface="Times New Roman" panose="02020603050405020304" pitchFamily="18"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2291161130"/>
              </p:ext>
            </p:extLst>
          </p:nvPr>
        </p:nvGraphicFramePr>
        <p:xfrm>
          <a:off x="894080" y="821266"/>
          <a:ext cx="10200640" cy="4301107"/>
        </p:xfrm>
        <a:graphic>
          <a:graphicData uri="http://schemas.openxmlformats.org/drawingml/2006/table">
            <a:tbl>
              <a:tblPr firstRow="1" bandRow="1">
                <a:tableStyleId>{EB344D84-9AFB-497E-A393-DC336BA19D2E}</a:tableStyleId>
              </a:tblPr>
              <a:tblGrid>
                <a:gridCol w="2550160">
                  <a:extLst>
                    <a:ext uri="{9D8B030D-6E8A-4147-A177-3AD203B41FA5}">
                      <a16:colId xmlns:a16="http://schemas.microsoft.com/office/drawing/2014/main" val="2049696899"/>
                    </a:ext>
                  </a:extLst>
                </a:gridCol>
                <a:gridCol w="2550160">
                  <a:extLst>
                    <a:ext uri="{9D8B030D-6E8A-4147-A177-3AD203B41FA5}">
                      <a16:colId xmlns:a16="http://schemas.microsoft.com/office/drawing/2014/main" val="2874141036"/>
                    </a:ext>
                  </a:extLst>
                </a:gridCol>
                <a:gridCol w="2550160">
                  <a:extLst>
                    <a:ext uri="{9D8B030D-6E8A-4147-A177-3AD203B41FA5}">
                      <a16:colId xmlns:a16="http://schemas.microsoft.com/office/drawing/2014/main" val="2673653369"/>
                    </a:ext>
                  </a:extLst>
                </a:gridCol>
                <a:gridCol w="2550160">
                  <a:extLst>
                    <a:ext uri="{9D8B030D-6E8A-4147-A177-3AD203B41FA5}">
                      <a16:colId xmlns:a16="http://schemas.microsoft.com/office/drawing/2014/main" val="3003761797"/>
                    </a:ext>
                  </a:extLst>
                </a:gridCol>
              </a:tblGrid>
              <a:tr h="660203">
                <a:tc>
                  <a:txBody>
                    <a:bodyPr/>
                    <a:lstStyle/>
                    <a:p>
                      <a:r>
                        <a:rPr lang="en-US" dirty="0" err="1">
                          <a:latin typeface="Times New Roman" panose="02020603050405020304" pitchFamily="18" charset="0"/>
                          <a:cs typeface="Times New Roman" panose="02020603050405020304" pitchFamily="18" charset="0"/>
                        </a:rPr>
                        <a:t>Rôle</a:t>
                      </a:r>
                      <a:endParaRPr lang="en-US" dirty="0">
                        <a:latin typeface="Times New Roman" panose="02020603050405020304" pitchFamily="18" charset="0"/>
                        <a:cs typeface="Times New Roman" panose="02020603050405020304" pitchFamily="18" charset="0"/>
                      </a:endParaRPr>
                    </a:p>
                  </a:txBody>
                  <a:tcPr anchor="ctr">
                    <a:solidFill>
                      <a:schemeClr val="bg2"/>
                    </a:solidFill>
                  </a:tcPr>
                </a:tc>
                <a:tc>
                  <a:txBody>
                    <a:bodyPr/>
                    <a:lstStyle/>
                    <a:p>
                      <a:r>
                        <a:rPr lang="en-US" dirty="0" err="1">
                          <a:latin typeface="Times New Roman" panose="02020603050405020304" pitchFamily="18" charset="0"/>
                          <a:cs typeface="Times New Roman" panose="02020603050405020304" pitchFamily="18" charset="0"/>
                        </a:rPr>
                        <a:t>Tâches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Principales</a:t>
                      </a:r>
                      <a:endParaRPr lang="en-US" dirty="0">
                        <a:latin typeface="Times New Roman" panose="02020603050405020304" pitchFamily="18" charset="0"/>
                        <a:cs typeface="Times New Roman" panose="02020603050405020304" pitchFamily="18" charset="0"/>
                      </a:endParaRPr>
                    </a:p>
                  </a:txBody>
                  <a:tcPr anchor="ctr">
                    <a:solidFill>
                      <a:schemeClr val="bg2"/>
                    </a:solidFill>
                  </a:tcPr>
                </a:tc>
                <a:tc>
                  <a:txBody>
                    <a:bodyPr/>
                    <a:lstStyle/>
                    <a:p>
                      <a:r>
                        <a:rPr lang="en-US" dirty="0" err="1">
                          <a:latin typeface="Times New Roman" panose="02020603050405020304" pitchFamily="18" charset="0"/>
                          <a:cs typeface="Times New Roman" panose="02020603050405020304" pitchFamily="18" charset="0"/>
                        </a:rPr>
                        <a:t>Compétences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Clés</a:t>
                      </a:r>
                      <a:endParaRPr lang="en-US" dirty="0">
                        <a:latin typeface="Times New Roman" panose="02020603050405020304" pitchFamily="18" charset="0"/>
                        <a:cs typeface="Times New Roman" panose="02020603050405020304" pitchFamily="18" charset="0"/>
                      </a:endParaRPr>
                    </a:p>
                  </a:txBody>
                  <a:tcPr anchor="ctr">
                    <a:solidFill>
                      <a:schemeClr val="bg2"/>
                    </a:solidFill>
                  </a:tcPr>
                </a:tc>
                <a:tc>
                  <a:txBody>
                    <a:bodyPr/>
                    <a:lstStyle/>
                    <a:p>
                      <a:r>
                        <a:rPr lang="fr-FR" dirty="0">
                          <a:latin typeface="Times New Roman" panose="02020603050405020304" pitchFamily="18" charset="0"/>
                          <a:cs typeface="Times New Roman" panose="02020603050405020304" pitchFamily="18" charset="0"/>
                        </a:rPr>
                        <a:t>Coût Estimé (</a:t>
                      </a:r>
                      <a:r>
                        <a:rPr lang="fr-FR" dirty="0" smtClean="0">
                          <a:latin typeface="Times New Roman" panose="02020603050405020304" pitchFamily="18" charset="0"/>
                          <a:cs typeface="Times New Roman" panose="02020603050405020304" pitchFamily="18" charset="0"/>
                        </a:rPr>
                        <a:t>2025)</a:t>
                      </a:r>
                      <a:endParaRPr lang="fr-FR" dirty="0">
                        <a:latin typeface="Times New Roman" panose="02020603050405020304" pitchFamily="18" charset="0"/>
                        <a:cs typeface="Times New Roman" panose="02020603050405020304" pitchFamily="18" charset="0"/>
                      </a:endParaRPr>
                    </a:p>
                  </a:txBody>
                  <a:tcPr anchor="ctr">
                    <a:solidFill>
                      <a:schemeClr val="bg2"/>
                    </a:solidFill>
                  </a:tcPr>
                </a:tc>
                <a:extLst>
                  <a:ext uri="{0D108BD9-81ED-4DB2-BD59-A6C34878D82A}">
                    <a16:rowId xmlns:a16="http://schemas.microsoft.com/office/drawing/2014/main" val="970260443"/>
                  </a:ext>
                </a:extLst>
              </a:tr>
              <a:tr h="943147">
                <a:tc>
                  <a:txBody>
                    <a:bodyPr/>
                    <a:lstStyle/>
                    <a:p>
                      <a:r>
                        <a:rPr lang="fr-FR" b="1" dirty="0" smtClean="0">
                          <a:latin typeface="Times New Roman" panose="02020603050405020304" pitchFamily="18" charset="0"/>
                          <a:cs typeface="Times New Roman" panose="02020603050405020304" pitchFamily="18" charset="0"/>
                        </a:rPr>
                        <a:t>Analyste</a:t>
                      </a:r>
                      <a:r>
                        <a:rPr lang="fr-FR" dirty="0" smtClean="0">
                          <a:latin typeface="Times New Roman" panose="02020603050405020304" pitchFamily="18" charset="0"/>
                          <a:cs typeface="Times New Roman" panose="02020603050405020304" pitchFamily="18" charset="0"/>
                        </a:rPr>
                        <a:t> </a:t>
                      </a:r>
                      <a:endParaRPr lang="fr-FR" dirty="0">
                        <a:latin typeface="Times New Roman" panose="02020603050405020304" pitchFamily="18" charset="0"/>
                        <a:cs typeface="Times New Roman" panose="02020603050405020304" pitchFamily="18" charset="0"/>
                      </a:endParaRPr>
                    </a:p>
                  </a:txBody>
                  <a:tcPr anchor="ctr"/>
                </a:tc>
                <a:tc>
                  <a:txBody>
                    <a:bodyPr/>
                    <a:lstStyle/>
                    <a:p>
                      <a:r>
                        <a:rPr lang="fr-FR" dirty="0">
                          <a:latin typeface="Times New Roman" panose="02020603050405020304" pitchFamily="18" charset="0"/>
                          <a:cs typeface="Times New Roman" panose="02020603050405020304" pitchFamily="18" charset="0"/>
                        </a:rPr>
                        <a:t>Rédaction du </a:t>
                      </a:r>
                      <a:r>
                        <a:rPr lang="fr-FR" dirty="0" err="1">
                          <a:latin typeface="Times New Roman" panose="02020603050405020304" pitchFamily="18" charset="0"/>
                          <a:cs typeface="Times New Roman" panose="02020603050405020304" pitchFamily="18" charset="0"/>
                        </a:rPr>
                        <a:t>CdC</a:t>
                      </a:r>
                      <a:r>
                        <a:rPr lang="fr-FR" dirty="0">
                          <a:latin typeface="Times New Roman" panose="02020603050405020304" pitchFamily="18" charset="0"/>
                          <a:cs typeface="Times New Roman" panose="02020603050405020304" pitchFamily="18" charset="0"/>
                        </a:rPr>
                        <a:t>, validation, suivi du Gantt (Phase 1 &amp; 4).</a:t>
                      </a:r>
                    </a:p>
                  </a:txBody>
                  <a:tcPr anchor="ctr"/>
                </a:tc>
                <a:tc>
                  <a:txBody>
                    <a:bodyPr/>
                    <a:lstStyle/>
                    <a:p>
                      <a:r>
                        <a:rPr lang="fr-FR" dirty="0">
                          <a:latin typeface="Times New Roman" panose="02020603050405020304" pitchFamily="18" charset="0"/>
                          <a:cs typeface="Times New Roman" panose="02020603050405020304" pitchFamily="18" charset="0"/>
                        </a:rPr>
                        <a:t>Gestion de projet, Analyse fonctionnelle, Communication.</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1 967 871 </a:t>
                      </a:r>
                      <a:r>
                        <a:rPr lang="en-US" dirty="0" err="1" smtClean="0">
                          <a:latin typeface="Times New Roman" panose="02020603050405020304" pitchFamily="18" charset="0"/>
                          <a:cs typeface="Times New Roman" panose="02020603050405020304" pitchFamily="18" charset="0"/>
                        </a:rPr>
                        <a:t>fcfa</a:t>
                      </a:r>
                      <a:endParaRPr lang="fr-FR" dirty="0" smtClean="0">
                        <a:latin typeface="Times New Roman" panose="02020603050405020304" pitchFamily="18" charset="0"/>
                        <a:cs typeface="Times New Roman" panose="02020603050405020304" pitchFamily="18" charset="0"/>
                      </a:endParaRPr>
                    </a:p>
                    <a:p>
                      <a:r>
                        <a:rPr lang="fr-FR" dirty="0" smtClean="0">
                          <a:latin typeface="Times New Roman" panose="02020603050405020304" pitchFamily="18" charset="0"/>
                          <a:cs typeface="Times New Roman" panose="02020603050405020304" pitchFamily="18" charset="0"/>
                        </a:rPr>
                        <a:t>(pour 22 jours </a:t>
                      </a:r>
                      <a:r>
                        <a:rPr lang="fr-FR" dirty="0">
                          <a:latin typeface="Times New Roman" panose="02020603050405020304" pitchFamily="18" charset="0"/>
                          <a:cs typeface="Times New Roman" panose="02020603050405020304" pitchFamily="18" charset="0"/>
                        </a:rPr>
                        <a:t>de travail à temps </a:t>
                      </a:r>
                      <a:r>
                        <a:rPr lang="fr-FR" b="1" dirty="0" smtClean="0">
                          <a:latin typeface="Times New Roman" panose="02020603050405020304" pitchFamily="18" charset="0"/>
                          <a:cs typeface="Times New Roman" panose="02020603050405020304" pitchFamily="18" charset="0"/>
                        </a:rPr>
                        <a:t>(89</a:t>
                      </a:r>
                      <a:r>
                        <a:rPr lang="fr-FR" b="1" baseline="0" dirty="0" smtClean="0">
                          <a:latin typeface="Times New Roman" panose="02020603050405020304" pitchFamily="18" charset="0"/>
                          <a:cs typeface="Times New Roman" panose="02020603050405020304" pitchFamily="18" charset="0"/>
                        </a:rPr>
                        <a:t> 448,68fcfa </a:t>
                      </a:r>
                      <a:r>
                        <a:rPr lang="fr-FR" b="0" dirty="0" smtClean="0">
                          <a:latin typeface="Times New Roman" panose="02020603050405020304" pitchFamily="18" charset="0"/>
                          <a:cs typeface="Times New Roman" panose="02020603050405020304" pitchFamily="18" charset="0"/>
                        </a:rPr>
                        <a:t>/J</a:t>
                      </a:r>
                      <a:r>
                        <a:rPr lang="fr-FR" dirty="0" smtClean="0">
                          <a:latin typeface="Times New Roman" panose="02020603050405020304" pitchFamily="18" charset="0"/>
                          <a:cs typeface="Times New Roman" panose="02020603050405020304" pitchFamily="18" charset="0"/>
                        </a:rPr>
                        <a:t>). </a:t>
                      </a:r>
                      <a:endParaRPr lang="fr-FR"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81222031"/>
                  </a:ext>
                </a:extLst>
              </a:tr>
              <a:tr h="1226092">
                <a:tc>
                  <a:txBody>
                    <a:bodyPr/>
                    <a:lstStyle/>
                    <a:p>
                      <a:r>
                        <a:rPr lang="en-US" b="1" dirty="0" err="1">
                          <a:latin typeface="Times New Roman" panose="02020603050405020304" pitchFamily="18" charset="0"/>
                          <a:cs typeface="Times New Roman" panose="02020603050405020304" pitchFamily="18" charset="0"/>
                        </a:rPr>
                        <a:t>Développeur</a:t>
                      </a:r>
                      <a:r>
                        <a:rPr lang="en-US" b="1" dirty="0">
                          <a:latin typeface="Times New Roman" panose="02020603050405020304" pitchFamily="18" charset="0"/>
                          <a:cs typeface="Times New Roman" panose="02020603050405020304" pitchFamily="18" charset="0"/>
                        </a:rPr>
                        <a:t> Backend (Linux/Python)</a:t>
                      </a:r>
                      <a:r>
                        <a:rPr lang="en-US"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a:t>
                      </a:r>
                      <a:r>
                        <a:rPr lang="en-US" b="1" dirty="0" err="1" smtClean="0">
                          <a:latin typeface="Times New Roman" panose="02020603050405020304" pitchFamily="18" charset="0"/>
                          <a:cs typeface="Times New Roman" panose="02020603050405020304" pitchFamily="18" charset="0"/>
                        </a:rPr>
                        <a:t>Testeur</a:t>
                      </a:r>
                      <a:endParaRPr lang="en-US" b="1" dirty="0">
                        <a:latin typeface="Times New Roman" panose="02020603050405020304" pitchFamily="18" charset="0"/>
                        <a:cs typeface="Times New Roman" panose="02020603050405020304" pitchFamily="18" charset="0"/>
                      </a:endParaRPr>
                    </a:p>
                  </a:txBody>
                  <a:tcPr anchor="ctr"/>
                </a:tc>
                <a:tc>
                  <a:txBody>
                    <a:bodyPr/>
                    <a:lstStyle/>
                    <a:p>
                      <a:r>
                        <a:rPr lang="fr-FR" dirty="0">
                          <a:latin typeface="Times New Roman" panose="02020603050405020304" pitchFamily="18" charset="0"/>
                          <a:cs typeface="Times New Roman" panose="02020603050405020304" pitchFamily="18" charset="0"/>
                        </a:rPr>
                        <a:t>Création du Collecteur, configuration </a:t>
                      </a:r>
                      <a:r>
                        <a:rPr lang="fr-FR" dirty="0" smtClean="0">
                          <a:latin typeface="Times New Roman" panose="02020603050405020304" pitchFamily="18" charset="0"/>
                          <a:cs typeface="Times New Roman" panose="02020603050405020304" pitchFamily="18" charset="0"/>
                        </a:rPr>
                        <a:t>système, </a:t>
                      </a:r>
                      <a:r>
                        <a:rPr lang="fr-FR" dirty="0">
                          <a:latin typeface="Times New Roman" panose="02020603050405020304" pitchFamily="18" charset="0"/>
                          <a:cs typeface="Times New Roman" panose="02020603050405020304" pitchFamily="18" charset="0"/>
                        </a:rPr>
                        <a:t>tests de précision (Phase </a:t>
                      </a:r>
                      <a:r>
                        <a:rPr lang="fr-FR" dirty="0" smtClean="0">
                          <a:latin typeface="Times New Roman" panose="02020603050405020304" pitchFamily="18" charset="0"/>
                          <a:cs typeface="Times New Roman" panose="02020603050405020304" pitchFamily="18" charset="0"/>
                        </a:rPr>
                        <a:t>5</a:t>
                      </a:r>
                      <a:r>
                        <a:rPr lang="fr-FR" baseline="0" dirty="0" smtClean="0">
                          <a:latin typeface="Times New Roman" panose="02020603050405020304" pitchFamily="18" charset="0"/>
                          <a:cs typeface="Times New Roman" panose="02020603050405020304" pitchFamily="18" charset="0"/>
                        </a:rPr>
                        <a:t> et 6</a:t>
                      </a:r>
                      <a:r>
                        <a:rPr lang="fr-FR" dirty="0" smtClean="0">
                          <a:latin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a:txBody>
                  <a:tcPr anchor="ctr"/>
                </a:tc>
                <a:tc>
                  <a:txBody>
                    <a:bodyPr/>
                    <a:lstStyle/>
                    <a:p>
                      <a:r>
                        <a:rPr lang="fr-FR" dirty="0">
                          <a:latin typeface="Times New Roman" panose="02020603050405020304" pitchFamily="18" charset="0"/>
                          <a:cs typeface="Times New Roman" panose="02020603050405020304" pitchFamily="18" charset="0"/>
                        </a:rPr>
                        <a:t>Scripting Linux/</a:t>
                      </a:r>
                      <a:r>
                        <a:rPr lang="fr-FR" dirty="0" err="1">
                          <a:latin typeface="Times New Roman" panose="02020603050405020304" pitchFamily="18" charset="0"/>
                          <a:cs typeface="Times New Roman" panose="02020603050405020304" pitchFamily="18" charset="0"/>
                        </a:rPr>
                        <a:t>Bash</a:t>
                      </a:r>
                      <a:r>
                        <a:rPr lang="fr-FR" dirty="0">
                          <a:latin typeface="Times New Roman" panose="02020603050405020304" pitchFamily="18" charset="0"/>
                          <a:cs typeface="Times New Roman" panose="02020603050405020304" pitchFamily="18" charset="0"/>
                        </a:rPr>
                        <a:t>, Python, Connaissance du système /proc.</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b="0" baseline="0" dirty="0" smtClean="0">
                          <a:latin typeface="Times New Roman" panose="02020603050405020304" pitchFamily="18" charset="0"/>
                          <a:cs typeface="Times New Roman" panose="02020603050405020304" pitchFamily="18" charset="0"/>
                        </a:rPr>
                        <a:t>1 637 500</a:t>
                      </a:r>
                      <a:r>
                        <a:rPr lang="en-US" b="0"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fcfa</a:t>
                      </a:r>
                      <a:endParaRPr lang="fr-FR" dirty="0" smtClean="0">
                        <a:latin typeface="Times New Roman" panose="02020603050405020304" pitchFamily="18" charset="0"/>
                        <a:cs typeface="Times New Roman" panose="02020603050405020304" pitchFamily="18" charset="0"/>
                      </a:endParaRPr>
                    </a:p>
                    <a:p>
                      <a:r>
                        <a:rPr lang="fr-FR" dirty="0" smtClean="0">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pour </a:t>
                      </a:r>
                      <a:r>
                        <a:rPr lang="fr-FR" dirty="0" smtClean="0">
                          <a:latin typeface="Times New Roman" panose="02020603050405020304" pitchFamily="18" charset="0"/>
                          <a:cs typeface="Times New Roman" panose="02020603050405020304" pitchFamily="18" charset="0"/>
                        </a:rPr>
                        <a:t>20 </a:t>
                      </a:r>
                      <a:r>
                        <a:rPr lang="fr-FR" dirty="0">
                          <a:latin typeface="Times New Roman" panose="02020603050405020304" pitchFamily="18" charset="0"/>
                          <a:cs typeface="Times New Roman" panose="02020603050405020304" pitchFamily="18" charset="0"/>
                        </a:rPr>
                        <a:t>jours de </a:t>
                      </a:r>
                      <a:r>
                        <a:rPr lang="fr-FR" dirty="0" smtClean="0">
                          <a:latin typeface="Times New Roman" panose="02020603050405020304" pitchFamily="18" charset="0"/>
                          <a:cs typeface="Times New Roman" panose="02020603050405020304" pitchFamily="18" charset="0"/>
                        </a:rPr>
                        <a:t>travail </a:t>
                      </a:r>
                      <a:r>
                        <a:rPr lang="fr-FR" b="1" dirty="0" smtClean="0">
                          <a:latin typeface="Times New Roman" panose="02020603050405020304" pitchFamily="18" charset="0"/>
                          <a:cs typeface="Times New Roman" panose="02020603050405020304" pitchFamily="18" charset="0"/>
                        </a:rPr>
                        <a:t>81</a:t>
                      </a:r>
                      <a:r>
                        <a:rPr lang="fr-FR" b="1" baseline="0" dirty="0" smtClean="0">
                          <a:latin typeface="Times New Roman" panose="02020603050405020304" pitchFamily="18" charset="0"/>
                          <a:cs typeface="Times New Roman" panose="02020603050405020304" pitchFamily="18" charset="0"/>
                        </a:rPr>
                        <a:t> 875 </a:t>
                      </a:r>
                      <a:r>
                        <a:rPr lang="fr-FR" b="1" baseline="0" dirty="0" err="1" smtClean="0">
                          <a:latin typeface="Times New Roman" panose="02020603050405020304" pitchFamily="18" charset="0"/>
                          <a:cs typeface="Times New Roman" panose="02020603050405020304" pitchFamily="18" charset="0"/>
                        </a:rPr>
                        <a:t>fcfa</a:t>
                      </a:r>
                      <a:r>
                        <a:rPr lang="fr-FR" b="1" baseline="0" dirty="0" smtClean="0">
                          <a:latin typeface="Times New Roman" panose="02020603050405020304" pitchFamily="18" charset="0"/>
                          <a:cs typeface="Times New Roman" panose="02020603050405020304" pitchFamily="18" charset="0"/>
                        </a:rPr>
                        <a:t>/J )</a:t>
                      </a:r>
                      <a:endParaRPr lang="fr-FR"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60818116"/>
                  </a:ext>
                </a:extLst>
              </a:tr>
              <a:tr h="1226092">
                <a:tc>
                  <a:txBody>
                    <a:bodyPr/>
                    <a:lstStyle/>
                    <a:p>
                      <a:r>
                        <a:rPr lang="en-US" b="1" dirty="0" err="1">
                          <a:latin typeface="Times New Roman" panose="02020603050405020304" pitchFamily="18" charset="0"/>
                          <a:cs typeface="Times New Roman" panose="02020603050405020304" pitchFamily="18" charset="0"/>
                        </a:rPr>
                        <a:t>Développeur</a:t>
                      </a: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Frontend</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fr-FR" dirty="0" smtClean="0">
                          <a:latin typeface="Times New Roman" panose="02020603050405020304" pitchFamily="18" charset="0"/>
                          <a:cs typeface="Times New Roman" panose="02020603050405020304" pitchFamily="18" charset="0"/>
                        </a:rPr>
                        <a:t>Configuration</a:t>
                      </a:r>
                      <a:r>
                        <a:rPr lang="fr-FR" baseline="0" dirty="0" smtClean="0">
                          <a:latin typeface="Times New Roman" panose="02020603050405020304" pitchFamily="18" charset="0"/>
                          <a:cs typeface="Times New Roman" panose="02020603050405020304" pitchFamily="18" charset="0"/>
                        </a:rPr>
                        <a:t> du </a:t>
                      </a:r>
                      <a:r>
                        <a:rPr lang="fr-FR" dirty="0" smtClean="0">
                          <a:latin typeface="Times New Roman" panose="02020603050405020304" pitchFamily="18" charset="0"/>
                          <a:cs typeface="Times New Roman" panose="02020603050405020304" pitchFamily="18" charset="0"/>
                        </a:rPr>
                        <a:t>design  </a:t>
                      </a:r>
                      <a:r>
                        <a:rPr lang="fr-FR" dirty="0" err="1">
                          <a:latin typeface="Times New Roman" panose="02020603050405020304" pitchFamily="18" charset="0"/>
                          <a:cs typeface="Times New Roman" panose="02020603050405020304" pitchFamily="18" charset="0"/>
                        </a:rPr>
                        <a:t>dashboard</a:t>
                      </a:r>
                      <a:r>
                        <a:rPr lang="fr-FR" dirty="0">
                          <a:latin typeface="Times New Roman" panose="02020603050405020304" pitchFamily="18" charset="0"/>
                          <a:cs typeface="Times New Roman" panose="02020603050405020304" pitchFamily="18" charset="0"/>
                        </a:rPr>
                        <a:t> (Phase </a:t>
                      </a:r>
                      <a:r>
                        <a:rPr lang="fr-FR" dirty="0" smtClean="0">
                          <a:latin typeface="Times New Roman" panose="02020603050405020304" pitchFamily="18" charset="0"/>
                          <a:cs typeface="Times New Roman" panose="02020603050405020304" pitchFamily="18" charset="0"/>
                        </a:rPr>
                        <a:t>5).</a:t>
                      </a:r>
                      <a:endParaRPr lang="fr-FR" dirty="0">
                        <a:latin typeface="Times New Roman" panose="02020603050405020304" pitchFamily="18" charset="0"/>
                        <a:cs typeface="Times New Roman" panose="02020603050405020304" pitchFamily="18" charset="0"/>
                      </a:endParaRPr>
                    </a:p>
                  </a:txBody>
                  <a:tcPr anchor="ctr"/>
                </a:tc>
                <a:tc>
                  <a:txBody>
                    <a:bodyPr/>
                    <a:lstStyle/>
                    <a:p>
                      <a:r>
                        <a:rPr lang="fr-FR" dirty="0" smtClean="0">
                          <a:latin typeface="Times New Roman" panose="02020603050405020304" pitchFamily="18" charset="0"/>
                          <a:cs typeface="Times New Roman" panose="02020603050405020304" pitchFamily="18" charset="0"/>
                        </a:rPr>
                        <a:t>HTML/JS .</a:t>
                      </a:r>
                      <a:endParaRPr lang="fr-FR" dirty="0">
                        <a:latin typeface="Times New Roman" panose="02020603050405020304" pitchFamily="18" charset="0"/>
                        <a:cs typeface="Times New Roman" panose="02020603050405020304" pitchFamily="18"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b="0" baseline="0" dirty="0" smtClean="0">
                          <a:latin typeface="Times New Roman" panose="02020603050405020304" pitchFamily="18" charset="0"/>
                          <a:cs typeface="Times New Roman" panose="02020603050405020304" pitchFamily="18" charset="0"/>
                        </a:rPr>
                        <a:t>1 637 500</a:t>
                      </a:r>
                      <a:r>
                        <a:rPr lang="en-US" b="0"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fcfa</a:t>
                      </a:r>
                      <a:endParaRPr lang="fr-FR" dirty="0" smtClean="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pour </a:t>
                      </a:r>
                      <a:r>
                        <a:rPr lang="fr-FR" dirty="0" smtClean="0">
                          <a:latin typeface="Times New Roman" panose="02020603050405020304" pitchFamily="18" charset="0"/>
                          <a:cs typeface="Times New Roman" panose="02020603050405020304" pitchFamily="18" charset="0"/>
                        </a:rPr>
                        <a:t>20 </a:t>
                      </a:r>
                      <a:r>
                        <a:rPr lang="fr-FR" dirty="0">
                          <a:latin typeface="Times New Roman" panose="02020603050405020304" pitchFamily="18" charset="0"/>
                          <a:cs typeface="Times New Roman" panose="02020603050405020304" pitchFamily="18" charset="0"/>
                        </a:rPr>
                        <a:t>jours de </a:t>
                      </a:r>
                      <a:r>
                        <a:rPr lang="fr-FR" dirty="0" smtClean="0">
                          <a:latin typeface="Times New Roman" panose="02020603050405020304" pitchFamily="18" charset="0"/>
                          <a:cs typeface="Times New Roman" panose="02020603050405020304" pitchFamily="18" charset="0"/>
                        </a:rPr>
                        <a:t>travail </a:t>
                      </a:r>
                      <a:r>
                        <a:rPr lang="fr-FR" b="1" dirty="0" smtClean="0">
                          <a:latin typeface="Times New Roman" panose="02020603050405020304" pitchFamily="18" charset="0"/>
                          <a:cs typeface="Times New Roman" panose="02020603050405020304" pitchFamily="18" charset="0"/>
                        </a:rPr>
                        <a:t>81</a:t>
                      </a:r>
                      <a:r>
                        <a:rPr lang="fr-FR" b="1" baseline="0" dirty="0" smtClean="0">
                          <a:latin typeface="Times New Roman" panose="02020603050405020304" pitchFamily="18" charset="0"/>
                          <a:cs typeface="Times New Roman" panose="02020603050405020304" pitchFamily="18" charset="0"/>
                        </a:rPr>
                        <a:t> 875 </a:t>
                      </a:r>
                      <a:r>
                        <a:rPr lang="fr-FR" b="1" baseline="0" dirty="0" err="1" smtClean="0">
                          <a:latin typeface="Times New Roman" panose="02020603050405020304" pitchFamily="18" charset="0"/>
                          <a:cs typeface="Times New Roman" panose="02020603050405020304" pitchFamily="18" charset="0"/>
                        </a:rPr>
                        <a:t>fcfa</a:t>
                      </a:r>
                      <a:r>
                        <a:rPr lang="fr-FR" b="1" baseline="0" dirty="0" smtClean="0">
                          <a:latin typeface="Times New Roman" panose="02020603050405020304" pitchFamily="18" charset="0"/>
                          <a:cs typeface="Times New Roman" panose="02020603050405020304" pitchFamily="18" charset="0"/>
                        </a:rPr>
                        <a:t>/J </a:t>
                      </a:r>
                      <a:r>
                        <a:rPr lang="fr-FR" dirty="0" smtClean="0">
                          <a:latin typeface="Times New Roman" panose="02020603050405020304" pitchFamily="18" charset="0"/>
                          <a:cs typeface="Times New Roman" panose="02020603050405020304" pitchFamily="18" charset="0"/>
                        </a:rPr>
                        <a:t>). </a:t>
                      </a:r>
                      <a:endParaRPr lang="fr-FR"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86079379"/>
                  </a:ext>
                </a:extLst>
              </a:tr>
            </a:tbl>
          </a:graphicData>
        </a:graphic>
      </p:graphicFrame>
      <p:sp>
        <p:nvSpPr>
          <p:cNvPr id="4" name="ZoneTexte 3"/>
          <p:cNvSpPr txBox="1"/>
          <p:nvPr/>
        </p:nvSpPr>
        <p:spPr>
          <a:xfrm>
            <a:off x="822960" y="5791200"/>
            <a:ext cx="7223760" cy="523220"/>
          </a:xfrm>
          <a:prstGeom prst="rect">
            <a:avLst/>
          </a:prstGeom>
          <a:noFill/>
        </p:spPr>
        <p:txBody>
          <a:bodyPr wrap="square" rtlCol="0">
            <a:spAutoFit/>
          </a:bodyPr>
          <a:lstStyle/>
          <a:p>
            <a:r>
              <a:rPr lang="fr-CM" sz="2800" b="1" dirty="0" smtClean="0"/>
              <a:t>Co</a:t>
            </a:r>
            <a:r>
              <a:rPr lang="fr-FR" sz="2800" b="1" dirty="0" err="1" smtClean="0">
                <a:latin typeface="Times New Roman" panose="02020603050405020304" pitchFamily="18" charset="0"/>
                <a:cs typeface="Times New Roman" panose="02020603050405020304" pitchFamily="18" charset="0"/>
              </a:rPr>
              <a:t>ût</a:t>
            </a:r>
            <a:r>
              <a:rPr lang="fr-FR" sz="2800" b="1" dirty="0" smtClean="0">
                <a:latin typeface="Times New Roman" panose="02020603050405020304" pitchFamily="18" charset="0"/>
                <a:cs typeface="Times New Roman" panose="02020603050405020304" pitchFamily="18" charset="0"/>
              </a:rPr>
              <a:t> Total du Projet:  </a:t>
            </a:r>
            <a:r>
              <a:rPr lang="fr-FR" sz="2800" b="1" u="sng" dirty="0" smtClean="0">
                <a:latin typeface="Times New Roman" panose="02020603050405020304" pitchFamily="18" charset="0"/>
                <a:cs typeface="Times New Roman" panose="02020603050405020304" pitchFamily="18" charset="0"/>
              </a:rPr>
              <a:t>5.542 871,14 </a:t>
            </a:r>
            <a:r>
              <a:rPr lang="fr-FR" sz="2800" b="1" u="sng" dirty="0" err="1" smtClean="0">
                <a:latin typeface="Times New Roman" panose="02020603050405020304" pitchFamily="18" charset="0"/>
                <a:cs typeface="Times New Roman" panose="02020603050405020304" pitchFamily="18" charset="0"/>
              </a:rPr>
              <a:t>fcfa</a:t>
            </a:r>
            <a:r>
              <a:rPr lang="fr-FR" sz="2800" b="1" u="sng" dirty="0" smtClean="0">
                <a:latin typeface="Times New Roman" panose="02020603050405020304" pitchFamily="18" charset="0"/>
                <a:cs typeface="Times New Roman" panose="02020603050405020304" pitchFamily="18" charset="0"/>
              </a:rPr>
              <a:t>  </a:t>
            </a:r>
            <a:endParaRPr lang="fr-CM" sz="2800" b="1" u="sng" dirty="0"/>
          </a:p>
        </p:txBody>
      </p:sp>
    </p:spTree>
    <p:extLst>
      <p:ext uri="{BB962C8B-B14F-4D97-AF65-F5344CB8AC3E}">
        <p14:creationId xmlns:p14="http://schemas.microsoft.com/office/powerpoint/2010/main" val="30700179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grpId="0" nodeType="clickEffect">
                                  <p:stCondLst>
                                    <p:cond delay="0"/>
                                  </p:stCondLst>
                                  <p:childTnLst>
                                    <p:animEffect transition="out" filter="fade">
                                      <p:cBhvr>
                                        <p:cTn id="17" dur="500" tmFilter="0, 0; .2, .5; .8, .5; 1, 0"/>
                                        <p:tgtEl>
                                          <p:spTgt spid="4"/>
                                        </p:tgtEl>
                                      </p:cBhvr>
                                    </p:animEffect>
                                    <p:animScale>
                                      <p:cBhvr>
                                        <p:cTn id="18"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34721" y="92828"/>
            <a:ext cx="9982200" cy="1080938"/>
          </a:xfrm>
        </p:spPr>
        <p:txBody>
          <a:bodyPr>
            <a:normAutofit/>
          </a:bodyPr>
          <a:lstStyle/>
          <a:p>
            <a:r>
              <a:rPr lang="en-US" sz="4400" dirty="0" err="1"/>
              <a:t>v</a:t>
            </a:r>
            <a:r>
              <a:rPr lang="en-US" sz="4400" dirty="0" err="1" smtClean="0"/>
              <a:t>I</a:t>
            </a:r>
            <a:r>
              <a:rPr lang="en-US" sz="4400" dirty="0" smtClean="0"/>
              <a:t>. Les </a:t>
            </a:r>
            <a:r>
              <a:rPr lang="en-US" sz="4400" dirty="0" err="1" smtClean="0"/>
              <a:t>Livrables</a:t>
            </a:r>
            <a:r>
              <a:rPr lang="en-US" sz="4400" dirty="0" smtClean="0"/>
              <a:t> </a:t>
            </a:r>
            <a:endParaRPr lang="fr-FR" sz="4400" dirty="0"/>
          </a:p>
        </p:txBody>
      </p:sp>
      <p:sp>
        <p:nvSpPr>
          <p:cNvPr id="4" name="ZoneTexte 3"/>
          <p:cNvSpPr txBox="1"/>
          <p:nvPr/>
        </p:nvSpPr>
        <p:spPr>
          <a:xfrm>
            <a:off x="934721" y="1475740"/>
            <a:ext cx="10474959" cy="4678204"/>
          </a:xfrm>
          <a:prstGeom prst="rect">
            <a:avLst/>
          </a:prstGeom>
          <a:noFill/>
        </p:spPr>
        <p:txBody>
          <a:bodyPr wrap="square" rtlCol="0">
            <a:spAutoFit/>
          </a:bodyPr>
          <a:lstStyle/>
          <a:p>
            <a:pPr algn="ctr"/>
            <a:endParaRPr lang="en-US" sz="2800" dirty="0" smtClean="0"/>
          </a:p>
          <a:p>
            <a:pPr algn="just"/>
            <a:r>
              <a:rPr lang="en-US" sz="2800" dirty="0" smtClean="0">
                <a:latin typeface="Times New Roman" panose="02020603050405020304" pitchFamily="18" charset="0"/>
                <a:cs typeface="Times New Roman" panose="02020603050405020304" pitchFamily="18" charset="0"/>
              </a:rPr>
              <a:t>A la fin nous </a:t>
            </a:r>
            <a:r>
              <a:rPr lang="en-US" sz="2800" dirty="0" err="1" smtClean="0">
                <a:latin typeface="Times New Roman" panose="02020603050405020304" pitchFamily="18" charset="0"/>
                <a:cs typeface="Times New Roman" panose="02020603050405020304" pitchFamily="18" charset="0"/>
              </a:rPr>
              <a:t>devons</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produire</a:t>
            </a:r>
            <a:r>
              <a:rPr lang="en-US" sz="2800" dirty="0" smtClean="0">
                <a:latin typeface="Times New Roman" panose="02020603050405020304" pitchFamily="18" charset="0"/>
                <a:cs typeface="Times New Roman" panose="02020603050405020304" pitchFamily="18" charset="0"/>
              </a:rPr>
              <a:t>:</a:t>
            </a:r>
            <a:endParaRPr lang="fr-FR" sz="2800" dirty="0" smtClean="0">
              <a:latin typeface="Times New Roman" panose="02020603050405020304" pitchFamily="18" charset="0"/>
              <a:cs typeface="Times New Roman" panose="02020603050405020304" pitchFamily="18" charset="0"/>
            </a:endParaRPr>
          </a:p>
          <a:p>
            <a:pPr algn="just"/>
            <a:endParaRPr lang="fr-FR" sz="2800" dirty="0" smtClean="0">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q"/>
            </a:pPr>
            <a:r>
              <a:rPr lang="fr-FR" sz="2800" dirty="0">
                <a:latin typeface="Times New Roman" panose="02020603050405020304" pitchFamily="18" charset="0"/>
                <a:cs typeface="Times New Roman" panose="02020603050405020304" pitchFamily="18" charset="0"/>
              </a:rPr>
              <a:t>Cahier des </a:t>
            </a:r>
            <a:r>
              <a:rPr lang="fr-FR" sz="2800" dirty="0" smtClean="0">
                <a:latin typeface="Times New Roman" panose="02020603050405020304" pitchFamily="18" charset="0"/>
                <a:cs typeface="Times New Roman" panose="02020603050405020304" pitchFamily="18" charset="0"/>
              </a:rPr>
              <a:t>charges</a:t>
            </a:r>
            <a:endParaRPr lang="fr-FR" sz="2800" dirty="0">
              <a:latin typeface="Times New Roman" panose="02020603050405020304" pitchFamily="18" charset="0"/>
              <a:cs typeface="Times New Roman" panose="02020603050405020304" pitchFamily="18" charset="0"/>
            </a:endParaRPr>
          </a:p>
          <a:p>
            <a:pPr marL="285750" lvl="0" indent="-285750" algn="just">
              <a:lnSpc>
                <a:spcPct val="150000"/>
              </a:lnSpc>
              <a:buFont typeface="Wingdings" panose="05000000000000000000" pitchFamily="2" charset="2"/>
              <a:buChar char="q"/>
            </a:pPr>
            <a:r>
              <a:rPr lang="fr-FR" sz="2800" dirty="0" smtClean="0">
                <a:latin typeface="Times New Roman" panose="02020603050405020304" pitchFamily="18" charset="0"/>
                <a:cs typeface="Times New Roman" panose="02020603050405020304" pitchFamily="18" charset="0"/>
              </a:rPr>
              <a:t>Dossier d’Analyse ;</a:t>
            </a:r>
          </a:p>
          <a:p>
            <a:pPr marL="285750" lvl="0" indent="-285750" algn="just">
              <a:lnSpc>
                <a:spcPct val="150000"/>
              </a:lnSpc>
              <a:buFont typeface="Wingdings" panose="05000000000000000000" pitchFamily="2" charset="2"/>
              <a:buChar char="q"/>
            </a:pPr>
            <a:r>
              <a:rPr lang="fr-FR" sz="2800" dirty="0" smtClean="0">
                <a:latin typeface="Times New Roman" panose="02020603050405020304" pitchFamily="18" charset="0"/>
                <a:cs typeface="Times New Roman" panose="02020603050405020304" pitchFamily="18" charset="0"/>
              </a:rPr>
              <a:t>Dossier de Conception;</a:t>
            </a:r>
          </a:p>
          <a:p>
            <a:pPr marL="285750" lvl="0" indent="-285750" algn="just">
              <a:lnSpc>
                <a:spcPct val="150000"/>
              </a:lnSpc>
              <a:buFont typeface="Wingdings" panose="05000000000000000000" pitchFamily="2" charset="2"/>
              <a:buChar char="q"/>
            </a:pPr>
            <a:r>
              <a:rPr lang="fr-FR" sz="2800" dirty="0" smtClean="0">
                <a:latin typeface="Times New Roman" panose="02020603050405020304" pitchFamily="18" charset="0"/>
                <a:cs typeface="Times New Roman" panose="02020603050405020304" pitchFamily="18" charset="0"/>
              </a:rPr>
              <a:t>Dossier de réalisation</a:t>
            </a:r>
          </a:p>
          <a:p>
            <a:pPr marL="285750" lvl="0" indent="-285750" algn="just">
              <a:lnSpc>
                <a:spcPct val="150000"/>
              </a:lnSpc>
              <a:buFont typeface="Wingdings" panose="05000000000000000000" pitchFamily="2" charset="2"/>
              <a:buChar char="q"/>
            </a:pPr>
            <a:r>
              <a:rPr lang="en-US" sz="2800" dirty="0" smtClean="0">
                <a:latin typeface="Times New Roman" panose="02020603050405020304" pitchFamily="18" charset="0"/>
                <a:cs typeface="Times New Roman" panose="02020603050405020304" pitchFamily="18" charset="0"/>
              </a:rPr>
              <a:t>Un systeme </a:t>
            </a:r>
            <a:r>
              <a:rPr lang="en-US" sz="2800" dirty="0" err="1" smtClean="0">
                <a:latin typeface="Times New Roman" panose="02020603050405020304" pitchFamily="18" charset="0"/>
                <a:cs typeface="Times New Roman" panose="02020603050405020304" pitchFamily="18" charset="0"/>
              </a:rPr>
              <a:t>fonctionnel</a:t>
            </a:r>
            <a:r>
              <a:rPr lang="en-US" sz="2800" dirty="0" smtClean="0">
                <a:latin typeface="Times New Roman" panose="02020603050405020304" pitchFamily="18" charset="0"/>
                <a:cs typeface="Times New Roman" panose="02020603050405020304" pitchFamily="18" charset="0"/>
              </a:rPr>
              <a:t> integrant </a:t>
            </a:r>
            <a:r>
              <a:rPr lang="en-US" sz="2800" dirty="0" err="1" smtClean="0">
                <a:latin typeface="Times New Roman" panose="02020603050405020304" pitchFamily="18" charset="0"/>
                <a:cs typeface="Times New Roman" panose="02020603050405020304" pitchFamily="18" charset="0"/>
              </a:rPr>
              <a:t>tous</a:t>
            </a:r>
            <a:r>
              <a:rPr lang="en-US" sz="2800" dirty="0" smtClean="0">
                <a:latin typeface="Times New Roman" panose="02020603050405020304" pitchFamily="18" charset="0"/>
                <a:cs typeface="Times New Roman" panose="02020603050405020304" pitchFamily="18" charset="0"/>
              </a:rPr>
              <a:t> les modules </a:t>
            </a:r>
          </a:p>
          <a:p>
            <a:endParaRPr lang="fr-FR" dirty="0"/>
          </a:p>
        </p:txBody>
      </p:sp>
    </p:spTree>
    <p:extLst>
      <p:ext uri="{BB962C8B-B14F-4D97-AF65-F5344CB8AC3E}">
        <p14:creationId xmlns:p14="http://schemas.microsoft.com/office/powerpoint/2010/main" val="17371048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1839912" y="2717800"/>
            <a:ext cx="8689976" cy="800100"/>
          </a:xfrm>
          <a:prstGeom prst="rect">
            <a:avLst/>
          </a:prstGeom>
        </p:spPr>
        <p:txBody>
          <a:bodyPr>
            <a:normAutofit/>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r>
              <a:rPr lang="fr-FR" sz="4800" dirty="0" smtClean="0"/>
              <a:t>CONCLUSION</a:t>
            </a:r>
            <a:endParaRPr lang="fr-FR" sz="4800" dirty="0"/>
          </a:p>
        </p:txBody>
      </p:sp>
    </p:spTree>
    <p:extLst>
      <p:ext uri="{BB962C8B-B14F-4D97-AF65-F5344CB8AC3E}">
        <p14:creationId xmlns:p14="http://schemas.microsoft.com/office/powerpoint/2010/main" val="1372922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Template>
  <TotalTime>3688</TotalTime>
  <Words>544</Words>
  <Application>Microsoft Office PowerPoint</Application>
  <PresentationFormat>Grand écran</PresentationFormat>
  <Paragraphs>126</Paragraphs>
  <Slides>19</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19</vt:i4>
      </vt:variant>
    </vt:vector>
  </HeadingPairs>
  <TitlesOfParts>
    <vt:vector size="25" baseType="lpstr">
      <vt:lpstr>Arial</vt:lpstr>
      <vt:lpstr>Bookman Old Style</vt:lpstr>
      <vt:lpstr>Rockwell</vt:lpstr>
      <vt:lpstr>Times New Roman</vt:lpstr>
      <vt:lpstr>Wingdings</vt:lpstr>
      <vt:lpstr>Damask</vt:lpstr>
      <vt:lpstr>Présentation PowerPoint</vt:lpstr>
      <vt:lpstr>CAHIER DES CHARGES</vt:lpstr>
      <vt:lpstr>SOMMAIRE </vt:lpstr>
      <vt:lpstr>INTRODUCTION</vt:lpstr>
      <vt:lpstr>Présentation PowerPoint</vt:lpstr>
      <vt:lpstr>I. Contexte</vt:lpstr>
      <vt:lpstr>II. Objectifs</vt:lpstr>
      <vt:lpstr>II. Objectifs</vt:lpstr>
      <vt:lpstr>II. Objectifs</vt:lpstr>
      <vt:lpstr>III. EXPRESSIONS DES BESOINS UTILISATEURS</vt:lpstr>
      <vt:lpstr>III. EXPRESSIONS DES BESOINS UTILISATEURS</vt:lpstr>
      <vt:lpstr>III. EXPRESSIONS DES BESOINS UTILISATEURS</vt:lpstr>
      <vt:lpstr>Iv. PLANIFICATION DU PROJET </vt:lpstr>
      <vt:lpstr>Présentation PowerPoint</vt:lpstr>
      <vt:lpstr>Présentation PowerPoint</vt:lpstr>
      <vt:lpstr>Présentation PowerPoint</vt:lpstr>
      <vt:lpstr>Présentation PowerPoint</vt:lpstr>
      <vt:lpstr>vI. Les Livrables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DES CHARGES</dc:title>
  <dc:creator>LENOVO USERS</dc:creator>
  <cp:lastModifiedBy>Jason BARDE</cp:lastModifiedBy>
  <cp:revision>61</cp:revision>
  <dcterms:created xsi:type="dcterms:W3CDTF">2025-11-27T05:12:06Z</dcterms:created>
  <dcterms:modified xsi:type="dcterms:W3CDTF">2026-01-24T09:42:26Z</dcterms:modified>
</cp:coreProperties>
</file>